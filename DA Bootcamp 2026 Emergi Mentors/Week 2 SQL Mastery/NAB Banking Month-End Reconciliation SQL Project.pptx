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1"/>
  </p:notesMasterIdLst>
  <p:sldIdLst>
    <p:sldId id="256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github.com/Mikele02171/Main-Stuff/tree/main/DA%20Bootcamp%202026%20Emergi%20Mentors/Week%202%20SQL%20Mastery/Module%204%20Advanced%20SQL%20and%20Enterprise%20Analytics/NAD_Banking_Month_End_Reconciliation" TargetMode="External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hyperlink" Target="https://github.com/Mikele02171/Main-Stuff/tree/main/DA%20Bootcamp%202026%20Emergi%20Mentors/Week%202%20SQL%20Mastery/Module%204%20Advanced%20SQL%20and%20Enterprise%20Analytics/NAD_Banking_Month_End_Reconciliati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Main-Stuff/DA Bootcamp 2026 </a:t>
          </a:r>
          <a:r>
            <a:rPr lang="en-US" dirty="0" err="1">
              <a:hlinkClick xmlns:r="http://schemas.openxmlformats.org/officeDocument/2006/relationships" r:id="rId1"/>
            </a:rPr>
            <a:t>Emergi</a:t>
          </a:r>
          <a:r>
            <a:rPr lang="en-US" dirty="0">
              <a:hlinkClick xmlns:r="http://schemas.openxmlformats.org/officeDocument/2006/relationships" r:id="rId1"/>
            </a:rPr>
            <a:t> Mentors/Week 2 SQL Mastery/Module 4 Advanced SQL and Enterprise Analytics/</a:t>
          </a:r>
          <a:r>
            <a:rPr lang="en-US" dirty="0" err="1">
              <a:hlinkClick xmlns:r="http://schemas.openxmlformats.org/officeDocument/2006/relationships" r:id="rId1"/>
            </a:rPr>
            <a:t>NAD_Banking_Month_End_Reconciliation</a:t>
          </a:r>
          <a:r>
            <a:rPr lang="en-US" dirty="0">
              <a:hlinkClick xmlns:r="http://schemas.openxmlformats.org/officeDocument/2006/relationships" r:id="rId1"/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A8D30D-C9DF-4D04-8CFB-C7335A84206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6FC63E8-CDC9-42D9-8EDD-C7F761CC85FE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Create a fresh database for NAB Banking</a:t>
          </a:r>
          <a:endParaRPr lang="en-US" dirty="0"/>
        </a:p>
      </dgm:t>
    </dgm:pt>
    <dgm:pt modelId="{9F67214E-8396-4F8F-A82F-5ACFEA0E7949}" type="parTrans" cxnId="{86AD916E-066F-4E90-9C33-0247B6AF8C60}">
      <dgm:prSet/>
      <dgm:spPr/>
      <dgm:t>
        <a:bodyPr/>
        <a:lstStyle/>
        <a:p>
          <a:endParaRPr lang="en-US"/>
        </a:p>
      </dgm:t>
    </dgm:pt>
    <dgm:pt modelId="{9D720FCB-81D9-40A0-A08A-7E95D26B492E}" type="sibTrans" cxnId="{86AD916E-066F-4E90-9C33-0247B6AF8C60}">
      <dgm:prSet/>
      <dgm:spPr/>
      <dgm:t>
        <a:bodyPr/>
        <a:lstStyle/>
        <a:p>
          <a:endParaRPr lang="en-US"/>
        </a:p>
      </dgm:t>
    </dgm:pt>
    <dgm:pt modelId="{BB24E02F-5A86-43BF-9323-74E184DAE6D4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DDL: Create table for accounts, transactions </a:t>
          </a:r>
          <a:endParaRPr lang="en-US" dirty="0"/>
        </a:p>
      </dgm:t>
    </dgm:pt>
    <dgm:pt modelId="{4D85A544-FABA-4B38-BF58-EC7F2DF0AA65}" type="parTrans" cxnId="{BBAB0455-93EA-4DCA-869D-277CF4C4C448}">
      <dgm:prSet/>
      <dgm:spPr/>
      <dgm:t>
        <a:bodyPr/>
        <a:lstStyle/>
        <a:p>
          <a:endParaRPr lang="en-US"/>
        </a:p>
      </dgm:t>
    </dgm:pt>
    <dgm:pt modelId="{F69296EF-0886-4B33-B552-74A03B2890BC}" type="sibTrans" cxnId="{BBAB0455-93EA-4DCA-869D-277CF4C4C448}">
      <dgm:prSet/>
      <dgm:spPr/>
      <dgm:t>
        <a:bodyPr/>
        <a:lstStyle/>
        <a:p>
          <a:endParaRPr lang="en-US"/>
        </a:p>
      </dgm:t>
    </dgm:pt>
    <dgm:pt modelId="{7EE64687-4A89-455D-8E20-A485DB44C0FC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DDL: Create indexes for performance </a:t>
          </a:r>
          <a:endParaRPr lang="en-US" dirty="0"/>
        </a:p>
      </dgm:t>
    </dgm:pt>
    <dgm:pt modelId="{46685519-F295-458B-BD70-5A28AB5018F7}" type="parTrans" cxnId="{4AB91D7E-84F5-42B6-9200-2C5F8B866EA2}">
      <dgm:prSet/>
      <dgm:spPr/>
      <dgm:t>
        <a:bodyPr/>
        <a:lstStyle/>
        <a:p>
          <a:endParaRPr lang="en-US"/>
        </a:p>
      </dgm:t>
    </dgm:pt>
    <dgm:pt modelId="{7A212F17-F0C8-426E-BE4D-C5E5E5BC11E2}" type="sibTrans" cxnId="{4AB91D7E-84F5-42B6-9200-2C5F8B866EA2}">
      <dgm:prSet/>
      <dgm:spPr/>
      <dgm:t>
        <a:bodyPr/>
        <a:lstStyle/>
        <a:p>
          <a:endParaRPr lang="en-US"/>
        </a:p>
      </dgm:t>
    </dgm:pt>
    <dgm:pt modelId="{D133676E-08F7-4664-93FE-31579850353D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DML: Inserts values for accounts and transactions </a:t>
          </a:r>
          <a:endParaRPr lang="en-US" dirty="0"/>
        </a:p>
      </dgm:t>
    </dgm:pt>
    <dgm:pt modelId="{CDCD74F1-3334-4311-89A4-B0CA79DD0767}" type="parTrans" cxnId="{D49352BC-605D-43AF-AD42-0339CDFB345F}">
      <dgm:prSet/>
      <dgm:spPr/>
      <dgm:t>
        <a:bodyPr/>
        <a:lstStyle/>
        <a:p>
          <a:endParaRPr lang="en-US"/>
        </a:p>
      </dgm:t>
    </dgm:pt>
    <dgm:pt modelId="{9413084C-9833-409E-941E-E8894017C3A0}" type="sibTrans" cxnId="{D49352BC-605D-43AF-AD42-0339CDFB345F}">
      <dgm:prSet/>
      <dgm:spPr/>
      <dgm:t>
        <a:bodyPr/>
        <a:lstStyle/>
        <a:p>
          <a:endParaRPr lang="en-US"/>
        </a:p>
      </dgm:t>
    </dgm:pt>
    <dgm:pt modelId="{B265CF60-27D9-4679-89BC-1395D477120E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DQL: Validation Check </a:t>
          </a:r>
          <a:endParaRPr lang="en-US" dirty="0"/>
        </a:p>
      </dgm:t>
    </dgm:pt>
    <dgm:pt modelId="{4E37318B-CDAD-4E88-A61B-853850B7D970}" type="parTrans" cxnId="{F920BAE1-2801-476D-9B21-37B0584B0E4A}">
      <dgm:prSet/>
      <dgm:spPr/>
      <dgm:t>
        <a:bodyPr/>
        <a:lstStyle/>
        <a:p>
          <a:endParaRPr lang="en-US"/>
        </a:p>
      </dgm:t>
    </dgm:pt>
    <dgm:pt modelId="{C8B6B893-46C2-438B-B2A4-F56C03A3EDFB}" type="sibTrans" cxnId="{F920BAE1-2801-476D-9B21-37B0584B0E4A}">
      <dgm:prSet/>
      <dgm:spPr/>
      <dgm:t>
        <a:bodyPr/>
        <a:lstStyle/>
        <a:p>
          <a:endParaRPr lang="en-US"/>
        </a:p>
      </dgm:t>
    </dgm:pt>
    <dgm:pt modelId="{A41E9A65-77BE-4465-AF0F-4068BD556A5B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#HighValueAccounts </a:t>
          </a:r>
          <a:endParaRPr lang="en-US" dirty="0"/>
        </a:p>
      </dgm:t>
    </dgm:pt>
    <dgm:pt modelId="{BA08181D-616F-46DD-997A-4E1C36265D84}" type="parTrans" cxnId="{DBEAB132-342F-44D2-B268-A28ECC415707}">
      <dgm:prSet/>
      <dgm:spPr/>
      <dgm:t>
        <a:bodyPr/>
        <a:lstStyle/>
        <a:p>
          <a:endParaRPr lang="en-US"/>
        </a:p>
      </dgm:t>
    </dgm:pt>
    <dgm:pt modelId="{C592255F-76E8-4564-B191-464027583B8D}" type="sibTrans" cxnId="{DBEAB132-342F-44D2-B268-A28ECC415707}">
      <dgm:prSet/>
      <dgm:spPr/>
      <dgm:t>
        <a:bodyPr/>
        <a:lstStyle/>
        <a:p>
          <a:endParaRPr lang="en-US"/>
        </a:p>
      </dgm:t>
    </dgm:pt>
    <dgm:pt modelId="{28F5B62D-24EE-4643-9F86-3D3C46CC97AB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with Indexes for #December Transactions</a:t>
          </a:r>
          <a:endParaRPr lang="en-US" dirty="0"/>
        </a:p>
      </dgm:t>
    </dgm:pt>
    <dgm:pt modelId="{4A258BA4-218C-4F5C-B7C7-E7F8300B019C}" type="parTrans" cxnId="{84336D78-FC88-4DDB-9C97-9FFA8E5BBC18}">
      <dgm:prSet/>
      <dgm:spPr/>
      <dgm:t>
        <a:bodyPr/>
        <a:lstStyle/>
        <a:p>
          <a:endParaRPr lang="en-US"/>
        </a:p>
      </dgm:t>
    </dgm:pt>
    <dgm:pt modelId="{2AEF31E7-7FDC-454B-ADE3-69AB717537FB}" type="sibTrans" cxnId="{84336D78-FC88-4DDB-9C97-9FFA8E5BBC18}">
      <dgm:prSet/>
      <dgm:spPr/>
      <dgm:t>
        <a:bodyPr/>
        <a:lstStyle/>
        <a:p>
          <a:endParaRPr lang="en-US"/>
        </a:p>
      </dgm:t>
    </dgm:pt>
    <dgm:pt modelId="{01C9CA21-77DA-43DC-AFE6-FE94D7454FD2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#QuickTemp</a:t>
          </a:r>
          <a:endParaRPr lang="en-US" dirty="0"/>
        </a:p>
      </dgm:t>
    </dgm:pt>
    <dgm:pt modelId="{328DEF8C-32C2-41A6-974E-9BCE742DB175}" type="parTrans" cxnId="{60DCCBE4-28D5-4C95-AEFB-9B7EC9531448}">
      <dgm:prSet/>
      <dgm:spPr/>
      <dgm:t>
        <a:bodyPr/>
        <a:lstStyle/>
        <a:p>
          <a:endParaRPr lang="en-US"/>
        </a:p>
      </dgm:t>
    </dgm:pt>
    <dgm:pt modelId="{5D42F636-76DD-47C1-95CF-C8810F7F69F8}" type="sibTrans" cxnId="{60DCCBE4-28D5-4C95-AEFB-9B7EC9531448}">
      <dgm:prSet/>
      <dgm:spPr/>
      <dgm:t>
        <a:bodyPr/>
        <a:lstStyle/>
        <a:p>
          <a:endParaRPr lang="en-US"/>
        </a:p>
      </dgm:t>
    </dgm:pt>
    <dgm:pt modelId="{8F005B3E-52C4-4B7A-AB67-2561E005A78B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@AccountSummary </a:t>
          </a:r>
          <a:endParaRPr lang="en-US" dirty="0"/>
        </a:p>
      </dgm:t>
    </dgm:pt>
    <dgm:pt modelId="{E36F9661-67F5-444D-A47C-B8DDACA0DA09}" type="parTrans" cxnId="{C8F7321E-6C19-4424-9105-4A9F49455B70}">
      <dgm:prSet/>
      <dgm:spPr/>
      <dgm:t>
        <a:bodyPr/>
        <a:lstStyle/>
        <a:p>
          <a:endParaRPr lang="en-US"/>
        </a:p>
      </dgm:t>
    </dgm:pt>
    <dgm:pt modelId="{1E9F3F0F-5AB2-465E-B271-A21F4FB81A55}" type="sibTrans" cxnId="{C8F7321E-6C19-4424-9105-4A9F49455B70}">
      <dgm:prSet/>
      <dgm:spPr/>
      <dgm:t>
        <a:bodyPr/>
        <a:lstStyle/>
        <a:p>
          <a:endParaRPr lang="en-US"/>
        </a:p>
      </dgm:t>
    </dgm:pt>
    <dgm:pt modelId="{A196695A-D4E3-4721-89CD-C3AEE5680CD2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@BatchTest and #SessionTest</a:t>
          </a:r>
          <a:endParaRPr lang="en-US" dirty="0"/>
        </a:p>
      </dgm:t>
    </dgm:pt>
    <dgm:pt modelId="{A463D00E-C62D-460B-9070-4A5EAF3604E4}" type="parTrans" cxnId="{8160891D-3850-49B3-BDCE-3B1071387A0B}">
      <dgm:prSet/>
      <dgm:spPr/>
      <dgm:t>
        <a:bodyPr/>
        <a:lstStyle/>
        <a:p>
          <a:endParaRPr lang="en-US"/>
        </a:p>
      </dgm:t>
    </dgm:pt>
    <dgm:pt modelId="{EC366EB1-8424-4125-A161-D0E1D84F5085}" type="sibTrans" cxnId="{8160891D-3850-49B3-BDCE-3B1071387A0B}">
      <dgm:prSet/>
      <dgm:spPr/>
      <dgm:t>
        <a:bodyPr/>
        <a:lstStyle/>
        <a:p>
          <a:endParaRPr lang="en-US"/>
        </a:p>
      </dgm:t>
    </dgm:pt>
    <dgm:pt modelId="{2548D4DE-AD4C-4E88-82F2-ADB51340783C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Month-End Reconciliation Workflow </a:t>
          </a:r>
          <a:endParaRPr lang="en-US" dirty="0"/>
        </a:p>
      </dgm:t>
    </dgm:pt>
    <dgm:pt modelId="{83C3252D-13D8-47DF-B362-253082D56B34}" type="parTrans" cxnId="{98F0651C-B62E-484A-8EC6-DCB604CBE236}">
      <dgm:prSet/>
      <dgm:spPr/>
      <dgm:t>
        <a:bodyPr/>
        <a:lstStyle/>
        <a:p>
          <a:endParaRPr lang="en-US"/>
        </a:p>
      </dgm:t>
    </dgm:pt>
    <dgm:pt modelId="{FB630D34-1F98-47E7-802C-F0AAF3D5B3DB}" type="sibTrans" cxnId="{98F0651C-B62E-484A-8EC6-DCB604CBE236}">
      <dgm:prSet/>
      <dgm:spPr/>
      <dgm:t>
        <a:bodyPr/>
        <a:lstStyle/>
        <a:p>
          <a:endParaRPr lang="en-US"/>
        </a:p>
      </dgm:t>
    </dgm:pt>
    <dgm:pt modelId="{9E03868E-B74C-4947-A180-A1A05DFFBEC0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December 2024 Month-End reconciliation Report</a:t>
          </a:r>
          <a:endParaRPr lang="en-US" dirty="0"/>
        </a:p>
      </dgm:t>
    </dgm:pt>
    <dgm:pt modelId="{9EB3F53E-4F51-4527-96DC-EDB4801A7901}" type="parTrans" cxnId="{528BBB9D-B5B4-468E-9DAB-BE57FCB05905}">
      <dgm:prSet/>
      <dgm:spPr/>
      <dgm:t>
        <a:bodyPr/>
        <a:lstStyle/>
        <a:p>
          <a:endParaRPr lang="en-US"/>
        </a:p>
      </dgm:t>
    </dgm:pt>
    <dgm:pt modelId="{7493A2EB-0A34-455F-ABA0-48D6E5FE446B}" type="sibTrans" cxnId="{528BBB9D-B5B4-468E-9DAB-BE57FCB05905}">
      <dgm:prSet/>
      <dgm:spPr/>
      <dgm:t>
        <a:bodyPr/>
        <a:lstStyle/>
        <a:p>
          <a:endParaRPr lang="en-US"/>
        </a:p>
      </dgm:t>
    </dgm:pt>
    <dgm:pt modelId="{C7161725-3268-48B7-8B55-D4259CDC259D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DDL: Create Global temp table #SharedAccountList</a:t>
          </a:r>
          <a:endParaRPr lang="en-US" dirty="0"/>
        </a:p>
      </dgm:t>
    </dgm:pt>
    <dgm:pt modelId="{B5FA04DE-698A-4A0C-B3F7-B7631668D55C}" type="parTrans" cxnId="{4A07A533-BEFA-483B-9C41-A2C963A30CA9}">
      <dgm:prSet/>
      <dgm:spPr/>
      <dgm:t>
        <a:bodyPr/>
        <a:lstStyle/>
        <a:p>
          <a:endParaRPr lang="en-US"/>
        </a:p>
      </dgm:t>
    </dgm:pt>
    <dgm:pt modelId="{FB6E696A-A86E-469D-A817-D9CEB588EF22}" type="sibTrans" cxnId="{4A07A533-BEFA-483B-9C41-A2C963A30CA9}">
      <dgm:prSet/>
      <dgm:spPr/>
      <dgm:t>
        <a:bodyPr/>
        <a:lstStyle/>
        <a:p>
          <a:endParaRPr lang="en-US"/>
        </a:p>
      </dgm:t>
    </dgm:pt>
    <dgm:pt modelId="{4707B1B3-D97C-44F0-ACDB-819EB876C41C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Stored Procedure for </a:t>
          </a:r>
          <a:r>
            <a:rPr lang="en-AU" dirty="0" err="1"/>
            <a:t>dbo.MonthEndReconciliation</a:t>
          </a:r>
          <a:r>
            <a:rPr lang="en-AU" dirty="0"/>
            <a:t> </a:t>
          </a:r>
          <a:endParaRPr lang="en-US" dirty="0"/>
        </a:p>
      </dgm:t>
    </dgm:pt>
    <dgm:pt modelId="{C45D7450-70BB-43E1-B2FC-DDB8FE77ED4F}" type="parTrans" cxnId="{D34C1BF3-0225-4607-B9A4-674EE4A55BE5}">
      <dgm:prSet/>
      <dgm:spPr/>
      <dgm:t>
        <a:bodyPr/>
        <a:lstStyle/>
        <a:p>
          <a:endParaRPr lang="en-US"/>
        </a:p>
      </dgm:t>
    </dgm:pt>
    <dgm:pt modelId="{82084CA9-ADED-4AD0-9527-F202A0073652}" type="sibTrans" cxnId="{D34C1BF3-0225-4607-B9A4-674EE4A55BE5}">
      <dgm:prSet/>
      <dgm:spPr/>
      <dgm:t>
        <a:bodyPr/>
        <a:lstStyle/>
        <a:p>
          <a:endParaRPr lang="en-US"/>
        </a:p>
      </dgm:t>
    </dgm:pt>
    <dgm:pt modelId="{33073155-5708-4C8B-B6E2-477DDF7F20AC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#HighValueCounts</a:t>
          </a:r>
          <a:endParaRPr lang="en-US" dirty="0"/>
        </a:p>
      </dgm:t>
    </dgm:pt>
    <dgm:pt modelId="{99D35DB6-D988-4BF9-8525-D2DF2D27C0B7}" type="parTrans" cxnId="{4A2BE866-B236-41D2-BEBB-B6501C511397}">
      <dgm:prSet/>
      <dgm:spPr/>
      <dgm:t>
        <a:bodyPr/>
        <a:lstStyle/>
        <a:p>
          <a:endParaRPr lang="en-US"/>
        </a:p>
      </dgm:t>
    </dgm:pt>
    <dgm:pt modelId="{5211FFE9-9BD8-4B26-B09E-3F36438CCE63}" type="sibTrans" cxnId="{4A2BE866-B236-41D2-BEBB-B6501C511397}">
      <dgm:prSet/>
      <dgm:spPr/>
      <dgm:t>
        <a:bodyPr/>
        <a:lstStyle/>
        <a:p>
          <a:endParaRPr lang="en-US"/>
        </a:p>
      </dgm:t>
    </dgm:pt>
    <dgm:pt modelId="{0A364359-18AE-4E33-82AC-C840BA9E2969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Table Variable for Small Dataset for @TransactionSummary</a:t>
          </a:r>
          <a:endParaRPr lang="en-US" dirty="0"/>
        </a:p>
      </dgm:t>
    </dgm:pt>
    <dgm:pt modelId="{3CA90EF1-E65D-4085-AB9D-5284F2EEDD14}" type="parTrans" cxnId="{CED6DCAE-23E2-49B0-A64F-4521F8E86E7C}">
      <dgm:prSet/>
      <dgm:spPr/>
      <dgm:t>
        <a:bodyPr/>
        <a:lstStyle/>
        <a:p>
          <a:endParaRPr lang="en-US"/>
        </a:p>
      </dgm:t>
    </dgm:pt>
    <dgm:pt modelId="{0C0C608B-A4D6-49A6-95F4-701E2861C987}" type="sibTrans" cxnId="{CED6DCAE-23E2-49B0-A64F-4521F8E86E7C}">
      <dgm:prSet/>
      <dgm:spPr/>
      <dgm:t>
        <a:bodyPr/>
        <a:lstStyle/>
        <a:p>
          <a:endParaRPr lang="en-US"/>
        </a:p>
      </dgm:t>
    </dgm:pt>
    <dgm:pt modelId="{8F3F53FC-4141-44D0-A86F-DF9B623237F2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for #AllTransactions and #DailyTotals</a:t>
          </a:r>
          <a:endParaRPr lang="en-US" dirty="0"/>
        </a:p>
      </dgm:t>
    </dgm:pt>
    <dgm:pt modelId="{A1AF5A69-02CE-428B-91D4-CB33894594E2}" type="parTrans" cxnId="{05650872-2B62-487C-8E0E-1CEB0CA87C96}">
      <dgm:prSet/>
      <dgm:spPr/>
      <dgm:t>
        <a:bodyPr/>
        <a:lstStyle/>
        <a:p>
          <a:endParaRPr lang="en-US"/>
        </a:p>
      </dgm:t>
    </dgm:pt>
    <dgm:pt modelId="{8A8E6B92-4563-48AF-8E01-FD91F602C67B}" type="sibTrans" cxnId="{05650872-2B62-487C-8E0E-1CEB0CA87C96}">
      <dgm:prSet/>
      <dgm:spPr/>
      <dgm:t>
        <a:bodyPr/>
        <a:lstStyle/>
        <a:p>
          <a:endParaRPr lang="en-US"/>
        </a:p>
      </dgm:t>
    </dgm:pt>
    <dgm:pt modelId="{58A0E4E5-39A8-4CA8-9627-C9B1BD354429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Temp Table with All Transactions, #AllTx</a:t>
          </a:r>
          <a:endParaRPr lang="en-US" dirty="0"/>
        </a:p>
      </dgm:t>
    </dgm:pt>
    <dgm:pt modelId="{7348E644-3C9C-4BA4-AC77-B282F48ED5CB}" type="parTrans" cxnId="{DE406EB9-8453-4455-A8E1-3B2E4372C337}">
      <dgm:prSet/>
      <dgm:spPr/>
      <dgm:t>
        <a:bodyPr/>
        <a:lstStyle/>
        <a:p>
          <a:endParaRPr lang="en-US"/>
        </a:p>
      </dgm:t>
    </dgm:pt>
    <dgm:pt modelId="{9536225F-3B0A-464E-9BFE-6FA8A8A5FE91}" type="sibTrans" cxnId="{DE406EB9-8453-4455-A8E1-3B2E4372C337}">
      <dgm:prSet/>
      <dgm:spPr/>
      <dgm:t>
        <a:bodyPr/>
        <a:lstStyle/>
        <a:p>
          <a:endParaRPr lang="en-US"/>
        </a:p>
      </dgm:t>
    </dgm:pt>
    <dgm:pt modelId="{FE29FDB4-5AFB-4911-8C90-C0B6F2343719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Stored Procedure for </a:t>
          </a:r>
          <a:r>
            <a:rPr lang="en-AU" dirty="0" err="1"/>
            <a:t>dbo.QuarterlyReconciliation</a:t>
          </a:r>
          <a:r>
            <a:rPr lang="en-AU" dirty="0"/>
            <a:t> </a:t>
          </a:r>
          <a:endParaRPr lang="en-US" dirty="0"/>
        </a:p>
      </dgm:t>
    </dgm:pt>
    <dgm:pt modelId="{315AB6FD-94C6-41B1-9021-072BC8D3D27B}" type="parTrans" cxnId="{42112467-E1F6-493D-B5CE-FB9F71B0F8F9}">
      <dgm:prSet/>
      <dgm:spPr/>
      <dgm:t>
        <a:bodyPr/>
        <a:lstStyle/>
        <a:p>
          <a:endParaRPr lang="en-US"/>
        </a:p>
      </dgm:t>
    </dgm:pt>
    <dgm:pt modelId="{6CD1EC2D-6153-40EC-802E-8B328C1F073B}" type="sibTrans" cxnId="{42112467-E1F6-493D-B5CE-FB9F71B0F8F9}">
      <dgm:prSet/>
      <dgm:spPr/>
      <dgm:t>
        <a:bodyPr/>
        <a:lstStyle/>
        <a:p>
          <a:endParaRPr lang="en-US"/>
        </a:p>
      </dgm:t>
    </dgm:pt>
    <dgm:pt modelId="{AFE3FEC4-5728-4E07-9EF1-E885B8909FA3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Scenario 1: Small Dataset, single use -&gt; Table Variable </a:t>
          </a:r>
          <a:endParaRPr lang="en-US" dirty="0"/>
        </a:p>
      </dgm:t>
    </dgm:pt>
    <dgm:pt modelId="{F164161B-97E9-4D84-9B98-0B5E5DF42C1E}" type="parTrans" cxnId="{7FE22293-E41C-496A-AA14-5EC2C6FEA46D}">
      <dgm:prSet/>
      <dgm:spPr/>
      <dgm:t>
        <a:bodyPr/>
        <a:lstStyle/>
        <a:p>
          <a:endParaRPr lang="en-US"/>
        </a:p>
      </dgm:t>
    </dgm:pt>
    <dgm:pt modelId="{811EB5DD-8955-449E-A0C6-7AD49381F891}" type="sibTrans" cxnId="{7FE22293-E41C-496A-AA14-5EC2C6FEA46D}">
      <dgm:prSet/>
      <dgm:spPr/>
      <dgm:t>
        <a:bodyPr/>
        <a:lstStyle/>
        <a:p>
          <a:endParaRPr lang="en-US"/>
        </a:p>
      </dgm:t>
    </dgm:pt>
    <dgm:pt modelId="{11BCBC56-01A9-43EE-AB31-BB0D2EDCAB08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Scenario 2: Large Dataset, multiple steps -&gt; Temp Table </a:t>
          </a:r>
          <a:endParaRPr lang="en-US" dirty="0"/>
        </a:p>
      </dgm:t>
    </dgm:pt>
    <dgm:pt modelId="{1D92436B-ABE3-4EB6-8666-3250DC9B83A2}" type="parTrans" cxnId="{78B3C4D0-C4EB-4E24-B28B-1174ADF626D0}">
      <dgm:prSet/>
      <dgm:spPr/>
      <dgm:t>
        <a:bodyPr/>
        <a:lstStyle/>
        <a:p>
          <a:endParaRPr lang="en-US"/>
        </a:p>
      </dgm:t>
    </dgm:pt>
    <dgm:pt modelId="{12F107F3-2CC3-44CA-BC09-985DC9458CE7}" type="sibTrans" cxnId="{78B3C4D0-C4EB-4E24-B28B-1174ADF626D0}">
      <dgm:prSet/>
      <dgm:spPr/>
      <dgm:t>
        <a:bodyPr/>
        <a:lstStyle/>
        <a:p>
          <a:endParaRPr lang="en-US"/>
        </a:p>
      </dgm:t>
    </dgm:pt>
    <dgm:pt modelId="{19796ECA-B766-439E-893F-8DD90674DE40}">
      <dgm:prSet/>
      <dgm:spPr>
        <a:solidFill>
          <a:srgbClr val="C00000"/>
        </a:solidFill>
      </dgm:spPr>
      <dgm:t>
        <a:bodyPr/>
        <a:lstStyle/>
        <a:p>
          <a:r>
            <a:rPr lang="en-AU" dirty="0"/>
            <a:t>Scenario 3: Single query readability -&gt; CTE</a:t>
          </a:r>
          <a:endParaRPr lang="en-US" dirty="0"/>
        </a:p>
      </dgm:t>
    </dgm:pt>
    <dgm:pt modelId="{6F5A8C25-69EE-4F60-B977-1AD4CCA9E201}" type="parTrans" cxnId="{6BAC1265-C64E-42C6-8667-AC2C87CC7CD9}">
      <dgm:prSet/>
      <dgm:spPr/>
      <dgm:t>
        <a:bodyPr/>
        <a:lstStyle/>
        <a:p>
          <a:endParaRPr lang="en-US"/>
        </a:p>
      </dgm:t>
    </dgm:pt>
    <dgm:pt modelId="{FEF25F13-BA67-41CC-8F20-E646184E4C2D}" type="sibTrans" cxnId="{6BAC1265-C64E-42C6-8667-AC2C87CC7CD9}">
      <dgm:prSet/>
      <dgm:spPr/>
      <dgm:t>
        <a:bodyPr/>
        <a:lstStyle/>
        <a:p>
          <a:endParaRPr lang="en-US"/>
        </a:p>
      </dgm:t>
    </dgm:pt>
    <dgm:pt modelId="{D0D35C46-FB00-4D31-98C7-9C3811954646}" type="pres">
      <dgm:prSet presAssocID="{C5A8D30D-C9DF-4D04-8CFB-C7335A842066}" presName="Name0" presStyleCnt="0">
        <dgm:presLayoutVars>
          <dgm:dir/>
          <dgm:resizeHandles val="exact"/>
        </dgm:presLayoutVars>
      </dgm:prSet>
      <dgm:spPr/>
    </dgm:pt>
    <dgm:pt modelId="{0AECF900-881F-4F8F-9346-1ECA24FF83C4}" type="pres">
      <dgm:prSet presAssocID="{96FC63E8-CDC9-42D9-8EDD-C7F761CC85FE}" presName="node" presStyleLbl="node1" presStyleIdx="0" presStyleCnt="22">
        <dgm:presLayoutVars>
          <dgm:bulletEnabled val="1"/>
        </dgm:presLayoutVars>
      </dgm:prSet>
      <dgm:spPr/>
    </dgm:pt>
    <dgm:pt modelId="{8369953E-5F4C-4E43-A865-F999B168860C}" type="pres">
      <dgm:prSet presAssocID="{9D720FCB-81D9-40A0-A08A-7E95D26B492E}" presName="sibTrans" presStyleLbl="sibTrans1D1" presStyleIdx="0" presStyleCnt="21"/>
      <dgm:spPr/>
    </dgm:pt>
    <dgm:pt modelId="{2A99DBBF-9F40-4D5E-9932-7843302D9AC7}" type="pres">
      <dgm:prSet presAssocID="{9D720FCB-81D9-40A0-A08A-7E95D26B492E}" presName="connectorText" presStyleLbl="sibTrans1D1" presStyleIdx="0" presStyleCnt="21"/>
      <dgm:spPr/>
    </dgm:pt>
    <dgm:pt modelId="{BD8AA13F-605E-4964-883A-33EC99E64223}" type="pres">
      <dgm:prSet presAssocID="{BB24E02F-5A86-43BF-9323-74E184DAE6D4}" presName="node" presStyleLbl="node1" presStyleIdx="1" presStyleCnt="22">
        <dgm:presLayoutVars>
          <dgm:bulletEnabled val="1"/>
        </dgm:presLayoutVars>
      </dgm:prSet>
      <dgm:spPr/>
    </dgm:pt>
    <dgm:pt modelId="{C2C3E9C2-9EA3-493B-AF80-FD89550CABC5}" type="pres">
      <dgm:prSet presAssocID="{F69296EF-0886-4B33-B552-74A03B2890BC}" presName="sibTrans" presStyleLbl="sibTrans1D1" presStyleIdx="1" presStyleCnt="21"/>
      <dgm:spPr/>
    </dgm:pt>
    <dgm:pt modelId="{CA3D11A1-1431-4357-9E4F-DA9E19E8E170}" type="pres">
      <dgm:prSet presAssocID="{F69296EF-0886-4B33-B552-74A03B2890BC}" presName="connectorText" presStyleLbl="sibTrans1D1" presStyleIdx="1" presStyleCnt="21"/>
      <dgm:spPr/>
    </dgm:pt>
    <dgm:pt modelId="{B5C8E9FC-D7B6-4164-A6FB-89FB38C08F67}" type="pres">
      <dgm:prSet presAssocID="{7EE64687-4A89-455D-8E20-A485DB44C0FC}" presName="node" presStyleLbl="node1" presStyleIdx="2" presStyleCnt="22">
        <dgm:presLayoutVars>
          <dgm:bulletEnabled val="1"/>
        </dgm:presLayoutVars>
      </dgm:prSet>
      <dgm:spPr/>
    </dgm:pt>
    <dgm:pt modelId="{7614EFB8-FE43-498A-88FC-68C0F64FFD44}" type="pres">
      <dgm:prSet presAssocID="{7A212F17-F0C8-426E-BE4D-C5E5E5BC11E2}" presName="sibTrans" presStyleLbl="sibTrans1D1" presStyleIdx="2" presStyleCnt="21"/>
      <dgm:spPr/>
    </dgm:pt>
    <dgm:pt modelId="{D83734E6-9C47-40C7-A9D9-DAC440783A8C}" type="pres">
      <dgm:prSet presAssocID="{7A212F17-F0C8-426E-BE4D-C5E5E5BC11E2}" presName="connectorText" presStyleLbl="sibTrans1D1" presStyleIdx="2" presStyleCnt="21"/>
      <dgm:spPr/>
    </dgm:pt>
    <dgm:pt modelId="{8B0CFF13-7BE4-46C8-85C7-516070E38050}" type="pres">
      <dgm:prSet presAssocID="{D133676E-08F7-4664-93FE-31579850353D}" presName="node" presStyleLbl="node1" presStyleIdx="3" presStyleCnt="22">
        <dgm:presLayoutVars>
          <dgm:bulletEnabled val="1"/>
        </dgm:presLayoutVars>
      </dgm:prSet>
      <dgm:spPr/>
    </dgm:pt>
    <dgm:pt modelId="{A75B3C55-F074-48D0-9069-4072262F189F}" type="pres">
      <dgm:prSet presAssocID="{9413084C-9833-409E-941E-E8894017C3A0}" presName="sibTrans" presStyleLbl="sibTrans1D1" presStyleIdx="3" presStyleCnt="21"/>
      <dgm:spPr/>
    </dgm:pt>
    <dgm:pt modelId="{CE2766F9-935A-4019-9EE6-54EAF5E2151B}" type="pres">
      <dgm:prSet presAssocID="{9413084C-9833-409E-941E-E8894017C3A0}" presName="connectorText" presStyleLbl="sibTrans1D1" presStyleIdx="3" presStyleCnt="21"/>
      <dgm:spPr/>
    </dgm:pt>
    <dgm:pt modelId="{1FF88093-A6E6-40CA-BD0D-9644218C26E6}" type="pres">
      <dgm:prSet presAssocID="{B265CF60-27D9-4679-89BC-1395D477120E}" presName="node" presStyleLbl="node1" presStyleIdx="4" presStyleCnt="22">
        <dgm:presLayoutVars>
          <dgm:bulletEnabled val="1"/>
        </dgm:presLayoutVars>
      </dgm:prSet>
      <dgm:spPr/>
    </dgm:pt>
    <dgm:pt modelId="{AC97FD6F-15EC-4272-9EFE-09FC1AC0FF11}" type="pres">
      <dgm:prSet presAssocID="{C8B6B893-46C2-438B-B2A4-F56C03A3EDFB}" presName="sibTrans" presStyleLbl="sibTrans1D1" presStyleIdx="4" presStyleCnt="21"/>
      <dgm:spPr/>
    </dgm:pt>
    <dgm:pt modelId="{78C6A834-5DD9-4E60-BFB2-F07E6642ABD4}" type="pres">
      <dgm:prSet presAssocID="{C8B6B893-46C2-438B-B2A4-F56C03A3EDFB}" presName="connectorText" presStyleLbl="sibTrans1D1" presStyleIdx="4" presStyleCnt="21"/>
      <dgm:spPr/>
    </dgm:pt>
    <dgm:pt modelId="{49631040-6F16-4E6F-B774-E10E9F81E16B}" type="pres">
      <dgm:prSet presAssocID="{A41E9A65-77BE-4465-AF0F-4068BD556A5B}" presName="node" presStyleLbl="node1" presStyleIdx="5" presStyleCnt="22">
        <dgm:presLayoutVars>
          <dgm:bulletEnabled val="1"/>
        </dgm:presLayoutVars>
      </dgm:prSet>
      <dgm:spPr/>
    </dgm:pt>
    <dgm:pt modelId="{A1E7F2FF-A4A2-4D34-9BB3-764AB24A988C}" type="pres">
      <dgm:prSet presAssocID="{C592255F-76E8-4564-B191-464027583B8D}" presName="sibTrans" presStyleLbl="sibTrans1D1" presStyleIdx="5" presStyleCnt="21"/>
      <dgm:spPr/>
    </dgm:pt>
    <dgm:pt modelId="{4446B9AA-8C6F-49D0-977D-64E40ABF09F2}" type="pres">
      <dgm:prSet presAssocID="{C592255F-76E8-4564-B191-464027583B8D}" presName="connectorText" presStyleLbl="sibTrans1D1" presStyleIdx="5" presStyleCnt="21"/>
      <dgm:spPr/>
    </dgm:pt>
    <dgm:pt modelId="{AA7F9536-E127-42C1-8209-B3579724B736}" type="pres">
      <dgm:prSet presAssocID="{28F5B62D-24EE-4643-9F86-3D3C46CC97AB}" presName="node" presStyleLbl="node1" presStyleIdx="6" presStyleCnt="22">
        <dgm:presLayoutVars>
          <dgm:bulletEnabled val="1"/>
        </dgm:presLayoutVars>
      </dgm:prSet>
      <dgm:spPr/>
    </dgm:pt>
    <dgm:pt modelId="{9C7E9022-489B-441C-9C97-43B78A645FBE}" type="pres">
      <dgm:prSet presAssocID="{2AEF31E7-7FDC-454B-ADE3-69AB717537FB}" presName="sibTrans" presStyleLbl="sibTrans1D1" presStyleIdx="6" presStyleCnt="21"/>
      <dgm:spPr/>
    </dgm:pt>
    <dgm:pt modelId="{887D85F5-F5F4-4FF7-AAF4-E674F0119EC4}" type="pres">
      <dgm:prSet presAssocID="{2AEF31E7-7FDC-454B-ADE3-69AB717537FB}" presName="connectorText" presStyleLbl="sibTrans1D1" presStyleIdx="6" presStyleCnt="21"/>
      <dgm:spPr/>
    </dgm:pt>
    <dgm:pt modelId="{6A581C8C-ED31-4D3C-B56A-1D5676F42EF5}" type="pres">
      <dgm:prSet presAssocID="{01C9CA21-77DA-43DC-AFE6-FE94D7454FD2}" presName="node" presStyleLbl="node1" presStyleIdx="7" presStyleCnt="22">
        <dgm:presLayoutVars>
          <dgm:bulletEnabled val="1"/>
        </dgm:presLayoutVars>
      </dgm:prSet>
      <dgm:spPr/>
    </dgm:pt>
    <dgm:pt modelId="{87A39965-55FA-4514-9B1E-F0CC68995BD3}" type="pres">
      <dgm:prSet presAssocID="{5D42F636-76DD-47C1-95CF-C8810F7F69F8}" presName="sibTrans" presStyleLbl="sibTrans1D1" presStyleIdx="7" presStyleCnt="21"/>
      <dgm:spPr/>
    </dgm:pt>
    <dgm:pt modelId="{3A2C364F-3DBD-4431-ADB1-27266536D412}" type="pres">
      <dgm:prSet presAssocID="{5D42F636-76DD-47C1-95CF-C8810F7F69F8}" presName="connectorText" presStyleLbl="sibTrans1D1" presStyleIdx="7" presStyleCnt="21"/>
      <dgm:spPr/>
    </dgm:pt>
    <dgm:pt modelId="{275CAA5C-06BB-4482-8B60-5BDF5459E3C1}" type="pres">
      <dgm:prSet presAssocID="{8F005B3E-52C4-4B7A-AB67-2561E005A78B}" presName="node" presStyleLbl="node1" presStyleIdx="8" presStyleCnt="22">
        <dgm:presLayoutVars>
          <dgm:bulletEnabled val="1"/>
        </dgm:presLayoutVars>
      </dgm:prSet>
      <dgm:spPr/>
    </dgm:pt>
    <dgm:pt modelId="{633DEC27-FE53-47C7-89EE-FCC0C85BECD2}" type="pres">
      <dgm:prSet presAssocID="{1E9F3F0F-5AB2-465E-B271-A21F4FB81A55}" presName="sibTrans" presStyleLbl="sibTrans1D1" presStyleIdx="8" presStyleCnt="21"/>
      <dgm:spPr/>
    </dgm:pt>
    <dgm:pt modelId="{4AEFE894-E256-4DB8-B8C4-3237B6D1CB6B}" type="pres">
      <dgm:prSet presAssocID="{1E9F3F0F-5AB2-465E-B271-A21F4FB81A55}" presName="connectorText" presStyleLbl="sibTrans1D1" presStyleIdx="8" presStyleCnt="21"/>
      <dgm:spPr/>
    </dgm:pt>
    <dgm:pt modelId="{F69B7920-DABC-4303-B1C6-130D6CC6992C}" type="pres">
      <dgm:prSet presAssocID="{A196695A-D4E3-4721-89CD-C3AEE5680CD2}" presName="node" presStyleLbl="node1" presStyleIdx="9" presStyleCnt="22">
        <dgm:presLayoutVars>
          <dgm:bulletEnabled val="1"/>
        </dgm:presLayoutVars>
      </dgm:prSet>
      <dgm:spPr/>
    </dgm:pt>
    <dgm:pt modelId="{3E5515DA-7034-4734-91D9-B959F83464AC}" type="pres">
      <dgm:prSet presAssocID="{EC366EB1-8424-4125-A161-D0E1D84F5085}" presName="sibTrans" presStyleLbl="sibTrans1D1" presStyleIdx="9" presStyleCnt="21"/>
      <dgm:spPr/>
    </dgm:pt>
    <dgm:pt modelId="{BEDFAC34-0198-4232-B9B5-6C09FB3A1660}" type="pres">
      <dgm:prSet presAssocID="{EC366EB1-8424-4125-A161-D0E1D84F5085}" presName="connectorText" presStyleLbl="sibTrans1D1" presStyleIdx="9" presStyleCnt="21"/>
      <dgm:spPr/>
    </dgm:pt>
    <dgm:pt modelId="{0607F99C-3FB3-4B0A-9275-546F71B0FF34}" type="pres">
      <dgm:prSet presAssocID="{2548D4DE-AD4C-4E88-82F2-ADB51340783C}" presName="node" presStyleLbl="node1" presStyleIdx="10" presStyleCnt="22">
        <dgm:presLayoutVars>
          <dgm:bulletEnabled val="1"/>
        </dgm:presLayoutVars>
      </dgm:prSet>
      <dgm:spPr/>
    </dgm:pt>
    <dgm:pt modelId="{010F694A-FF1E-4303-9C8F-07C841751410}" type="pres">
      <dgm:prSet presAssocID="{FB630D34-1F98-47E7-802C-F0AAF3D5B3DB}" presName="sibTrans" presStyleLbl="sibTrans1D1" presStyleIdx="10" presStyleCnt="21"/>
      <dgm:spPr/>
    </dgm:pt>
    <dgm:pt modelId="{0458C18B-8497-4E5B-BED9-85980F820568}" type="pres">
      <dgm:prSet presAssocID="{FB630D34-1F98-47E7-802C-F0AAF3D5B3DB}" presName="connectorText" presStyleLbl="sibTrans1D1" presStyleIdx="10" presStyleCnt="21"/>
      <dgm:spPr/>
    </dgm:pt>
    <dgm:pt modelId="{FBB9E483-6844-4431-8183-078C04FFA486}" type="pres">
      <dgm:prSet presAssocID="{9E03868E-B74C-4947-A180-A1A05DFFBEC0}" presName="node" presStyleLbl="node1" presStyleIdx="11" presStyleCnt="22">
        <dgm:presLayoutVars>
          <dgm:bulletEnabled val="1"/>
        </dgm:presLayoutVars>
      </dgm:prSet>
      <dgm:spPr/>
    </dgm:pt>
    <dgm:pt modelId="{A810799B-DFD0-41D8-B528-8859C18BF8B7}" type="pres">
      <dgm:prSet presAssocID="{7493A2EB-0A34-455F-ABA0-48D6E5FE446B}" presName="sibTrans" presStyleLbl="sibTrans1D1" presStyleIdx="11" presStyleCnt="21"/>
      <dgm:spPr/>
    </dgm:pt>
    <dgm:pt modelId="{A64D6C92-92B0-4C42-A1BF-D84EF1FD72E0}" type="pres">
      <dgm:prSet presAssocID="{7493A2EB-0A34-455F-ABA0-48D6E5FE446B}" presName="connectorText" presStyleLbl="sibTrans1D1" presStyleIdx="11" presStyleCnt="21"/>
      <dgm:spPr/>
    </dgm:pt>
    <dgm:pt modelId="{BB8604C3-2AB6-471C-8568-A18E83F18653}" type="pres">
      <dgm:prSet presAssocID="{C7161725-3268-48B7-8B55-D4259CDC259D}" presName="node" presStyleLbl="node1" presStyleIdx="12" presStyleCnt="22">
        <dgm:presLayoutVars>
          <dgm:bulletEnabled val="1"/>
        </dgm:presLayoutVars>
      </dgm:prSet>
      <dgm:spPr/>
    </dgm:pt>
    <dgm:pt modelId="{7470DDA8-4C7E-45ED-9AF9-D3FE9BF96D61}" type="pres">
      <dgm:prSet presAssocID="{FB6E696A-A86E-469D-A817-D9CEB588EF22}" presName="sibTrans" presStyleLbl="sibTrans1D1" presStyleIdx="12" presStyleCnt="21"/>
      <dgm:spPr/>
    </dgm:pt>
    <dgm:pt modelId="{95C617B7-0860-4A99-85DE-65EE7AED0035}" type="pres">
      <dgm:prSet presAssocID="{FB6E696A-A86E-469D-A817-D9CEB588EF22}" presName="connectorText" presStyleLbl="sibTrans1D1" presStyleIdx="12" presStyleCnt="21"/>
      <dgm:spPr/>
    </dgm:pt>
    <dgm:pt modelId="{42B423D8-C770-4187-BA7F-EAFD5129DF6C}" type="pres">
      <dgm:prSet presAssocID="{4707B1B3-D97C-44F0-ACDB-819EB876C41C}" presName="node" presStyleLbl="node1" presStyleIdx="13" presStyleCnt="22">
        <dgm:presLayoutVars>
          <dgm:bulletEnabled val="1"/>
        </dgm:presLayoutVars>
      </dgm:prSet>
      <dgm:spPr/>
    </dgm:pt>
    <dgm:pt modelId="{E725AB1D-58C3-460F-B76E-A4EF5861AD9A}" type="pres">
      <dgm:prSet presAssocID="{82084CA9-ADED-4AD0-9527-F202A0073652}" presName="sibTrans" presStyleLbl="sibTrans1D1" presStyleIdx="13" presStyleCnt="21"/>
      <dgm:spPr/>
    </dgm:pt>
    <dgm:pt modelId="{FECE34AF-80BC-468E-8042-FF05D725A9DB}" type="pres">
      <dgm:prSet presAssocID="{82084CA9-ADED-4AD0-9527-F202A0073652}" presName="connectorText" presStyleLbl="sibTrans1D1" presStyleIdx="13" presStyleCnt="21"/>
      <dgm:spPr/>
    </dgm:pt>
    <dgm:pt modelId="{450945B5-71FA-41AC-BCD3-0B4BD2DF23AD}" type="pres">
      <dgm:prSet presAssocID="{33073155-5708-4C8B-B6E2-477DDF7F20AC}" presName="node" presStyleLbl="node1" presStyleIdx="14" presStyleCnt="22">
        <dgm:presLayoutVars>
          <dgm:bulletEnabled val="1"/>
        </dgm:presLayoutVars>
      </dgm:prSet>
      <dgm:spPr/>
    </dgm:pt>
    <dgm:pt modelId="{27F66AA4-555F-4FD8-A88E-8D1BC495024E}" type="pres">
      <dgm:prSet presAssocID="{5211FFE9-9BD8-4B26-B09E-3F36438CCE63}" presName="sibTrans" presStyleLbl="sibTrans1D1" presStyleIdx="14" presStyleCnt="21"/>
      <dgm:spPr/>
    </dgm:pt>
    <dgm:pt modelId="{210F23B6-779D-474D-B98F-13C19C771DF3}" type="pres">
      <dgm:prSet presAssocID="{5211FFE9-9BD8-4B26-B09E-3F36438CCE63}" presName="connectorText" presStyleLbl="sibTrans1D1" presStyleIdx="14" presStyleCnt="21"/>
      <dgm:spPr/>
    </dgm:pt>
    <dgm:pt modelId="{C12003C7-2BC9-4BF9-9209-3F3DB8A8EE9B}" type="pres">
      <dgm:prSet presAssocID="{0A364359-18AE-4E33-82AC-C840BA9E2969}" presName="node" presStyleLbl="node1" presStyleIdx="15" presStyleCnt="22">
        <dgm:presLayoutVars>
          <dgm:bulletEnabled val="1"/>
        </dgm:presLayoutVars>
      </dgm:prSet>
      <dgm:spPr/>
    </dgm:pt>
    <dgm:pt modelId="{F4FB1521-A98E-4CCB-AEA1-CB9647A0FC7E}" type="pres">
      <dgm:prSet presAssocID="{0C0C608B-A4D6-49A6-95F4-701E2861C987}" presName="sibTrans" presStyleLbl="sibTrans1D1" presStyleIdx="15" presStyleCnt="21"/>
      <dgm:spPr/>
    </dgm:pt>
    <dgm:pt modelId="{EAB15FD3-4A3C-474B-9855-A8900CDB1FEE}" type="pres">
      <dgm:prSet presAssocID="{0C0C608B-A4D6-49A6-95F4-701E2861C987}" presName="connectorText" presStyleLbl="sibTrans1D1" presStyleIdx="15" presStyleCnt="21"/>
      <dgm:spPr/>
    </dgm:pt>
    <dgm:pt modelId="{47BB2FF5-CC29-466F-8782-E38FC9FF4373}" type="pres">
      <dgm:prSet presAssocID="{8F3F53FC-4141-44D0-A86F-DF9B623237F2}" presName="node" presStyleLbl="node1" presStyleIdx="16" presStyleCnt="22">
        <dgm:presLayoutVars>
          <dgm:bulletEnabled val="1"/>
        </dgm:presLayoutVars>
      </dgm:prSet>
      <dgm:spPr/>
    </dgm:pt>
    <dgm:pt modelId="{667101FD-FDCE-4B8A-98B8-BDC7E12A00C6}" type="pres">
      <dgm:prSet presAssocID="{8A8E6B92-4563-48AF-8E01-FD91F602C67B}" presName="sibTrans" presStyleLbl="sibTrans1D1" presStyleIdx="16" presStyleCnt="21"/>
      <dgm:spPr/>
    </dgm:pt>
    <dgm:pt modelId="{4C9BF6D4-7608-45A6-8F22-305C7FB0EDD5}" type="pres">
      <dgm:prSet presAssocID="{8A8E6B92-4563-48AF-8E01-FD91F602C67B}" presName="connectorText" presStyleLbl="sibTrans1D1" presStyleIdx="16" presStyleCnt="21"/>
      <dgm:spPr/>
    </dgm:pt>
    <dgm:pt modelId="{CCFCCD2C-646D-4D91-B19E-8D421A6DEA68}" type="pres">
      <dgm:prSet presAssocID="{58A0E4E5-39A8-4CA8-9627-C9B1BD354429}" presName="node" presStyleLbl="node1" presStyleIdx="17" presStyleCnt="22">
        <dgm:presLayoutVars>
          <dgm:bulletEnabled val="1"/>
        </dgm:presLayoutVars>
      </dgm:prSet>
      <dgm:spPr/>
    </dgm:pt>
    <dgm:pt modelId="{D2DE3D15-7877-414A-B13E-5B06ED5D9E12}" type="pres">
      <dgm:prSet presAssocID="{9536225F-3B0A-464E-9BFE-6FA8A8A5FE91}" presName="sibTrans" presStyleLbl="sibTrans1D1" presStyleIdx="17" presStyleCnt="21"/>
      <dgm:spPr/>
    </dgm:pt>
    <dgm:pt modelId="{420C0EB9-784A-48C1-94EA-7DC9A362E15D}" type="pres">
      <dgm:prSet presAssocID="{9536225F-3B0A-464E-9BFE-6FA8A8A5FE91}" presName="connectorText" presStyleLbl="sibTrans1D1" presStyleIdx="17" presStyleCnt="21"/>
      <dgm:spPr/>
    </dgm:pt>
    <dgm:pt modelId="{93F8DC2A-22B9-48D3-856D-D363B727EB63}" type="pres">
      <dgm:prSet presAssocID="{FE29FDB4-5AFB-4911-8C90-C0B6F2343719}" presName="node" presStyleLbl="node1" presStyleIdx="18" presStyleCnt="22">
        <dgm:presLayoutVars>
          <dgm:bulletEnabled val="1"/>
        </dgm:presLayoutVars>
      </dgm:prSet>
      <dgm:spPr/>
    </dgm:pt>
    <dgm:pt modelId="{EF952478-D1CB-48B9-A53D-75DAEBF7F8A0}" type="pres">
      <dgm:prSet presAssocID="{6CD1EC2D-6153-40EC-802E-8B328C1F073B}" presName="sibTrans" presStyleLbl="sibTrans1D1" presStyleIdx="18" presStyleCnt="21"/>
      <dgm:spPr/>
    </dgm:pt>
    <dgm:pt modelId="{25836B0B-6925-48DF-BFFB-D68A4AAEC085}" type="pres">
      <dgm:prSet presAssocID="{6CD1EC2D-6153-40EC-802E-8B328C1F073B}" presName="connectorText" presStyleLbl="sibTrans1D1" presStyleIdx="18" presStyleCnt="21"/>
      <dgm:spPr/>
    </dgm:pt>
    <dgm:pt modelId="{F91D452F-3B63-4E30-8396-80530E528A1E}" type="pres">
      <dgm:prSet presAssocID="{AFE3FEC4-5728-4E07-9EF1-E885B8909FA3}" presName="node" presStyleLbl="node1" presStyleIdx="19" presStyleCnt="22">
        <dgm:presLayoutVars>
          <dgm:bulletEnabled val="1"/>
        </dgm:presLayoutVars>
      </dgm:prSet>
      <dgm:spPr/>
    </dgm:pt>
    <dgm:pt modelId="{1C2C0B37-80A0-4C9E-9FF0-3456B777D86A}" type="pres">
      <dgm:prSet presAssocID="{811EB5DD-8955-449E-A0C6-7AD49381F891}" presName="sibTrans" presStyleLbl="sibTrans1D1" presStyleIdx="19" presStyleCnt="21"/>
      <dgm:spPr/>
    </dgm:pt>
    <dgm:pt modelId="{6D022F92-CD03-4F4F-93CE-0BB858AA93A7}" type="pres">
      <dgm:prSet presAssocID="{811EB5DD-8955-449E-A0C6-7AD49381F891}" presName="connectorText" presStyleLbl="sibTrans1D1" presStyleIdx="19" presStyleCnt="21"/>
      <dgm:spPr/>
    </dgm:pt>
    <dgm:pt modelId="{1FABEC62-31DD-499C-9923-61D1A2257B50}" type="pres">
      <dgm:prSet presAssocID="{11BCBC56-01A9-43EE-AB31-BB0D2EDCAB08}" presName="node" presStyleLbl="node1" presStyleIdx="20" presStyleCnt="22">
        <dgm:presLayoutVars>
          <dgm:bulletEnabled val="1"/>
        </dgm:presLayoutVars>
      </dgm:prSet>
      <dgm:spPr/>
    </dgm:pt>
    <dgm:pt modelId="{7E853F9A-6763-47AE-9D8A-5D16310B080B}" type="pres">
      <dgm:prSet presAssocID="{12F107F3-2CC3-44CA-BC09-985DC9458CE7}" presName="sibTrans" presStyleLbl="sibTrans1D1" presStyleIdx="20" presStyleCnt="21"/>
      <dgm:spPr/>
    </dgm:pt>
    <dgm:pt modelId="{914EBEDE-2BE7-4DCA-A0AE-DE67382D80AB}" type="pres">
      <dgm:prSet presAssocID="{12F107F3-2CC3-44CA-BC09-985DC9458CE7}" presName="connectorText" presStyleLbl="sibTrans1D1" presStyleIdx="20" presStyleCnt="21"/>
      <dgm:spPr/>
    </dgm:pt>
    <dgm:pt modelId="{43DD9A0A-91DC-488C-9106-5C3EE764C2EA}" type="pres">
      <dgm:prSet presAssocID="{19796ECA-B766-439E-893F-8DD90674DE40}" presName="node" presStyleLbl="node1" presStyleIdx="21" presStyleCnt="22">
        <dgm:presLayoutVars>
          <dgm:bulletEnabled val="1"/>
        </dgm:presLayoutVars>
      </dgm:prSet>
      <dgm:spPr/>
    </dgm:pt>
  </dgm:ptLst>
  <dgm:cxnLst>
    <dgm:cxn modelId="{36D4DA01-730E-4444-9EDB-C647451C871E}" type="presOf" srcId="{58A0E4E5-39A8-4CA8-9627-C9B1BD354429}" destId="{CCFCCD2C-646D-4D91-B19E-8D421A6DEA68}" srcOrd="0" destOrd="0" presId="urn:microsoft.com/office/officeart/2016/7/layout/RepeatingBendingProcessNew"/>
    <dgm:cxn modelId="{0964C403-0E87-4A44-B8A5-A3DB9F6AF233}" type="presOf" srcId="{0C0C608B-A4D6-49A6-95F4-701E2861C987}" destId="{F4FB1521-A98E-4CCB-AEA1-CB9647A0FC7E}" srcOrd="0" destOrd="0" presId="urn:microsoft.com/office/officeart/2016/7/layout/RepeatingBendingProcessNew"/>
    <dgm:cxn modelId="{CB09C505-280D-4371-8DC6-2B5D28E36124}" type="presOf" srcId="{7A212F17-F0C8-426E-BE4D-C5E5E5BC11E2}" destId="{D83734E6-9C47-40C7-A9D9-DAC440783A8C}" srcOrd="1" destOrd="0" presId="urn:microsoft.com/office/officeart/2016/7/layout/RepeatingBendingProcessNew"/>
    <dgm:cxn modelId="{1852EF06-0E3A-43E4-9EBC-83AB5D78D39B}" type="presOf" srcId="{9413084C-9833-409E-941E-E8894017C3A0}" destId="{A75B3C55-F074-48D0-9069-4072262F189F}" srcOrd="0" destOrd="0" presId="urn:microsoft.com/office/officeart/2016/7/layout/RepeatingBendingProcessNew"/>
    <dgm:cxn modelId="{89A3BC08-57FF-41B5-98F0-CFE7C65D13D9}" type="presOf" srcId="{8A8E6B92-4563-48AF-8E01-FD91F602C67B}" destId="{4C9BF6D4-7608-45A6-8F22-305C7FB0EDD5}" srcOrd="1" destOrd="0" presId="urn:microsoft.com/office/officeart/2016/7/layout/RepeatingBendingProcessNew"/>
    <dgm:cxn modelId="{E5B2BC0D-C913-4F15-8F40-6CF5E59E4E95}" type="presOf" srcId="{0C0C608B-A4D6-49A6-95F4-701E2861C987}" destId="{EAB15FD3-4A3C-474B-9855-A8900CDB1FEE}" srcOrd="1" destOrd="0" presId="urn:microsoft.com/office/officeart/2016/7/layout/RepeatingBendingProcessNew"/>
    <dgm:cxn modelId="{7C010614-4253-408C-9189-F5FC5C87BDB6}" type="presOf" srcId="{2AEF31E7-7FDC-454B-ADE3-69AB717537FB}" destId="{887D85F5-F5F4-4FF7-AAF4-E674F0119EC4}" srcOrd="1" destOrd="0" presId="urn:microsoft.com/office/officeart/2016/7/layout/RepeatingBendingProcessNew"/>
    <dgm:cxn modelId="{EF8EB217-275D-4A9B-AB4F-04A3633AB30A}" type="presOf" srcId="{C7161725-3268-48B7-8B55-D4259CDC259D}" destId="{BB8604C3-2AB6-471C-8568-A18E83F18653}" srcOrd="0" destOrd="0" presId="urn:microsoft.com/office/officeart/2016/7/layout/RepeatingBendingProcessNew"/>
    <dgm:cxn modelId="{98F0651C-B62E-484A-8EC6-DCB604CBE236}" srcId="{C5A8D30D-C9DF-4D04-8CFB-C7335A842066}" destId="{2548D4DE-AD4C-4E88-82F2-ADB51340783C}" srcOrd="10" destOrd="0" parTransId="{83C3252D-13D8-47DF-B362-253082D56B34}" sibTransId="{FB630D34-1F98-47E7-802C-F0AAF3D5B3DB}"/>
    <dgm:cxn modelId="{7679B81C-836E-4B3D-92FC-830425C6E597}" type="presOf" srcId="{01C9CA21-77DA-43DC-AFE6-FE94D7454FD2}" destId="{6A581C8C-ED31-4D3C-B56A-1D5676F42EF5}" srcOrd="0" destOrd="0" presId="urn:microsoft.com/office/officeart/2016/7/layout/RepeatingBendingProcessNew"/>
    <dgm:cxn modelId="{8160891D-3850-49B3-BDCE-3B1071387A0B}" srcId="{C5A8D30D-C9DF-4D04-8CFB-C7335A842066}" destId="{A196695A-D4E3-4721-89CD-C3AEE5680CD2}" srcOrd="9" destOrd="0" parTransId="{A463D00E-C62D-460B-9070-4A5EAF3604E4}" sibTransId="{EC366EB1-8424-4125-A161-D0E1D84F5085}"/>
    <dgm:cxn modelId="{C8F7321E-6C19-4424-9105-4A9F49455B70}" srcId="{C5A8D30D-C9DF-4D04-8CFB-C7335A842066}" destId="{8F005B3E-52C4-4B7A-AB67-2561E005A78B}" srcOrd="8" destOrd="0" parTransId="{E36F9661-67F5-444D-A47C-B8DDACA0DA09}" sibTransId="{1E9F3F0F-5AB2-465E-B271-A21F4FB81A55}"/>
    <dgm:cxn modelId="{580CCD21-A55A-4F87-A6DB-39694917F731}" type="presOf" srcId="{9D720FCB-81D9-40A0-A08A-7E95D26B492E}" destId="{8369953E-5F4C-4E43-A865-F999B168860C}" srcOrd="0" destOrd="0" presId="urn:microsoft.com/office/officeart/2016/7/layout/RepeatingBendingProcessNew"/>
    <dgm:cxn modelId="{FF369326-B627-4CF0-AEF9-62EAEAA3C2B4}" type="presOf" srcId="{82084CA9-ADED-4AD0-9527-F202A0073652}" destId="{FECE34AF-80BC-468E-8042-FF05D725A9DB}" srcOrd="1" destOrd="0" presId="urn:microsoft.com/office/officeart/2016/7/layout/RepeatingBendingProcessNew"/>
    <dgm:cxn modelId="{6FC9B527-5B08-47FC-A4AE-A9F82638091C}" type="presOf" srcId="{33073155-5708-4C8B-B6E2-477DDF7F20AC}" destId="{450945B5-71FA-41AC-BCD3-0B4BD2DF23AD}" srcOrd="0" destOrd="0" presId="urn:microsoft.com/office/officeart/2016/7/layout/RepeatingBendingProcessNew"/>
    <dgm:cxn modelId="{E8C4BC27-BDD3-4D69-B74B-A66728B1138F}" type="presOf" srcId="{C5A8D30D-C9DF-4D04-8CFB-C7335A842066}" destId="{D0D35C46-FB00-4D31-98C7-9C3811954646}" srcOrd="0" destOrd="0" presId="urn:microsoft.com/office/officeart/2016/7/layout/RepeatingBendingProcessNew"/>
    <dgm:cxn modelId="{DD420E2A-3858-4112-A0B0-5D77BE06F0E5}" type="presOf" srcId="{8F005B3E-52C4-4B7A-AB67-2561E005A78B}" destId="{275CAA5C-06BB-4482-8B60-5BDF5459E3C1}" srcOrd="0" destOrd="0" presId="urn:microsoft.com/office/officeart/2016/7/layout/RepeatingBendingProcessNew"/>
    <dgm:cxn modelId="{DBEAB132-342F-44D2-B268-A28ECC415707}" srcId="{C5A8D30D-C9DF-4D04-8CFB-C7335A842066}" destId="{A41E9A65-77BE-4465-AF0F-4068BD556A5B}" srcOrd="5" destOrd="0" parTransId="{BA08181D-616F-46DD-997A-4E1C36265D84}" sibTransId="{C592255F-76E8-4564-B191-464027583B8D}"/>
    <dgm:cxn modelId="{4A07A533-BEFA-483B-9C41-A2C963A30CA9}" srcId="{C5A8D30D-C9DF-4D04-8CFB-C7335A842066}" destId="{C7161725-3268-48B7-8B55-D4259CDC259D}" srcOrd="12" destOrd="0" parTransId="{B5FA04DE-698A-4A0C-B3F7-B7631668D55C}" sibTransId="{FB6E696A-A86E-469D-A817-D9CEB588EF22}"/>
    <dgm:cxn modelId="{853F5935-6ABE-4B19-A9D5-15F4A405C605}" type="presOf" srcId="{7493A2EB-0A34-455F-ABA0-48D6E5FE446B}" destId="{A64D6C92-92B0-4C42-A1BF-D84EF1FD72E0}" srcOrd="1" destOrd="0" presId="urn:microsoft.com/office/officeart/2016/7/layout/RepeatingBendingProcessNew"/>
    <dgm:cxn modelId="{B0F7923E-9584-4599-BFE5-88C4961280C1}" type="presOf" srcId="{6CD1EC2D-6153-40EC-802E-8B328C1F073B}" destId="{EF952478-D1CB-48B9-A53D-75DAEBF7F8A0}" srcOrd="0" destOrd="0" presId="urn:microsoft.com/office/officeart/2016/7/layout/RepeatingBendingProcessNew"/>
    <dgm:cxn modelId="{4ABAF240-B401-483F-B07B-B737F5B95E85}" type="presOf" srcId="{9413084C-9833-409E-941E-E8894017C3A0}" destId="{CE2766F9-935A-4019-9EE6-54EAF5E2151B}" srcOrd="1" destOrd="0" presId="urn:microsoft.com/office/officeart/2016/7/layout/RepeatingBendingProcessNew"/>
    <dgm:cxn modelId="{09B0395F-D967-400D-A94E-A6515B1F9B0D}" type="presOf" srcId="{2548D4DE-AD4C-4E88-82F2-ADB51340783C}" destId="{0607F99C-3FB3-4B0A-9275-546F71B0FF34}" srcOrd="0" destOrd="0" presId="urn:microsoft.com/office/officeart/2016/7/layout/RepeatingBendingProcessNew"/>
    <dgm:cxn modelId="{4663535F-B9E3-4087-8E12-E663D2B0EB0F}" type="presOf" srcId="{F69296EF-0886-4B33-B552-74A03B2890BC}" destId="{CA3D11A1-1431-4357-9E4F-DA9E19E8E170}" srcOrd="1" destOrd="0" presId="urn:microsoft.com/office/officeart/2016/7/layout/RepeatingBendingProcessNew"/>
    <dgm:cxn modelId="{DDDCA45F-AEDB-48E0-8B94-F46747B38EC2}" type="presOf" srcId="{A41E9A65-77BE-4465-AF0F-4068BD556A5B}" destId="{49631040-6F16-4E6F-B774-E10E9F81E16B}" srcOrd="0" destOrd="0" presId="urn:microsoft.com/office/officeart/2016/7/layout/RepeatingBendingProcessNew"/>
    <dgm:cxn modelId="{F401CE5F-2243-4DBB-8355-EC68C0A3965C}" type="presOf" srcId="{1E9F3F0F-5AB2-465E-B271-A21F4FB81A55}" destId="{633DEC27-FE53-47C7-89EE-FCC0C85BECD2}" srcOrd="0" destOrd="0" presId="urn:microsoft.com/office/officeart/2016/7/layout/RepeatingBendingProcessNew"/>
    <dgm:cxn modelId="{CC94FE5F-4058-4BCB-A67E-AADA78C686F2}" type="presOf" srcId="{28F5B62D-24EE-4643-9F86-3D3C46CC97AB}" destId="{AA7F9536-E127-42C1-8209-B3579724B736}" srcOrd="0" destOrd="0" presId="urn:microsoft.com/office/officeart/2016/7/layout/RepeatingBendingProcessNew"/>
    <dgm:cxn modelId="{7282CF41-3521-48DB-A550-1B9D108A4414}" type="presOf" srcId="{9536225F-3B0A-464E-9BFE-6FA8A8A5FE91}" destId="{420C0EB9-784A-48C1-94EA-7DC9A362E15D}" srcOrd="1" destOrd="0" presId="urn:microsoft.com/office/officeart/2016/7/layout/RepeatingBendingProcessNew"/>
    <dgm:cxn modelId="{222ABB62-D77B-4454-9079-43E42C4FD5A6}" type="presOf" srcId="{EC366EB1-8424-4125-A161-D0E1D84F5085}" destId="{3E5515DA-7034-4734-91D9-B959F83464AC}" srcOrd="0" destOrd="0" presId="urn:microsoft.com/office/officeart/2016/7/layout/RepeatingBendingProcessNew"/>
    <dgm:cxn modelId="{3E38F563-F3B3-4537-83CD-5883812AE87B}" type="presOf" srcId="{0A364359-18AE-4E33-82AC-C840BA9E2969}" destId="{C12003C7-2BC9-4BF9-9209-3F3DB8A8EE9B}" srcOrd="0" destOrd="0" presId="urn:microsoft.com/office/officeart/2016/7/layout/RepeatingBendingProcessNew"/>
    <dgm:cxn modelId="{6BAC1265-C64E-42C6-8667-AC2C87CC7CD9}" srcId="{C5A8D30D-C9DF-4D04-8CFB-C7335A842066}" destId="{19796ECA-B766-439E-893F-8DD90674DE40}" srcOrd="21" destOrd="0" parTransId="{6F5A8C25-69EE-4F60-B977-1AD4CCA9E201}" sibTransId="{FEF25F13-BA67-41CC-8F20-E646184E4C2D}"/>
    <dgm:cxn modelId="{4A2BE866-B236-41D2-BEBB-B6501C511397}" srcId="{C5A8D30D-C9DF-4D04-8CFB-C7335A842066}" destId="{33073155-5708-4C8B-B6E2-477DDF7F20AC}" srcOrd="14" destOrd="0" parTransId="{99D35DB6-D988-4BF9-8525-D2DF2D27C0B7}" sibTransId="{5211FFE9-9BD8-4B26-B09E-3F36438CCE63}"/>
    <dgm:cxn modelId="{42112467-E1F6-493D-B5CE-FB9F71B0F8F9}" srcId="{C5A8D30D-C9DF-4D04-8CFB-C7335A842066}" destId="{FE29FDB4-5AFB-4911-8C90-C0B6F2343719}" srcOrd="18" destOrd="0" parTransId="{315AB6FD-94C6-41B1-9021-072BC8D3D27B}" sibTransId="{6CD1EC2D-6153-40EC-802E-8B328C1F073B}"/>
    <dgm:cxn modelId="{E919E46A-B10E-430C-B28E-29DAA6F1719F}" type="presOf" srcId="{5D42F636-76DD-47C1-95CF-C8810F7F69F8}" destId="{3A2C364F-3DBD-4431-ADB1-27266536D412}" srcOrd="1" destOrd="0" presId="urn:microsoft.com/office/officeart/2016/7/layout/RepeatingBendingProcessNew"/>
    <dgm:cxn modelId="{9B6A116B-3409-4D8C-9E34-86C60271C063}" type="presOf" srcId="{19796ECA-B766-439E-893F-8DD90674DE40}" destId="{43DD9A0A-91DC-488C-9106-5C3EE764C2EA}" srcOrd="0" destOrd="0" presId="urn:microsoft.com/office/officeart/2016/7/layout/RepeatingBendingProcessNew"/>
    <dgm:cxn modelId="{BB9B0E6D-9CD1-4414-BC48-E6A822BC1C89}" type="presOf" srcId="{F69296EF-0886-4B33-B552-74A03B2890BC}" destId="{C2C3E9C2-9EA3-493B-AF80-FD89550CABC5}" srcOrd="0" destOrd="0" presId="urn:microsoft.com/office/officeart/2016/7/layout/RepeatingBendingProcessNew"/>
    <dgm:cxn modelId="{86AD916E-066F-4E90-9C33-0247B6AF8C60}" srcId="{C5A8D30D-C9DF-4D04-8CFB-C7335A842066}" destId="{96FC63E8-CDC9-42D9-8EDD-C7F761CC85FE}" srcOrd="0" destOrd="0" parTransId="{9F67214E-8396-4F8F-A82F-5ACFEA0E7949}" sibTransId="{9D720FCB-81D9-40A0-A08A-7E95D26B492E}"/>
    <dgm:cxn modelId="{A472DA50-6A1D-4FF0-BBBB-2E66EF6E8BB4}" type="presOf" srcId="{5211FFE9-9BD8-4B26-B09E-3F36438CCE63}" destId="{27F66AA4-555F-4FD8-A88E-8D1BC495024E}" srcOrd="0" destOrd="0" presId="urn:microsoft.com/office/officeart/2016/7/layout/RepeatingBendingProcessNew"/>
    <dgm:cxn modelId="{09B24F51-03EE-4398-9D11-599EF7F38907}" type="presOf" srcId="{C592255F-76E8-4564-B191-464027583B8D}" destId="{A1E7F2FF-A4A2-4D34-9BB3-764AB24A988C}" srcOrd="0" destOrd="0" presId="urn:microsoft.com/office/officeart/2016/7/layout/RepeatingBendingProcessNew"/>
    <dgm:cxn modelId="{05650872-2B62-487C-8E0E-1CEB0CA87C96}" srcId="{C5A8D30D-C9DF-4D04-8CFB-C7335A842066}" destId="{8F3F53FC-4141-44D0-A86F-DF9B623237F2}" srcOrd="16" destOrd="0" parTransId="{A1AF5A69-02CE-428B-91D4-CB33894594E2}" sibTransId="{8A8E6B92-4563-48AF-8E01-FD91F602C67B}"/>
    <dgm:cxn modelId="{90D8C272-CC34-459E-A9BC-E27F27B18119}" type="presOf" srcId="{A196695A-D4E3-4721-89CD-C3AEE5680CD2}" destId="{F69B7920-DABC-4303-B1C6-130D6CC6992C}" srcOrd="0" destOrd="0" presId="urn:microsoft.com/office/officeart/2016/7/layout/RepeatingBendingProcessNew"/>
    <dgm:cxn modelId="{2F940C54-CE2E-42BB-92A7-52FE7CFB697B}" type="presOf" srcId="{9E03868E-B74C-4947-A180-A1A05DFFBEC0}" destId="{FBB9E483-6844-4431-8183-078C04FFA486}" srcOrd="0" destOrd="0" presId="urn:microsoft.com/office/officeart/2016/7/layout/RepeatingBendingProcessNew"/>
    <dgm:cxn modelId="{67B16774-480C-4FEC-BD03-0EB56C957506}" type="presOf" srcId="{5211FFE9-9BD8-4B26-B09E-3F36438CCE63}" destId="{210F23B6-779D-474D-B98F-13C19C771DF3}" srcOrd="1" destOrd="0" presId="urn:microsoft.com/office/officeart/2016/7/layout/RepeatingBendingProcessNew"/>
    <dgm:cxn modelId="{BBAB0455-93EA-4DCA-869D-277CF4C4C448}" srcId="{C5A8D30D-C9DF-4D04-8CFB-C7335A842066}" destId="{BB24E02F-5A86-43BF-9323-74E184DAE6D4}" srcOrd="1" destOrd="0" parTransId="{4D85A544-FABA-4B38-BF58-EC7F2DF0AA65}" sibTransId="{F69296EF-0886-4B33-B552-74A03B2890BC}"/>
    <dgm:cxn modelId="{91203056-FCA8-4EA6-A433-F43A2019BD9B}" type="presOf" srcId="{AFE3FEC4-5728-4E07-9EF1-E885B8909FA3}" destId="{F91D452F-3B63-4E30-8396-80530E528A1E}" srcOrd="0" destOrd="0" presId="urn:microsoft.com/office/officeart/2016/7/layout/RepeatingBendingProcessNew"/>
    <dgm:cxn modelId="{5B961877-860D-4A7D-AE6D-5FEC3028FEF2}" type="presOf" srcId="{4707B1B3-D97C-44F0-ACDB-819EB876C41C}" destId="{42B423D8-C770-4187-BA7F-EAFD5129DF6C}" srcOrd="0" destOrd="0" presId="urn:microsoft.com/office/officeart/2016/7/layout/RepeatingBendingProcessNew"/>
    <dgm:cxn modelId="{9BF2D877-1837-4C0E-91B2-D297617F9BD3}" type="presOf" srcId="{11BCBC56-01A9-43EE-AB31-BB0D2EDCAB08}" destId="{1FABEC62-31DD-499C-9923-61D1A2257B50}" srcOrd="0" destOrd="0" presId="urn:microsoft.com/office/officeart/2016/7/layout/RepeatingBendingProcessNew"/>
    <dgm:cxn modelId="{84336D78-FC88-4DDB-9C97-9FFA8E5BBC18}" srcId="{C5A8D30D-C9DF-4D04-8CFB-C7335A842066}" destId="{28F5B62D-24EE-4643-9F86-3D3C46CC97AB}" srcOrd="6" destOrd="0" parTransId="{4A258BA4-218C-4F5C-B7C7-E7F8300B019C}" sibTransId="{2AEF31E7-7FDC-454B-ADE3-69AB717537FB}"/>
    <dgm:cxn modelId="{4AB91D7E-84F5-42B6-9200-2C5F8B866EA2}" srcId="{C5A8D30D-C9DF-4D04-8CFB-C7335A842066}" destId="{7EE64687-4A89-455D-8E20-A485DB44C0FC}" srcOrd="2" destOrd="0" parTransId="{46685519-F295-458B-BD70-5A28AB5018F7}" sibTransId="{7A212F17-F0C8-426E-BE4D-C5E5E5BC11E2}"/>
    <dgm:cxn modelId="{825D9C7E-ABC2-4903-B6E8-9A49D3F191B8}" type="presOf" srcId="{FB6E696A-A86E-469D-A817-D9CEB588EF22}" destId="{95C617B7-0860-4A99-85DE-65EE7AED0035}" srcOrd="1" destOrd="0" presId="urn:microsoft.com/office/officeart/2016/7/layout/RepeatingBendingProcessNew"/>
    <dgm:cxn modelId="{CE13DD7E-D0A5-4D62-A899-B1C9BBB8E97B}" type="presOf" srcId="{8F3F53FC-4141-44D0-A86F-DF9B623237F2}" destId="{47BB2FF5-CC29-466F-8782-E38FC9FF4373}" srcOrd="0" destOrd="0" presId="urn:microsoft.com/office/officeart/2016/7/layout/RepeatingBendingProcessNew"/>
    <dgm:cxn modelId="{6C003C7F-A45E-4DA7-B832-89DB6677A2B0}" type="presOf" srcId="{1E9F3F0F-5AB2-465E-B271-A21F4FB81A55}" destId="{4AEFE894-E256-4DB8-B8C4-3237B6D1CB6B}" srcOrd="1" destOrd="0" presId="urn:microsoft.com/office/officeart/2016/7/layout/RepeatingBendingProcessNew"/>
    <dgm:cxn modelId="{51BEF980-8CA5-4BEA-B781-80EF65DF655A}" type="presOf" srcId="{6CD1EC2D-6153-40EC-802E-8B328C1F073B}" destId="{25836B0B-6925-48DF-BFFB-D68A4AAEC085}" srcOrd="1" destOrd="0" presId="urn:microsoft.com/office/officeart/2016/7/layout/RepeatingBendingProcessNew"/>
    <dgm:cxn modelId="{90E7DD82-0675-43AD-A2C7-B0F3CF763038}" type="presOf" srcId="{5D42F636-76DD-47C1-95CF-C8810F7F69F8}" destId="{87A39965-55FA-4514-9B1E-F0CC68995BD3}" srcOrd="0" destOrd="0" presId="urn:microsoft.com/office/officeart/2016/7/layout/RepeatingBendingProcessNew"/>
    <dgm:cxn modelId="{53681F8B-260A-4762-8A81-35D84488F1E6}" type="presOf" srcId="{C8B6B893-46C2-438B-B2A4-F56C03A3EDFB}" destId="{AC97FD6F-15EC-4272-9EFE-09FC1AC0FF11}" srcOrd="0" destOrd="0" presId="urn:microsoft.com/office/officeart/2016/7/layout/RepeatingBendingProcessNew"/>
    <dgm:cxn modelId="{0AF45E8B-258A-42F5-B793-F7A1E67657EA}" type="presOf" srcId="{9D720FCB-81D9-40A0-A08A-7E95D26B492E}" destId="{2A99DBBF-9F40-4D5E-9932-7843302D9AC7}" srcOrd="1" destOrd="0" presId="urn:microsoft.com/office/officeart/2016/7/layout/RepeatingBendingProcessNew"/>
    <dgm:cxn modelId="{80052392-B056-46F6-BAC4-34D48E8A60A4}" type="presOf" srcId="{12F107F3-2CC3-44CA-BC09-985DC9458CE7}" destId="{914EBEDE-2BE7-4DCA-A0AE-DE67382D80AB}" srcOrd="1" destOrd="0" presId="urn:microsoft.com/office/officeart/2016/7/layout/RepeatingBendingProcessNew"/>
    <dgm:cxn modelId="{7FE22293-E41C-496A-AA14-5EC2C6FEA46D}" srcId="{C5A8D30D-C9DF-4D04-8CFB-C7335A842066}" destId="{AFE3FEC4-5728-4E07-9EF1-E885B8909FA3}" srcOrd="19" destOrd="0" parTransId="{F164161B-97E9-4D84-9B98-0B5E5DF42C1E}" sibTransId="{811EB5DD-8955-449E-A0C6-7AD49381F891}"/>
    <dgm:cxn modelId="{E54F7195-B0A0-4888-9244-780C396B6749}" type="presOf" srcId="{FB6E696A-A86E-469D-A817-D9CEB588EF22}" destId="{7470DDA8-4C7E-45ED-9AF9-D3FE9BF96D61}" srcOrd="0" destOrd="0" presId="urn:microsoft.com/office/officeart/2016/7/layout/RepeatingBendingProcessNew"/>
    <dgm:cxn modelId="{861B9895-F94E-4BCA-B946-13FF770F9D44}" type="presOf" srcId="{FE29FDB4-5AFB-4911-8C90-C0B6F2343719}" destId="{93F8DC2A-22B9-48D3-856D-D363B727EB63}" srcOrd="0" destOrd="0" presId="urn:microsoft.com/office/officeart/2016/7/layout/RepeatingBendingProcessNew"/>
    <dgm:cxn modelId="{E38C2799-7F1D-45A1-958B-2901FC8F87C8}" type="presOf" srcId="{7EE64687-4A89-455D-8E20-A485DB44C0FC}" destId="{B5C8E9FC-D7B6-4164-A6FB-89FB38C08F67}" srcOrd="0" destOrd="0" presId="urn:microsoft.com/office/officeart/2016/7/layout/RepeatingBendingProcessNew"/>
    <dgm:cxn modelId="{528BBB9D-B5B4-468E-9DAB-BE57FCB05905}" srcId="{C5A8D30D-C9DF-4D04-8CFB-C7335A842066}" destId="{9E03868E-B74C-4947-A180-A1A05DFFBEC0}" srcOrd="11" destOrd="0" parTransId="{9EB3F53E-4F51-4527-96DC-EDB4801A7901}" sibTransId="{7493A2EB-0A34-455F-ABA0-48D6E5FE446B}"/>
    <dgm:cxn modelId="{7AB645A2-BD80-45DE-9D9A-5A0C6D997481}" type="presOf" srcId="{B265CF60-27D9-4679-89BC-1395D477120E}" destId="{1FF88093-A6E6-40CA-BD0D-9644218C26E6}" srcOrd="0" destOrd="0" presId="urn:microsoft.com/office/officeart/2016/7/layout/RepeatingBendingProcessNew"/>
    <dgm:cxn modelId="{AF7A4FA4-958C-44CF-8CE9-986F9D5372D9}" type="presOf" srcId="{FB630D34-1F98-47E7-802C-F0AAF3D5B3DB}" destId="{010F694A-FF1E-4303-9C8F-07C841751410}" srcOrd="0" destOrd="0" presId="urn:microsoft.com/office/officeart/2016/7/layout/RepeatingBendingProcessNew"/>
    <dgm:cxn modelId="{826655A8-181F-4A64-9E9B-7D3AD1FC64D5}" type="presOf" srcId="{96FC63E8-CDC9-42D9-8EDD-C7F761CC85FE}" destId="{0AECF900-881F-4F8F-9346-1ECA24FF83C4}" srcOrd="0" destOrd="0" presId="urn:microsoft.com/office/officeart/2016/7/layout/RepeatingBendingProcessNew"/>
    <dgm:cxn modelId="{CED6DCAE-23E2-49B0-A64F-4521F8E86E7C}" srcId="{C5A8D30D-C9DF-4D04-8CFB-C7335A842066}" destId="{0A364359-18AE-4E33-82AC-C840BA9E2969}" srcOrd="15" destOrd="0" parTransId="{3CA90EF1-E65D-4085-AB9D-5284F2EEDD14}" sibTransId="{0C0C608B-A4D6-49A6-95F4-701E2861C987}"/>
    <dgm:cxn modelId="{9E467FB8-3256-44E1-9F84-43E34C4B925D}" type="presOf" srcId="{12F107F3-2CC3-44CA-BC09-985DC9458CE7}" destId="{7E853F9A-6763-47AE-9D8A-5D16310B080B}" srcOrd="0" destOrd="0" presId="urn:microsoft.com/office/officeart/2016/7/layout/RepeatingBendingProcessNew"/>
    <dgm:cxn modelId="{DE406EB9-8453-4455-A8E1-3B2E4372C337}" srcId="{C5A8D30D-C9DF-4D04-8CFB-C7335A842066}" destId="{58A0E4E5-39A8-4CA8-9627-C9B1BD354429}" srcOrd="17" destOrd="0" parTransId="{7348E644-3C9C-4BA4-AC77-B282F48ED5CB}" sibTransId="{9536225F-3B0A-464E-9BFE-6FA8A8A5FE91}"/>
    <dgm:cxn modelId="{D49352BC-605D-43AF-AD42-0339CDFB345F}" srcId="{C5A8D30D-C9DF-4D04-8CFB-C7335A842066}" destId="{D133676E-08F7-4664-93FE-31579850353D}" srcOrd="3" destOrd="0" parTransId="{CDCD74F1-3334-4311-89A4-B0CA79DD0767}" sibTransId="{9413084C-9833-409E-941E-E8894017C3A0}"/>
    <dgm:cxn modelId="{295F86BD-C800-440D-8EE3-F1C2CFCCDA73}" type="presOf" srcId="{82084CA9-ADED-4AD0-9527-F202A0073652}" destId="{E725AB1D-58C3-460F-B76E-A4EF5861AD9A}" srcOrd="0" destOrd="0" presId="urn:microsoft.com/office/officeart/2016/7/layout/RepeatingBendingProcessNew"/>
    <dgm:cxn modelId="{3E30A0BE-1539-4595-9484-0BDFCDFFDACF}" type="presOf" srcId="{7493A2EB-0A34-455F-ABA0-48D6E5FE446B}" destId="{A810799B-DFD0-41D8-B528-8859C18BF8B7}" srcOrd="0" destOrd="0" presId="urn:microsoft.com/office/officeart/2016/7/layout/RepeatingBendingProcessNew"/>
    <dgm:cxn modelId="{4477E6C1-15DA-40B7-87FD-9FD32BBFA500}" type="presOf" srcId="{EC366EB1-8424-4125-A161-D0E1D84F5085}" destId="{BEDFAC34-0198-4232-B9B5-6C09FB3A1660}" srcOrd="1" destOrd="0" presId="urn:microsoft.com/office/officeart/2016/7/layout/RepeatingBendingProcessNew"/>
    <dgm:cxn modelId="{9E275AC4-E9E5-4A9A-96D1-A6601A0B5771}" type="presOf" srcId="{BB24E02F-5A86-43BF-9323-74E184DAE6D4}" destId="{BD8AA13F-605E-4964-883A-33EC99E64223}" srcOrd="0" destOrd="0" presId="urn:microsoft.com/office/officeart/2016/7/layout/RepeatingBendingProcessNew"/>
    <dgm:cxn modelId="{0B8183C5-267B-46A1-A8A4-0032AA13050E}" type="presOf" srcId="{8A8E6B92-4563-48AF-8E01-FD91F602C67B}" destId="{667101FD-FDCE-4B8A-98B8-BDC7E12A00C6}" srcOrd="0" destOrd="0" presId="urn:microsoft.com/office/officeart/2016/7/layout/RepeatingBendingProcessNew"/>
    <dgm:cxn modelId="{D70A3CCE-95BF-4DFC-9F6E-B9F6FDB80D0B}" type="presOf" srcId="{7A212F17-F0C8-426E-BE4D-C5E5E5BC11E2}" destId="{7614EFB8-FE43-498A-88FC-68C0F64FFD44}" srcOrd="0" destOrd="0" presId="urn:microsoft.com/office/officeart/2016/7/layout/RepeatingBendingProcessNew"/>
    <dgm:cxn modelId="{78B3C4D0-C4EB-4E24-B28B-1174ADF626D0}" srcId="{C5A8D30D-C9DF-4D04-8CFB-C7335A842066}" destId="{11BCBC56-01A9-43EE-AB31-BB0D2EDCAB08}" srcOrd="20" destOrd="0" parTransId="{1D92436B-ABE3-4EB6-8666-3250DC9B83A2}" sibTransId="{12F107F3-2CC3-44CA-BC09-985DC9458CE7}"/>
    <dgm:cxn modelId="{31A24DD4-ABC6-4B97-A240-05105F96DDB8}" type="presOf" srcId="{2AEF31E7-7FDC-454B-ADE3-69AB717537FB}" destId="{9C7E9022-489B-441C-9C97-43B78A645FBE}" srcOrd="0" destOrd="0" presId="urn:microsoft.com/office/officeart/2016/7/layout/RepeatingBendingProcessNew"/>
    <dgm:cxn modelId="{64AABAD4-C3B7-4929-BBB3-8D9C6E947E67}" type="presOf" srcId="{811EB5DD-8955-449E-A0C6-7AD49381F891}" destId="{6D022F92-CD03-4F4F-93CE-0BB858AA93A7}" srcOrd="1" destOrd="0" presId="urn:microsoft.com/office/officeart/2016/7/layout/RepeatingBendingProcessNew"/>
    <dgm:cxn modelId="{C66426E0-2E9C-46CC-B42F-04B4B846EA23}" type="presOf" srcId="{9536225F-3B0A-464E-9BFE-6FA8A8A5FE91}" destId="{D2DE3D15-7877-414A-B13E-5B06ED5D9E12}" srcOrd="0" destOrd="0" presId="urn:microsoft.com/office/officeart/2016/7/layout/RepeatingBendingProcessNew"/>
    <dgm:cxn modelId="{F920BAE1-2801-476D-9B21-37B0584B0E4A}" srcId="{C5A8D30D-C9DF-4D04-8CFB-C7335A842066}" destId="{B265CF60-27D9-4679-89BC-1395D477120E}" srcOrd="4" destOrd="0" parTransId="{4E37318B-CDAD-4E88-A61B-853850B7D970}" sibTransId="{C8B6B893-46C2-438B-B2A4-F56C03A3EDFB}"/>
    <dgm:cxn modelId="{E399D3E1-9B5B-4E49-8820-E6C1C7AF7F7C}" type="presOf" srcId="{D133676E-08F7-4664-93FE-31579850353D}" destId="{8B0CFF13-7BE4-46C8-85C7-516070E38050}" srcOrd="0" destOrd="0" presId="urn:microsoft.com/office/officeart/2016/7/layout/RepeatingBendingProcessNew"/>
    <dgm:cxn modelId="{A2BF7AE4-5413-4542-B43C-1BC7C96C3868}" type="presOf" srcId="{C8B6B893-46C2-438B-B2A4-F56C03A3EDFB}" destId="{78C6A834-5DD9-4E60-BFB2-F07E6642ABD4}" srcOrd="1" destOrd="0" presId="urn:microsoft.com/office/officeart/2016/7/layout/RepeatingBendingProcessNew"/>
    <dgm:cxn modelId="{60DCCBE4-28D5-4C95-AEFB-9B7EC9531448}" srcId="{C5A8D30D-C9DF-4D04-8CFB-C7335A842066}" destId="{01C9CA21-77DA-43DC-AFE6-FE94D7454FD2}" srcOrd="7" destOrd="0" parTransId="{328DEF8C-32C2-41A6-974E-9BCE742DB175}" sibTransId="{5D42F636-76DD-47C1-95CF-C8810F7F69F8}"/>
    <dgm:cxn modelId="{F526FDEA-8618-47C8-BC2B-373066BFAEA6}" type="presOf" srcId="{FB630D34-1F98-47E7-802C-F0AAF3D5B3DB}" destId="{0458C18B-8497-4E5B-BED9-85980F820568}" srcOrd="1" destOrd="0" presId="urn:microsoft.com/office/officeart/2016/7/layout/RepeatingBendingProcessNew"/>
    <dgm:cxn modelId="{10945AED-8432-44D5-B6CD-A2B9C227D8B5}" type="presOf" srcId="{C592255F-76E8-4564-B191-464027583B8D}" destId="{4446B9AA-8C6F-49D0-977D-64E40ABF09F2}" srcOrd="1" destOrd="0" presId="urn:microsoft.com/office/officeart/2016/7/layout/RepeatingBendingProcessNew"/>
    <dgm:cxn modelId="{D34C1BF3-0225-4607-B9A4-674EE4A55BE5}" srcId="{C5A8D30D-C9DF-4D04-8CFB-C7335A842066}" destId="{4707B1B3-D97C-44F0-ACDB-819EB876C41C}" srcOrd="13" destOrd="0" parTransId="{C45D7450-70BB-43E1-B2FC-DDB8FE77ED4F}" sibTransId="{82084CA9-ADED-4AD0-9527-F202A0073652}"/>
    <dgm:cxn modelId="{E97171FD-A9EB-4D75-AC1A-0B0AB7E6D185}" type="presOf" srcId="{811EB5DD-8955-449E-A0C6-7AD49381F891}" destId="{1C2C0B37-80A0-4C9E-9FF0-3456B777D86A}" srcOrd="0" destOrd="0" presId="urn:microsoft.com/office/officeart/2016/7/layout/RepeatingBendingProcessNew"/>
    <dgm:cxn modelId="{72FF730B-BF85-46CF-8006-B9053A66B0D0}" type="presParOf" srcId="{D0D35C46-FB00-4D31-98C7-9C3811954646}" destId="{0AECF900-881F-4F8F-9346-1ECA24FF83C4}" srcOrd="0" destOrd="0" presId="urn:microsoft.com/office/officeart/2016/7/layout/RepeatingBendingProcessNew"/>
    <dgm:cxn modelId="{C581C27F-72E7-4696-AF9A-ADA3242E50F2}" type="presParOf" srcId="{D0D35C46-FB00-4D31-98C7-9C3811954646}" destId="{8369953E-5F4C-4E43-A865-F999B168860C}" srcOrd="1" destOrd="0" presId="urn:microsoft.com/office/officeart/2016/7/layout/RepeatingBendingProcessNew"/>
    <dgm:cxn modelId="{F0175366-0336-45DB-ACAC-FBB04C412B2E}" type="presParOf" srcId="{8369953E-5F4C-4E43-A865-F999B168860C}" destId="{2A99DBBF-9F40-4D5E-9932-7843302D9AC7}" srcOrd="0" destOrd="0" presId="urn:microsoft.com/office/officeart/2016/7/layout/RepeatingBendingProcessNew"/>
    <dgm:cxn modelId="{7BEEA545-B5D5-4A1F-B355-B3686017DD8D}" type="presParOf" srcId="{D0D35C46-FB00-4D31-98C7-9C3811954646}" destId="{BD8AA13F-605E-4964-883A-33EC99E64223}" srcOrd="2" destOrd="0" presId="urn:microsoft.com/office/officeart/2016/7/layout/RepeatingBendingProcessNew"/>
    <dgm:cxn modelId="{4996C737-E774-497A-863E-EC91DF7FFC28}" type="presParOf" srcId="{D0D35C46-FB00-4D31-98C7-9C3811954646}" destId="{C2C3E9C2-9EA3-493B-AF80-FD89550CABC5}" srcOrd="3" destOrd="0" presId="urn:microsoft.com/office/officeart/2016/7/layout/RepeatingBendingProcessNew"/>
    <dgm:cxn modelId="{0351D036-BD7D-4F99-A89B-681AFF79A13F}" type="presParOf" srcId="{C2C3E9C2-9EA3-493B-AF80-FD89550CABC5}" destId="{CA3D11A1-1431-4357-9E4F-DA9E19E8E170}" srcOrd="0" destOrd="0" presId="urn:microsoft.com/office/officeart/2016/7/layout/RepeatingBendingProcessNew"/>
    <dgm:cxn modelId="{EF4D26D1-3429-4533-A3A7-2716863FA46A}" type="presParOf" srcId="{D0D35C46-FB00-4D31-98C7-9C3811954646}" destId="{B5C8E9FC-D7B6-4164-A6FB-89FB38C08F67}" srcOrd="4" destOrd="0" presId="urn:microsoft.com/office/officeart/2016/7/layout/RepeatingBendingProcessNew"/>
    <dgm:cxn modelId="{DF10D450-3A0F-41B9-BF3C-C685211A4028}" type="presParOf" srcId="{D0D35C46-FB00-4D31-98C7-9C3811954646}" destId="{7614EFB8-FE43-498A-88FC-68C0F64FFD44}" srcOrd="5" destOrd="0" presId="urn:microsoft.com/office/officeart/2016/7/layout/RepeatingBendingProcessNew"/>
    <dgm:cxn modelId="{5DC1372B-5257-4E6A-A7B4-24CA210F96E8}" type="presParOf" srcId="{7614EFB8-FE43-498A-88FC-68C0F64FFD44}" destId="{D83734E6-9C47-40C7-A9D9-DAC440783A8C}" srcOrd="0" destOrd="0" presId="urn:microsoft.com/office/officeart/2016/7/layout/RepeatingBendingProcessNew"/>
    <dgm:cxn modelId="{44CE9282-B5F4-46F6-9299-688898255AB7}" type="presParOf" srcId="{D0D35C46-FB00-4D31-98C7-9C3811954646}" destId="{8B0CFF13-7BE4-46C8-85C7-516070E38050}" srcOrd="6" destOrd="0" presId="urn:microsoft.com/office/officeart/2016/7/layout/RepeatingBendingProcessNew"/>
    <dgm:cxn modelId="{E9354B30-A958-443D-8E3B-05768A5FC54F}" type="presParOf" srcId="{D0D35C46-FB00-4D31-98C7-9C3811954646}" destId="{A75B3C55-F074-48D0-9069-4072262F189F}" srcOrd="7" destOrd="0" presId="urn:microsoft.com/office/officeart/2016/7/layout/RepeatingBendingProcessNew"/>
    <dgm:cxn modelId="{23ECF362-64C1-4929-B792-2E590FF6ED3E}" type="presParOf" srcId="{A75B3C55-F074-48D0-9069-4072262F189F}" destId="{CE2766F9-935A-4019-9EE6-54EAF5E2151B}" srcOrd="0" destOrd="0" presId="urn:microsoft.com/office/officeart/2016/7/layout/RepeatingBendingProcessNew"/>
    <dgm:cxn modelId="{8BCF04D4-30B8-494B-A47E-F826FC3F1383}" type="presParOf" srcId="{D0D35C46-FB00-4D31-98C7-9C3811954646}" destId="{1FF88093-A6E6-40CA-BD0D-9644218C26E6}" srcOrd="8" destOrd="0" presId="urn:microsoft.com/office/officeart/2016/7/layout/RepeatingBendingProcessNew"/>
    <dgm:cxn modelId="{1B28C7D2-ECCC-42F2-93F9-A37BEFA4058B}" type="presParOf" srcId="{D0D35C46-FB00-4D31-98C7-9C3811954646}" destId="{AC97FD6F-15EC-4272-9EFE-09FC1AC0FF11}" srcOrd="9" destOrd="0" presId="urn:microsoft.com/office/officeart/2016/7/layout/RepeatingBendingProcessNew"/>
    <dgm:cxn modelId="{979EADB4-64BB-4F25-B987-C971CFE473B0}" type="presParOf" srcId="{AC97FD6F-15EC-4272-9EFE-09FC1AC0FF11}" destId="{78C6A834-5DD9-4E60-BFB2-F07E6642ABD4}" srcOrd="0" destOrd="0" presId="urn:microsoft.com/office/officeart/2016/7/layout/RepeatingBendingProcessNew"/>
    <dgm:cxn modelId="{1B191738-7E2A-42A1-BA36-3E32DC2B1FF9}" type="presParOf" srcId="{D0D35C46-FB00-4D31-98C7-9C3811954646}" destId="{49631040-6F16-4E6F-B774-E10E9F81E16B}" srcOrd="10" destOrd="0" presId="urn:microsoft.com/office/officeart/2016/7/layout/RepeatingBendingProcessNew"/>
    <dgm:cxn modelId="{C226A49D-F49E-4B76-957E-99C8C482A245}" type="presParOf" srcId="{D0D35C46-FB00-4D31-98C7-9C3811954646}" destId="{A1E7F2FF-A4A2-4D34-9BB3-764AB24A988C}" srcOrd="11" destOrd="0" presId="urn:microsoft.com/office/officeart/2016/7/layout/RepeatingBendingProcessNew"/>
    <dgm:cxn modelId="{7EA9C92C-1774-43E7-A075-C15F957C9DA2}" type="presParOf" srcId="{A1E7F2FF-A4A2-4D34-9BB3-764AB24A988C}" destId="{4446B9AA-8C6F-49D0-977D-64E40ABF09F2}" srcOrd="0" destOrd="0" presId="urn:microsoft.com/office/officeart/2016/7/layout/RepeatingBendingProcessNew"/>
    <dgm:cxn modelId="{B43646B2-E253-4A11-8E84-C98EE94C33EF}" type="presParOf" srcId="{D0D35C46-FB00-4D31-98C7-9C3811954646}" destId="{AA7F9536-E127-42C1-8209-B3579724B736}" srcOrd="12" destOrd="0" presId="urn:microsoft.com/office/officeart/2016/7/layout/RepeatingBendingProcessNew"/>
    <dgm:cxn modelId="{3231A679-C82F-4D6D-A094-BE7FA0B1459F}" type="presParOf" srcId="{D0D35C46-FB00-4D31-98C7-9C3811954646}" destId="{9C7E9022-489B-441C-9C97-43B78A645FBE}" srcOrd="13" destOrd="0" presId="urn:microsoft.com/office/officeart/2016/7/layout/RepeatingBendingProcessNew"/>
    <dgm:cxn modelId="{6C2D83CD-2802-4651-83B4-4CE9CEF00DFC}" type="presParOf" srcId="{9C7E9022-489B-441C-9C97-43B78A645FBE}" destId="{887D85F5-F5F4-4FF7-AAF4-E674F0119EC4}" srcOrd="0" destOrd="0" presId="urn:microsoft.com/office/officeart/2016/7/layout/RepeatingBendingProcessNew"/>
    <dgm:cxn modelId="{F321D5AC-6592-4C19-AAA3-44268A485800}" type="presParOf" srcId="{D0D35C46-FB00-4D31-98C7-9C3811954646}" destId="{6A581C8C-ED31-4D3C-B56A-1D5676F42EF5}" srcOrd="14" destOrd="0" presId="urn:microsoft.com/office/officeart/2016/7/layout/RepeatingBendingProcessNew"/>
    <dgm:cxn modelId="{B432916B-9575-4A25-94AD-82C7070B0DCA}" type="presParOf" srcId="{D0D35C46-FB00-4D31-98C7-9C3811954646}" destId="{87A39965-55FA-4514-9B1E-F0CC68995BD3}" srcOrd="15" destOrd="0" presId="urn:microsoft.com/office/officeart/2016/7/layout/RepeatingBendingProcessNew"/>
    <dgm:cxn modelId="{581094BD-2185-48CD-B179-2DE567E22C4C}" type="presParOf" srcId="{87A39965-55FA-4514-9B1E-F0CC68995BD3}" destId="{3A2C364F-3DBD-4431-ADB1-27266536D412}" srcOrd="0" destOrd="0" presId="urn:microsoft.com/office/officeart/2016/7/layout/RepeatingBendingProcessNew"/>
    <dgm:cxn modelId="{404103E3-63E8-4BA3-8624-6D18FEBCE4AD}" type="presParOf" srcId="{D0D35C46-FB00-4D31-98C7-9C3811954646}" destId="{275CAA5C-06BB-4482-8B60-5BDF5459E3C1}" srcOrd="16" destOrd="0" presId="urn:microsoft.com/office/officeart/2016/7/layout/RepeatingBendingProcessNew"/>
    <dgm:cxn modelId="{BA1A4450-6B93-441F-887C-4A41D91EEA6E}" type="presParOf" srcId="{D0D35C46-FB00-4D31-98C7-9C3811954646}" destId="{633DEC27-FE53-47C7-89EE-FCC0C85BECD2}" srcOrd="17" destOrd="0" presId="urn:microsoft.com/office/officeart/2016/7/layout/RepeatingBendingProcessNew"/>
    <dgm:cxn modelId="{6AF8C14A-58D8-470C-AC8B-843FF8BFB65E}" type="presParOf" srcId="{633DEC27-FE53-47C7-89EE-FCC0C85BECD2}" destId="{4AEFE894-E256-4DB8-B8C4-3237B6D1CB6B}" srcOrd="0" destOrd="0" presId="urn:microsoft.com/office/officeart/2016/7/layout/RepeatingBendingProcessNew"/>
    <dgm:cxn modelId="{B234E32B-A959-4A4C-9305-1ECDA054C9B0}" type="presParOf" srcId="{D0D35C46-FB00-4D31-98C7-9C3811954646}" destId="{F69B7920-DABC-4303-B1C6-130D6CC6992C}" srcOrd="18" destOrd="0" presId="urn:microsoft.com/office/officeart/2016/7/layout/RepeatingBendingProcessNew"/>
    <dgm:cxn modelId="{906DFDA1-6E7D-4F3F-848B-D782A7E99AEF}" type="presParOf" srcId="{D0D35C46-FB00-4D31-98C7-9C3811954646}" destId="{3E5515DA-7034-4734-91D9-B959F83464AC}" srcOrd="19" destOrd="0" presId="urn:microsoft.com/office/officeart/2016/7/layout/RepeatingBendingProcessNew"/>
    <dgm:cxn modelId="{E83AFD6D-6D5D-4E25-B75A-C6A57BDF464F}" type="presParOf" srcId="{3E5515DA-7034-4734-91D9-B959F83464AC}" destId="{BEDFAC34-0198-4232-B9B5-6C09FB3A1660}" srcOrd="0" destOrd="0" presId="urn:microsoft.com/office/officeart/2016/7/layout/RepeatingBendingProcessNew"/>
    <dgm:cxn modelId="{FC23AF08-F44C-4917-A625-D298FAFDBA2F}" type="presParOf" srcId="{D0D35C46-FB00-4D31-98C7-9C3811954646}" destId="{0607F99C-3FB3-4B0A-9275-546F71B0FF34}" srcOrd="20" destOrd="0" presId="urn:microsoft.com/office/officeart/2016/7/layout/RepeatingBendingProcessNew"/>
    <dgm:cxn modelId="{0401BDFD-8F09-4287-B614-75CCE081A1B4}" type="presParOf" srcId="{D0D35C46-FB00-4D31-98C7-9C3811954646}" destId="{010F694A-FF1E-4303-9C8F-07C841751410}" srcOrd="21" destOrd="0" presId="urn:microsoft.com/office/officeart/2016/7/layout/RepeatingBendingProcessNew"/>
    <dgm:cxn modelId="{2371F37F-5199-4D4F-94A7-66F61C18D17C}" type="presParOf" srcId="{010F694A-FF1E-4303-9C8F-07C841751410}" destId="{0458C18B-8497-4E5B-BED9-85980F820568}" srcOrd="0" destOrd="0" presId="urn:microsoft.com/office/officeart/2016/7/layout/RepeatingBendingProcessNew"/>
    <dgm:cxn modelId="{CE95E968-F615-480A-9663-4E36784A0B71}" type="presParOf" srcId="{D0D35C46-FB00-4D31-98C7-9C3811954646}" destId="{FBB9E483-6844-4431-8183-078C04FFA486}" srcOrd="22" destOrd="0" presId="urn:microsoft.com/office/officeart/2016/7/layout/RepeatingBendingProcessNew"/>
    <dgm:cxn modelId="{A43BFA67-27FE-43CD-B176-C0ADE93EF924}" type="presParOf" srcId="{D0D35C46-FB00-4D31-98C7-9C3811954646}" destId="{A810799B-DFD0-41D8-B528-8859C18BF8B7}" srcOrd="23" destOrd="0" presId="urn:microsoft.com/office/officeart/2016/7/layout/RepeatingBendingProcessNew"/>
    <dgm:cxn modelId="{6C173E15-9C47-45BF-969A-9E5FD4ADE7DE}" type="presParOf" srcId="{A810799B-DFD0-41D8-B528-8859C18BF8B7}" destId="{A64D6C92-92B0-4C42-A1BF-D84EF1FD72E0}" srcOrd="0" destOrd="0" presId="urn:microsoft.com/office/officeart/2016/7/layout/RepeatingBendingProcessNew"/>
    <dgm:cxn modelId="{3E580394-D100-4BA3-B30C-BC60804E757E}" type="presParOf" srcId="{D0D35C46-FB00-4D31-98C7-9C3811954646}" destId="{BB8604C3-2AB6-471C-8568-A18E83F18653}" srcOrd="24" destOrd="0" presId="urn:microsoft.com/office/officeart/2016/7/layout/RepeatingBendingProcessNew"/>
    <dgm:cxn modelId="{F8E024CA-5CBD-4B77-91E8-D8C1A75D3042}" type="presParOf" srcId="{D0D35C46-FB00-4D31-98C7-9C3811954646}" destId="{7470DDA8-4C7E-45ED-9AF9-D3FE9BF96D61}" srcOrd="25" destOrd="0" presId="urn:microsoft.com/office/officeart/2016/7/layout/RepeatingBendingProcessNew"/>
    <dgm:cxn modelId="{31CE1439-CD31-47A5-948C-7D694EB2A05C}" type="presParOf" srcId="{7470DDA8-4C7E-45ED-9AF9-D3FE9BF96D61}" destId="{95C617B7-0860-4A99-85DE-65EE7AED0035}" srcOrd="0" destOrd="0" presId="urn:microsoft.com/office/officeart/2016/7/layout/RepeatingBendingProcessNew"/>
    <dgm:cxn modelId="{328C8A2A-0B08-4095-858D-95F498C3475E}" type="presParOf" srcId="{D0D35C46-FB00-4D31-98C7-9C3811954646}" destId="{42B423D8-C770-4187-BA7F-EAFD5129DF6C}" srcOrd="26" destOrd="0" presId="urn:microsoft.com/office/officeart/2016/7/layout/RepeatingBendingProcessNew"/>
    <dgm:cxn modelId="{E82DD04B-93EC-4B8F-90BC-7145252DE5E0}" type="presParOf" srcId="{D0D35C46-FB00-4D31-98C7-9C3811954646}" destId="{E725AB1D-58C3-460F-B76E-A4EF5861AD9A}" srcOrd="27" destOrd="0" presId="urn:microsoft.com/office/officeart/2016/7/layout/RepeatingBendingProcessNew"/>
    <dgm:cxn modelId="{D6ACA4C3-F30A-4E40-A996-439261B8980D}" type="presParOf" srcId="{E725AB1D-58C3-460F-B76E-A4EF5861AD9A}" destId="{FECE34AF-80BC-468E-8042-FF05D725A9DB}" srcOrd="0" destOrd="0" presId="urn:microsoft.com/office/officeart/2016/7/layout/RepeatingBendingProcessNew"/>
    <dgm:cxn modelId="{ECC8966A-A3BE-4ACD-B8BB-D6093951D5BE}" type="presParOf" srcId="{D0D35C46-FB00-4D31-98C7-9C3811954646}" destId="{450945B5-71FA-41AC-BCD3-0B4BD2DF23AD}" srcOrd="28" destOrd="0" presId="urn:microsoft.com/office/officeart/2016/7/layout/RepeatingBendingProcessNew"/>
    <dgm:cxn modelId="{2C0F7A0C-A186-4DDB-B81C-42989BA340EA}" type="presParOf" srcId="{D0D35C46-FB00-4D31-98C7-9C3811954646}" destId="{27F66AA4-555F-4FD8-A88E-8D1BC495024E}" srcOrd="29" destOrd="0" presId="urn:microsoft.com/office/officeart/2016/7/layout/RepeatingBendingProcessNew"/>
    <dgm:cxn modelId="{184CB55E-B2D1-40EC-A5FD-71BC8EEB38D7}" type="presParOf" srcId="{27F66AA4-555F-4FD8-A88E-8D1BC495024E}" destId="{210F23B6-779D-474D-B98F-13C19C771DF3}" srcOrd="0" destOrd="0" presId="urn:microsoft.com/office/officeart/2016/7/layout/RepeatingBendingProcessNew"/>
    <dgm:cxn modelId="{AEA1BF25-9F85-4552-86B3-3A05141B5A4B}" type="presParOf" srcId="{D0D35C46-FB00-4D31-98C7-9C3811954646}" destId="{C12003C7-2BC9-4BF9-9209-3F3DB8A8EE9B}" srcOrd="30" destOrd="0" presId="urn:microsoft.com/office/officeart/2016/7/layout/RepeatingBendingProcessNew"/>
    <dgm:cxn modelId="{045DC73E-D63C-40AE-A6DB-E5E396E99CDA}" type="presParOf" srcId="{D0D35C46-FB00-4D31-98C7-9C3811954646}" destId="{F4FB1521-A98E-4CCB-AEA1-CB9647A0FC7E}" srcOrd="31" destOrd="0" presId="urn:microsoft.com/office/officeart/2016/7/layout/RepeatingBendingProcessNew"/>
    <dgm:cxn modelId="{BCC90991-4CAF-47CB-89F7-B1566C754A48}" type="presParOf" srcId="{F4FB1521-A98E-4CCB-AEA1-CB9647A0FC7E}" destId="{EAB15FD3-4A3C-474B-9855-A8900CDB1FEE}" srcOrd="0" destOrd="0" presId="urn:microsoft.com/office/officeart/2016/7/layout/RepeatingBendingProcessNew"/>
    <dgm:cxn modelId="{264380D7-3ED5-4DE7-8665-7AF23210E5CA}" type="presParOf" srcId="{D0D35C46-FB00-4D31-98C7-9C3811954646}" destId="{47BB2FF5-CC29-466F-8782-E38FC9FF4373}" srcOrd="32" destOrd="0" presId="urn:microsoft.com/office/officeart/2016/7/layout/RepeatingBendingProcessNew"/>
    <dgm:cxn modelId="{B1A64212-734A-4088-A9AC-7AFF80425F64}" type="presParOf" srcId="{D0D35C46-FB00-4D31-98C7-9C3811954646}" destId="{667101FD-FDCE-4B8A-98B8-BDC7E12A00C6}" srcOrd="33" destOrd="0" presId="urn:microsoft.com/office/officeart/2016/7/layout/RepeatingBendingProcessNew"/>
    <dgm:cxn modelId="{7CE95D49-BF32-4D3D-A8A7-F7102832882D}" type="presParOf" srcId="{667101FD-FDCE-4B8A-98B8-BDC7E12A00C6}" destId="{4C9BF6D4-7608-45A6-8F22-305C7FB0EDD5}" srcOrd="0" destOrd="0" presId="urn:microsoft.com/office/officeart/2016/7/layout/RepeatingBendingProcessNew"/>
    <dgm:cxn modelId="{92AF6199-00E4-479F-A290-8DC7F6D25246}" type="presParOf" srcId="{D0D35C46-FB00-4D31-98C7-9C3811954646}" destId="{CCFCCD2C-646D-4D91-B19E-8D421A6DEA68}" srcOrd="34" destOrd="0" presId="urn:microsoft.com/office/officeart/2016/7/layout/RepeatingBendingProcessNew"/>
    <dgm:cxn modelId="{CF2EB6B5-2C7F-4CA0-B4C1-12E55907C28C}" type="presParOf" srcId="{D0D35C46-FB00-4D31-98C7-9C3811954646}" destId="{D2DE3D15-7877-414A-B13E-5B06ED5D9E12}" srcOrd="35" destOrd="0" presId="urn:microsoft.com/office/officeart/2016/7/layout/RepeatingBendingProcessNew"/>
    <dgm:cxn modelId="{612A3B5B-7216-4342-874C-906204D58C84}" type="presParOf" srcId="{D2DE3D15-7877-414A-B13E-5B06ED5D9E12}" destId="{420C0EB9-784A-48C1-94EA-7DC9A362E15D}" srcOrd="0" destOrd="0" presId="urn:microsoft.com/office/officeart/2016/7/layout/RepeatingBendingProcessNew"/>
    <dgm:cxn modelId="{AE7C88A5-2D50-4099-931E-FD7EC4BEFBFA}" type="presParOf" srcId="{D0D35C46-FB00-4D31-98C7-9C3811954646}" destId="{93F8DC2A-22B9-48D3-856D-D363B727EB63}" srcOrd="36" destOrd="0" presId="urn:microsoft.com/office/officeart/2016/7/layout/RepeatingBendingProcessNew"/>
    <dgm:cxn modelId="{98572E62-06F4-4739-970D-E16A01DFF8B4}" type="presParOf" srcId="{D0D35C46-FB00-4D31-98C7-9C3811954646}" destId="{EF952478-D1CB-48B9-A53D-75DAEBF7F8A0}" srcOrd="37" destOrd="0" presId="urn:microsoft.com/office/officeart/2016/7/layout/RepeatingBendingProcessNew"/>
    <dgm:cxn modelId="{02EC876E-E6BF-4555-BFEB-B7C5ACE3DBF3}" type="presParOf" srcId="{EF952478-D1CB-48B9-A53D-75DAEBF7F8A0}" destId="{25836B0B-6925-48DF-BFFB-D68A4AAEC085}" srcOrd="0" destOrd="0" presId="urn:microsoft.com/office/officeart/2016/7/layout/RepeatingBendingProcessNew"/>
    <dgm:cxn modelId="{EC49ADEB-56D0-43C7-9D19-E65F53FAC429}" type="presParOf" srcId="{D0D35C46-FB00-4D31-98C7-9C3811954646}" destId="{F91D452F-3B63-4E30-8396-80530E528A1E}" srcOrd="38" destOrd="0" presId="urn:microsoft.com/office/officeart/2016/7/layout/RepeatingBendingProcessNew"/>
    <dgm:cxn modelId="{70D73F56-6721-4DDC-A17A-447C9127ABC1}" type="presParOf" srcId="{D0D35C46-FB00-4D31-98C7-9C3811954646}" destId="{1C2C0B37-80A0-4C9E-9FF0-3456B777D86A}" srcOrd="39" destOrd="0" presId="urn:microsoft.com/office/officeart/2016/7/layout/RepeatingBendingProcessNew"/>
    <dgm:cxn modelId="{2DE61604-F910-4F5F-815A-4DA36C8E0D92}" type="presParOf" srcId="{1C2C0B37-80A0-4C9E-9FF0-3456B777D86A}" destId="{6D022F92-CD03-4F4F-93CE-0BB858AA93A7}" srcOrd="0" destOrd="0" presId="urn:microsoft.com/office/officeart/2016/7/layout/RepeatingBendingProcessNew"/>
    <dgm:cxn modelId="{07F5EA91-0323-4285-A1BF-5E45025D84DF}" type="presParOf" srcId="{D0D35C46-FB00-4D31-98C7-9C3811954646}" destId="{1FABEC62-31DD-499C-9923-61D1A2257B50}" srcOrd="40" destOrd="0" presId="urn:microsoft.com/office/officeart/2016/7/layout/RepeatingBendingProcessNew"/>
    <dgm:cxn modelId="{4521F0EF-951E-48C6-945B-2DEA514F48A1}" type="presParOf" srcId="{D0D35C46-FB00-4D31-98C7-9C3811954646}" destId="{7E853F9A-6763-47AE-9D8A-5D16310B080B}" srcOrd="41" destOrd="0" presId="urn:microsoft.com/office/officeart/2016/7/layout/RepeatingBendingProcessNew"/>
    <dgm:cxn modelId="{FB6314DC-1166-42FD-A872-69D6FE86A8D4}" type="presParOf" srcId="{7E853F9A-6763-47AE-9D8A-5D16310B080B}" destId="{914EBEDE-2BE7-4DCA-A0AE-DE67382D80AB}" srcOrd="0" destOrd="0" presId="urn:microsoft.com/office/officeart/2016/7/layout/RepeatingBendingProcessNew"/>
    <dgm:cxn modelId="{24768194-9A0C-4083-AB28-2E7518A07D64}" type="presParOf" srcId="{D0D35C46-FB00-4D31-98C7-9C3811954646}" destId="{43DD9A0A-91DC-488C-9106-5C3EE764C2EA}" srcOrd="4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212569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417971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417971" y="2588467"/>
        <a:ext cx="2889450" cy="855000"/>
      </dsp:txXfrm>
    </dsp:sp>
    <dsp:sp modelId="{76D98688-242E-4601-92F7-014494BED513}">
      <dsp:nvSpPr>
        <dsp:cNvPr id="0" name=""/>
        <dsp:cNvSpPr/>
      </dsp:nvSpPr>
      <dsp:spPr>
        <a:xfrm>
          <a:off x="4607673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813075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813075" y="2588467"/>
        <a:ext cx="2889450" cy="855000"/>
      </dsp:txXfrm>
    </dsp:sp>
    <dsp:sp modelId="{91FC0951-73EA-4668-B2BE-91930015E203}">
      <dsp:nvSpPr>
        <dsp:cNvPr id="0" name=""/>
        <dsp:cNvSpPr/>
      </dsp:nvSpPr>
      <dsp:spPr>
        <a:xfrm>
          <a:off x="8002777" y="907870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7208178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hlinkClick xmlns:r="http://schemas.openxmlformats.org/officeDocument/2006/relationships" r:id="rId4"/>
            </a:rPr>
            <a:t>Main-Stuff/DA Bootcamp 2026 </a:t>
          </a:r>
          <a:r>
            <a:rPr lang="en-US" sz="1100" kern="1200" dirty="0" err="1">
              <a:hlinkClick xmlns:r="http://schemas.openxmlformats.org/officeDocument/2006/relationships" r:id="rId4"/>
            </a:rPr>
            <a:t>Emergi</a:t>
          </a:r>
          <a:r>
            <a:rPr lang="en-US" sz="1100" kern="1200" dirty="0">
              <a:hlinkClick xmlns:r="http://schemas.openxmlformats.org/officeDocument/2006/relationships" r:id="rId4"/>
            </a:rPr>
            <a:t> Mentors/Week 2 SQL Mastery/Module 4 Advanced SQL and Enterprise Analytics/</a:t>
          </a:r>
          <a:r>
            <a:rPr lang="en-US" sz="1100" kern="1200" dirty="0" err="1">
              <a:hlinkClick xmlns:r="http://schemas.openxmlformats.org/officeDocument/2006/relationships" r:id="rId4"/>
            </a:rPr>
            <a:t>NAD_Banking_Month_End_Reconciliation</a:t>
          </a:r>
          <a:r>
            <a:rPr lang="en-US" sz="1100" kern="1200" dirty="0">
              <a:hlinkClick xmlns:r="http://schemas.openxmlformats.org/officeDocument/2006/relationships" r:id="rId4"/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7208178" y="2588467"/>
        <a:ext cx="288945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9953E-5F4C-4E43-A865-F999B168860C}">
      <dsp:nvSpPr>
        <dsp:cNvPr id="0" name=""/>
        <dsp:cNvSpPr/>
      </dsp:nvSpPr>
      <dsp:spPr>
        <a:xfrm>
          <a:off x="1636841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424205"/>
        <a:ext cx="16163" cy="3235"/>
      </dsp:txXfrm>
    </dsp:sp>
    <dsp:sp modelId="{0AECF900-881F-4F8F-9346-1ECA24FF83C4}">
      <dsp:nvSpPr>
        <dsp:cNvPr id="0" name=""/>
        <dsp:cNvSpPr/>
      </dsp:nvSpPr>
      <dsp:spPr>
        <a:xfrm>
          <a:off x="233143" y="4174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Create a fresh database for NAB Banking</a:t>
          </a:r>
          <a:endParaRPr lang="en-US" sz="1200" kern="1200" dirty="0"/>
        </a:p>
      </dsp:txBody>
      <dsp:txXfrm>
        <a:off x="233143" y="4174"/>
        <a:ext cx="1405498" cy="843299"/>
      </dsp:txXfrm>
    </dsp:sp>
    <dsp:sp modelId="{C2C3E9C2-9EA3-493B-AF80-FD89550CABC5}">
      <dsp:nvSpPr>
        <dsp:cNvPr id="0" name=""/>
        <dsp:cNvSpPr/>
      </dsp:nvSpPr>
      <dsp:spPr>
        <a:xfrm>
          <a:off x="3365604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8"/>
              <a:satOff val="-41"/>
              <a:lumOff val="9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424205"/>
        <a:ext cx="16163" cy="3235"/>
      </dsp:txXfrm>
    </dsp:sp>
    <dsp:sp modelId="{BD8AA13F-605E-4964-883A-33EC99E64223}">
      <dsp:nvSpPr>
        <dsp:cNvPr id="0" name=""/>
        <dsp:cNvSpPr/>
      </dsp:nvSpPr>
      <dsp:spPr>
        <a:xfrm>
          <a:off x="1961906" y="4174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DDL: Create table for accounts, transactions </a:t>
          </a:r>
          <a:endParaRPr lang="en-US" sz="1200" kern="1200" dirty="0"/>
        </a:p>
      </dsp:txBody>
      <dsp:txXfrm>
        <a:off x="1961906" y="4174"/>
        <a:ext cx="1405498" cy="843299"/>
      </dsp:txXfrm>
    </dsp:sp>
    <dsp:sp modelId="{7614EFB8-FE43-498A-88FC-68C0F64FFD44}">
      <dsp:nvSpPr>
        <dsp:cNvPr id="0" name=""/>
        <dsp:cNvSpPr/>
      </dsp:nvSpPr>
      <dsp:spPr>
        <a:xfrm>
          <a:off x="5094367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"/>
              <a:satOff val="-83"/>
              <a:lumOff val="19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424205"/>
        <a:ext cx="16163" cy="3235"/>
      </dsp:txXfrm>
    </dsp:sp>
    <dsp:sp modelId="{B5C8E9FC-D7B6-4164-A6FB-89FB38C08F67}">
      <dsp:nvSpPr>
        <dsp:cNvPr id="0" name=""/>
        <dsp:cNvSpPr/>
      </dsp:nvSpPr>
      <dsp:spPr>
        <a:xfrm>
          <a:off x="3690669" y="4174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DDL: Create indexes for performance </a:t>
          </a:r>
          <a:endParaRPr lang="en-US" sz="1200" kern="1200" dirty="0"/>
        </a:p>
      </dsp:txBody>
      <dsp:txXfrm>
        <a:off x="3690669" y="4174"/>
        <a:ext cx="1405498" cy="843299"/>
      </dsp:txXfrm>
    </dsp:sp>
    <dsp:sp modelId="{A75B3C55-F074-48D0-9069-4072262F189F}">
      <dsp:nvSpPr>
        <dsp:cNvPr id="0" name=""/>
        <dsp:cNvSpPr/>
      </dsp:nvSpPr>
      <dsp:spPr>
        <a:xfrm>
          <a:off x="6823130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1822822"/>
              <a:satOff val="-124"/>
              <a:lumOff val="2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424205"/>
        <a:ext cx="16163" cy="3235"/>
      </dsp:txXfrm>
    </dsp:sp>
    <dsp:sp modelId="{8B0CFF13-7BE4-46C8-85C7-516070E38050}">
      <dsp:nvSpPr>
        <dsp:cNvPr id="0" name=""/>
        <dsp:cNvSpPr/>
      </dsp:nvSpPr>
      <dsp:spPr>
        <a:xfrm>
          <a:off x="5419432" y="4174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DML: Inserts values for accounts and transactions </a:t>
          </a:r>
          <a:endParaRPr lang="en-US" sz="1200" kern="1200" dirty="0"/>
        </a:p>
      </dsp:txBody>
      <dsp:txXfrm>
        <a:off x="5419432" y="4174"/>
        <a:ext cx="1405498" cy="843299"/>
      </dsp:txXfrm>
    </dsp:sp>
    <dsp:sp modelId="{AC97FD6F-15EC-4272-9EFE-09FC1AC0FF11}">
      <dsp:nvSpPr>
        <dsp:cNvPr id="0" name=""/>
        <dsp:cNvSpPr/>
      </dsp:nvSpPr>
      <dsp:spPr>
        <a:xfrm>
          <a:off x="8551893" y="380103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424205"/>
        <a:ext cx="16163" cy="3235"/>
      </dsp:txXfrm>
    </dsp:sp>
    <dsp:sp modelId="{1FF88093-A6E6-40CA-BD0D-9644218C26E6}">
      <dsp:nvSpPr>
        <dsp:cNvPr id="0" name=""/>
        <dsp:cNvSpPr/>
      </dsp:nvSpPr>
      <dsp:spPr>
        <a:xfrm>
          <a:off x="7148195" y="4174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DQL: Validation Check </a:t>
          </a:r>
          <a:endParaRPr lang="en-US" sz="1200" kern="1200" dirty="0"/>
        </a:p>
      </dsp:txBody>
      <dsp:txXfrm>
        <a:off x="7148195" y="4174"/>
        <a:ext cx="1405498" cy="843299"/>
      </dsp:txXfrm>
    </dsp:sp>
    <dsp:sp modelId="{A1E7F2FF-A4A2-4D34-9BB3-764AB24A988C}">
      <dsp:nvSpPr>
        <dsp:cNvPr id="0" name=""/>
        <dsp:cNvSpPr/>
      </dsp:nvSpPr>
      <dsp:spPr>
        <a:xfrm>
          <a:off x="935892" y="845673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990387"/>
        <a:ext cx="432492" cy="3235"/>
      </dsp:txXfrm>
    </dsp:sp>
    <dsp:sp modelId="{49631040-6F16-4E6F-B774-E10E9F81E16B}">
      <dsp:nvSpPr>
        <dsp:cNvPr id="0" name=""/>
        <dsp:cNvSpPr/>
      </dsp:nvSpPr>
      <dsp:spPr>
        <a:xfrm>
          <a:off x="8876958" y="4174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#HighValueAccounts </a:t>
          </a:r>
          <a:endParaRPr lang="en-US" sz="1200" kern="1200" dirty="0"/>
        </a:p>
      </dsp:txBody>
      <dsp:txXfrm>
        <a:off x="8876958" y="4174"/>
        <a:ext cx="1405498" cy="843299"/>
      </dsp:txXfrm>
    </dsp:sp>
    <dsp:sp modelId="{9C7E9022-489B-441C-9C97-43B78A645FBE}">
      <dsp:nvSpPr>
        <dsp:cNvPr id="0" name=""/>
        <dsp:cNvSpPr/>
      </dsp:nvSpPr>
      <dsp:spPr>
        <a:xfrm>
          <a:off x="1636841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3645645"/>
              <a:satOff val="-248"/>
              <a:lumOff val="58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1590769"/>
        <a:ext cx="16163" cy="3235"/>
      </dsp:txXfrm>
    </dsp:sp>
    <dsp:sp modelId="{AA7F9536-E127-42C1-8209-B3579724B736}">
      <dsp:nvSpPr>
        <dsp:cNvPr id="0" name=""/>
        <dsp:cNvSpPr/>
      </dsp:nvSpPr>
      <dsp:spPr>
        <a:xfrm>
          <a:off x="233143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with Indexes for #December Transactions</a:t>
          </a:r>
          <a:endParaRPr lang="en-US" sz="1200" kern="1200" dirty="0"/>
        </a:p>
      </dsp:txBody>
      <dsp:txXfrm>
        <a:off x="233143" y="1170737"/>
        <a:ext cx="1405498" cy="843299"/>
      </dsp:txXfrm>
    </dsp:sp>
    <dsp:sp modelId="{87A39965-55FA-4514-9B1E-F0CC68995BD3}">
      <dsp:nvSpPr>
        <dsp:cNvPr id="0" name=""/>
        <dsp:cNvSpPr/>
      </dsp:nvSpPr>
      <dsp:spPr>
        <a:xfrm>
          <a:off x="3365604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4253252"/>
              <a:satOff val="-289"/>
              <a:lumOff val="68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1590769"/>
        <a:ext cx="16163" cy="3235"/>
      </dsp:txXfrm>
    </dsp:sp>
    <dsp:sp modelId="{6A581C8C-ED31-4D3C-B56A-1D5676F42EF5}">
      <dsp:nvSpPr>
        <dsp:cNvPr id="0" name=""/>
        <dsp:cNvSpPr/>
      </dsp:nvSpPr>
      <dsp:spPr>
        <a:xfrm>
          <a:off x="1961906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#QuickTemp</a:t>
          </a:r>
          <a:endParaRPr lang="en-US" sz="1200" kern="1200" dirty="0"/>
        </a:p>
      </dsp:txBody>
      <dsp:txXfrm>
        <a:off x="1961906" y="1170737"/>
        <a:ext cx="1405498" cy="843299"/>
      </dsp:txXfrm>
    </dsp:sp>
    <dsp:sp modelId="{633DEC27-FE53-47C7-89EE-FCC0C85BECD2}">
      <dsp:nvSpPr>
        <dsp:cNvPr id="0" name=""/>
        <dsp:cNvSpPr/>
      </dsp:nvSpPr>
      <dsp:spPr>
        <a:xfrm>
          <a:off x="5094367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1590769"/>
        <a:ext cx="16163" cy="3235"/>
      </dsp:txXfrm>
    </dsp:sp>
    <dsp:sp modelId="{275CAA5C-06BB-4482-8B60-5BDF5459E3C1}">
      <dsp:nvSpPr>
        <dsp:cNvPr id="0" name=""/>
        <dsp:cNvSpPr/>
      </dsp:nvSpPr>
      <dsp:spPr>
        <a:xfrm>
          <a:off x="3690669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@AccountSummary </a:t>
          </a:r>
          <a:endParaRPr lang="en-US" sz="1200" kern="1200" dirty="0"/>
        </a:p>
      </dsp:txBody>
      <dsp:txXfrm>
        <a:off x="3690669" y="1170737"/>
        <a:ext cx="1405498" cy="843299"/>
      </dsp:txXfrm>
    </dsp:sp>
    <dsp:sp modelId="{3E5515DA-7034-4734-91D9-B959F83464AC}">
      <dsp:nvSpPr>
        <dsp:cNvPr id="0" name=""/>
        <dsp:cNvSpPr/>
      </dsp:nvSpPr>
      <dsp:spPr>
        <a:xfrm>
          <a:off x="6823130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5468467"/>
              <a:satOff val="-372"/>
              <a:lumOff val="8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1590769"/>
        <a:ext cx="16163" cy="3235"/>
      </dsp:txXfrm>
    </dsp:sp>
    <dsp:sp modelId="{F69B7920-DABC-4303-B1C6-130D6CC6992C}">
      <dsp:nvSpPr>
        <dsp:cNvPr id="0" name=""/>
        <dsp:cNvSpPr/>
      </dsp:nvSpPr>
      <dsp:spPr>
        <a:xfrm>
          <a:off x="5419432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@BatchTest and #SessionTest</a:t>
          </a:r>
          <a:endParaRPr lang="en-US" sz="1200" kern="1200" dirty="0"/>
        </a:p>
      </dsp:txBody>
      <dsp:txXfrm>
        <a:off x="5419432" y="1170737"/>
        <a:ext cx="1405498" cy="843299"/>
      </dsp:txXfrm>
    </dsp:sp>
    <dsp:sp modelId="{010F694A-FF1E-4303-9C8F-07C841751410}">
      <dsp:nvSpPr>
        <dsp:cNvPr id="0" name=""/>
        <dsp:cNvSpPr/>
      </dsp:nvSpPr>
      <dsp:spPr>
        <a:xfrm>
          <a:off x="8551893" y="1546667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1590769"/>
        <a:ext cx="16163" cy="3235"/>
      </dsp:txXfrm>
    </dsp:sp>
    <dsp:sp modelId="{0607F99C-3FB3-4B0A-9275-546F71B0FF34}">
      <dsp:nvSpPr>
        <dsp:cNvPr id="0" name=""/>
        <dsp:cNvSpPr/>
      </dsp:nvSpPr>
      <dsp:spPr>
        <a:xfrm>
          <a:off x="7148195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Month-End Reconciliation Workflow </a:t>
          </a:r>
          <a:endParaRPr lang="en-US" sz="1200" kern="1200" dirty="0"/>
        </a:p>
      </dsp:txBody>
      <dsp:txXfrm>
        <a:off x="7148195" y="1170737"/>
        <a:ext cx="1405498" cy="843299"/>
      </dsp:txXfrm>
    </dsp:sp>
    <dsp:sp modelId="{A810799B-DFD0-41D8-B528-8859C18BF8B7}">
      <dsp:nvSpPr>
        <dsp:cNvPr id="0" name=""/>
        <dsp:cNvSpPr/>
      </dsp:nvSpPr>
      <dsp:spPr>
        <a:xfrm>
          <a:off x="935892" y="2012236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5">
              <a:hueOff val="-6683682"/>
              <a:satOff val="-454"/>
              <a:lumOff val="107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2156951"/>
        <a:ext cx="432492" cy="3235"/>
      </dsp:txXfrm>
    </dsp:sp>
    <dsp:sp modelId="{FBB9E483-6844-4431-8183-078C04FFA486}">
      <dsp:nvSpPr>
        <dsp:cNvPr id="0" name=""/>
        <dsp:cNvSpPr/>
      </dsp:nvSpPr>
      <dsp:spPr>
        <a:xfrm>
          <a:off x="8876958" y="1170737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December 2024 Month-End reconciliation Report</a:t>
          </a:r>
          <a:endParaRPr lang="en-US" sz="1200" kern="1200" dirty="0"/>
        </a:p>
      </dsp:txBody>
      <dsp:txXfrm>
        <a:off x="8876958" y="1170737"/>
        <a:ext cx="1405498" cy="843299"/>
      </dsp:txXfrm>
    </dsp:sp>
    <dsp:sp modelId="{7470DDA8-4C7E-45ED-9AF9-D3FE9BF96D61}">
      <dsp:nvSpPr>
        <dsp:cNvPr id="0" name=""/>
        <dsp:cNvSpPr/>
      </dsp:nvSpPr>
      <dsp:spPr>
        <a:xfrm>
          <a:off x="1636841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2757332"/>
        <a:ext cx="16163" cy="3235"/>
      </dsp:txXfrm>
    </dsp:sp>
    <dsp:sp modelId="{BB8604C3-2AB6-471C-8568-A18E83F18653}">
      <dsp:nvSpPr>
        <dsp:cNvPr id="0" name=""/>
        <dsp:cNvSpPr/>
      </dsp:nvSpPr>
      <dsp:spPr>
        <a:xfrm>
          <a:off x="233143" y="2337301"/>
          <a:ext cx="1405498" cy="843299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DDL: Create Global temp table #SharedAccountList</a:t>
          </a:r>
          <a:endParaRPr lang="en-US" sz="1200" kern="1200" dirty="0"/>
        </a:p>
      </dsp:txBody>
      <dsp:txXfrm>
        <a:off x="233143" y="2337301"/>
        <a:ext cx="1405498" cy="843299"/>
      </dsp:txXfrm>
    </dsp:sp>
    <dsp:sp modelId="{E725AB1D-58C3-460F-B76E-A4EF5861AD9A}">
      <dsp:nvSpPr>
        <dsp:cNvPr id="0" name=""/>
        <dsp:cNvSpPr/>
      </dsp:nvSpPr>
      <dsp:spPr>
        <a:xfrm>
          <a:off x="3365604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7898897"/>
              <a:satOff val="-537"/>
              <a:lumOff val="12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2757332"/>
        <a:ext cx="16163" cy="3235"/>
      </dsp:txXfrm>
    </dsp:sp>
    <dsp:sp modelId="{42B423D8-C770-4187-BA7F-EAFD5129DF6C}">
      <dsp:nvSpPr>
        <dsp:cNvPr id="0" name=""/>
        <dsp:cNvSpPr/>
      </dsp:nvSpPr>
      <dsp:spPr>
        <a:xfrm>
          <a:off x="1961906" y="2337301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Stored Procedure for </a:t>
          </a:r>
          <a:r>
            <a:rPr lang="en-AU" sz="1200" kern="1200" dirty="0" err="1"/>
            <a:t>dbo.MonthEndReconciliation</a:t>
          </a:r>
          <a:r>
            <a:rPr lang="en-AU" sz="1200" kern="1200" dirty="0"/>
            <a:t> </a:t>
          </a:r>
          <a:endParaRPr lang="en-US" sz="1200" kern="1200" dirty="0"/>
        </a:p>
      </dsp:txBody>
      <dsp:txXfrm>
        <a:off x="1961906" y="2337301"/>
        <a:ext cx="1405498" cy="843299"/>
      </dsp:txXfrm>
    </dsp:sp>
    <dsp:sp modelId="{27F66AA4-555F-4FD8-A88E-8D1BC495024E}">
      <dsp:nvSpPr>
        <dsp:cNvPr id="0" name=""/>
        <dsp:cNvSpPr/>
      </dsp:nvSpPr>
      <dsp:spPr>
        <a:xfrm>
          <a:off x="5094367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8506504"/>
              <a:satOff val="-578"/>
              <a:lumOff val="137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2757332"/>
        <a:ext cx="16163" cy="3235"/>
      </dsp:txXfrm>
    </dsp:sp>
    <dsp:sp modelId="{450945B5-71FA-41AC-BCD3-0B4BD2DF23AD}">
      <dsp:nvSpPr>
        <dsp:cNvPr id="0" name=""/>
        <dsp:cNvSpPr/>
      </dsp:nvSpPr>
      <dsp:spPr>
        <a:xfrm>
          <a:off x="3690669" y="2337301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#HighValueCounts</a:t>
          </a:r>
          <a:endParaRPr lang="en-US" sz="1200" kern="1200" dirty="0"/>
        </a:p>
      </dsp:txBody>
      <dsp:txXfrm>
        <a:off x="3690669" y="2337301"/>
        <a:ext cx="1405498" cy="843299"/>
      </dsp:txXfrm>
    </dsp:sp>
    <dsp:sp modelId="{F4FB1521-A98E-4CCB-AEA1-CB9647A0FC7E}">
      <dsp:nvSpPr>
        <dsp:cNvPr id="0" name=""/>
        <dsp:cNvSpPr/>
      </dsp:nvSpPr>
      <dsp:spPr>
        <a:xfrm>
          <a:off x="6823130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61381" y="2757332"/>
        <a:ext cx="16163" cy="3235"/>
      </dsp:txXfrm>
    </dsp:sp>
    <dsp:sp modelId="{C12003C7-2BC9-4BF9-9209-3F3DB8A8EE9B}">
      <dsp:nvSpPr>
        <dsp:cNvPr id="0" name=""/>
        <dsp:cNvSpPr/>
      </dsp:nvSpPr>
      <dsp:spPr>
        <a:xfrm>
          <a:off x="5419432" y="2337301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Table Variable for Small Dataset for @TransactionSummary</a:t>
          </a:r>
          <a:endParaRPr lang="en-US" sz="1200" kern="1200" dirty="0"/>
        </a:p>
      </dsp:txBody>
      <dsp:txXfrm>
        <a:off x="5419432" y="2337301"/>
        <a:ext cx="1405498" cy="843299"/>
      </dsp:txXfrm>
    </dsp:sp>
    <dsp:sp modelId="{667101FD-FDCE-4B8A-98B8-BDC7E12A00C6}">
      <dsp:nvSpPr>
        <dsp:cNvPr id="0" name=""/>
        <dsp:cNvSpPr/>
      </dsp:nvSpPr>
      <dsp:spPr>
        <a:xfrm>
          <a:off x="8551893" y="2713230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90144" y="2757332"/>
        <a:ext cx="16163" cy="3235"/>
      </dsp:txXfrm>
    </dsp:sp>
    <dsp:sp modelId="{47BB2FF5-CC29-466F-8782-E38FC9FF4373}">
      <dsp:nvSpPr>
        <dsp:cNvPr id="0" name=""/>
        <dsp:cNvSpPr/>
      </dsp:nvSpPr>
      <dsp:spPr>
        <a:xfrm>
          <a:off x="7148195" y="2337301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for #AllTransactions and #DailyTotals</a:t>
          </a:r>
          <a:endParaRPr lang="en-US" sz="1200" kern="1200" dirty="0"/>
        </a:p>
      </dsp:txBody>
      <dsp:txXfrm>
        <a:off x="7148195" y="2337301"/>
        <a:ext cx="1405498" cy="843299"/>
      </dsp:txXfrm>
    </dsp:sp>
    <dsp:sp modelId="{D2DE3D15-7877-414A-B13E-5B06ED5D9E12}">
      <dsp:nvSpPr>
        <dsp:cNvPr id="0" name=""/>
        <dsp:cNvSpPr/>
      </dsp:nvSpPr>
      <dsp:spPr>
        <a:xfrm>
          <a:off x="935892" y="3178800"/>
          <a:ext cx="8643814" cy="292664"/>
        </a:xfrm>
        <a:custGeom>
          <a:avLst/>
          <a:gdLst/>
          <a:ahLst/>
          <a:cxnLst/>
          <a:rect l="0" t="0" r="0" b="0"/>
          <a:pathLst>
            <a:path>
              <a:moveTo>
                <a:pt x="8643814" y="0"/>
              </a:moveTo>
              <a:lnTo>
                <a:pt x="8643814" y="163432"/>
              </a:lnTo>
              <a:lnTo>
                <a:pt x="0" y="163432"/>
              </a:lnTo>
              <a:lnTo>
                <a:pt x="0" y="292664"/>
              </a:lnTo>
            </a:path>
          </a:pathLst>
        </a:custGeom>
        <a:noFill/>
        <a:ln w="12700" cap="flat" cmpd="sng" algn="ctr">
          <a:solidFill>
            <a:schemeClr val="accent5">
              <a:hueOff val="-10329327"/>
              <a:satOff val="-702"/>
              <a:lumOff val="16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553" y="3323514"/>
        <a:ext cx="432492" cy="3235"/>
      </dsp:txXfrm>
    </dsp:sp>
    <dsp:sp modelId="{CCFCCD2C-646D-4D91-B19E-8D421A6DEA68}">
      <dsp:nvSpPr>
        <dsp:cNvPr id="0" name=""/>
        <dsp:cNvSpPr/>
      </dsp:nvSpPr>
      <dsp:spPr>
        <a:xfrm>
          <a:off x="8876958" y="2337301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Temp Table with All Transactions, #AllTx</a:t>
          </a:r>
          <a:endParaRPr lang="en-US" sz="1200" kern="1200" dirty="0"/>
        </a:p>
      </dsp:txBody>
      <dsp:txXfrm>
        <a:off x="8876958" y="2337301"/>
        <a:ext cx="1405498" cy="843299"/>
      </dsp:txXfrm>
    </dsp:sp>
    <dsp:sp modelId="{EF952478-D1CB-48B9-A53D-75DAEBF7F8A0}">
      <dsp:nvSpPr>
        <dsp:cNvPr id="0" name=""/>
        <dsp:cNvSpPr/>
      </dsp:nvSpPr>
      <dsp:spPr>
        <a:xfrm>
          <a:off x="1636841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10936935"/>
              <a:satOff val="-743"/>
              <a:lumOff val="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092" y="3923896"/>
        <a:ext cx="16163" cy="3235"/>
      </dsp:txXfrm>
    </dsp:sp>
    <dsp:sp modelId="{93F8DC2A-22B9-48D3-856D-D363B727EB63}">
      <dsp:nvSpPr>
        <dsp:cNvPr id="0" name=""/>
        <dsp:cNvSpPr/>
      </dsp:nvSpPr>
      <dsp:spPr>
        <a:xfrm>
          <a:off x="233143" y="3503864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Stored Procedure for </a:t>
          </a:r>
          <a:r>
            <a:rPr lang="en-AU" sz="1200" kern="1200" dirty="0" err="1"/>
            <a:t>dbo.QuarterlyReconciliation</a:t>
          </a:r>
          <a:r>
            <a:rPr lang="en-AU" sz="1200" kern="1200" dirty="0"/>
            <a:t> </a:t>
          </a:r>
          <a:endParaRPr lang="en-US" sz="1200" kern="1200" dirty="0"/>
        </a:p>
      </dsp:txBody>
      <dsp:txXfrm>
        <a:off x="233143" y="3503864"/>
        <a:ext cx="1405498" cy="843299"/>
      </dsp:txXfrm>
    </dsp:sp>
    <dsp:sp modelId="{1C2C0B37-80A0-4C9E-9FF0-3456B777D86A}">
      <dsp:nvSpPr>
        <dsp:cNvPr id="0" name=""/>
        <dsp:cNvSpPr/>
      </dsp:nvSpPr>
      <dsp:spPr>
        <a:xfrm>
          <a:off x="3365604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11544542"/>
              <a:satOff val="-785"/>
              <a:lumOff val="186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03855" y="3923896"/>
        <a:ext cx="16163" cy="3235"/>
      </dsp:txXfrm>
    </dsp:sp>
    <dsp:sp modelId="{F91D452F-3B63-4E30-8396-80530E528A1E}">
      <dsp:nvSpPr>
        <dsp:cNvPr id="0" name=""/>
        <dsp:cNvSpPr/>
      </dsp:nvSpPr>
      <dsp:spPr>
        <a:xfrm>
          <a:off x="1961906" y="3503864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Scenario 1: Small Dataset, single use -&gt; Table Variable </a:t>
          </a:r>
          <a:endParaRPr lang="en-US" sz="1200" kern="1200" dirty="0"/>
        </a:p>
      </dsp:txBody>
      <dsp:txXfrm>
        <a:off x="1961906" y="3503864"/>
        <a:ext cx="1405498" cy="843299"/>
      </dsp:txXfrm>
    </dsp:sp>
    <dsp:sp modelId="{7E853F9A-6763-47AE-9D8A-5D16310B080B}">
      <dsp:nvSpPr>
        <dsp:cNvPr id="0" name=""/>
        <dsp:cNvSpPr/>
      </dsp:nvSpPr>
      <dsp:spPr>
        <a:xfrm>
          <a:off x="5094367" y="3879794"/>
          <a:ext cx="292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664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2618" y="3923896"/>
        <a:ext cx="16163" cy="3235"/>
      </dsp:txXfrm>
    </dsp:sp>
    <dsp:sp modelId="{1FABEC62-31DD-499C-9923-61D1A2257B50}">
      <dsp:nvSpPr>
        <dsp:cNvPr id="0" name=""/>
        <dsp:cNvSpPr/>
      </dsp:nvSpPr>
      <dsp:spPr>
        <a:xfrm>
          <a:off x="3690669" y="3503864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Scenario 2: Large Dataset, multiple steps -&gt; Temp Table </a:t>
          </a:r>
          <a:endParaRPr lang="en-US" sz="1200" kern="1200" dirty="0"/>
        </a:p>
      </dsp:txBody>
      <dsp:txXfrm>
        <a:off x="3690669" y="3503864"/>
        <a:ext cx="1405498" cy="843299"/>
      </dsp:txXfrm>
    </dsp:sp>
    <dsp:sp modelId="{43DD9A0A-91DC-488C-9106-5C3EE764C2EA}">
      <dsp:nvSpPr>
        <dsp:cNvPr id="0" name=""/>
        <dsp:cNvSpPr/>
      </dsp:nvSpPr>
      <dsp:spPr>
        <a:xfrm>
          <a:off x="5419432" y="3503864"/>
          <a:ext cx="1405498" cy="843299"/>
        </a:xfrm>
        <a:prstGeom prst="rect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71" tIns="72292" rIns="68871" bIns="722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Scenario 3: Single query readability -&gt; CTE</a:t>
          </a:r>
          <a:endParaRPr lang="en-US" sz="1200" kern="1200" dirty="0"/>
        </a:p>
      </dsp:txBody>
      <dsp:txXfrm>
        <a:off x="5419432" y="3503864"/>
        <a:ext cx="1405498" cy="843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8E179-E0FD-497F-881C-CF2400B2CB7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9BFBF-A86B-4A17-95B7-D8567BD6E3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315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9BFBF-A86B-4A17-95B7-D8567BD6E397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87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2332-72C9-D7D4-7ED1-49C60CF86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7C794-A479-6187-82D4-2DD3969A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1441-B117-1A6F-5F75-125E871A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093C0-E36E-FB5B-056E-7EA537B4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C3C8-A97D-43F7-1DF6-A8844C41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55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23B5-99D9-D63B-F80E-A2634F71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FF92-18E3-EA41-7ECA-DECFCF38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74DBF-002B-523F-7730-F2A22525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FC26-5C3A-8217-0A6A-13BCE851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AC605-9923-1690-884E-B1537AE6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27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4F5F-0C1D-8044-4388-E68D71D1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739F1-3257-2601-85E7-28609F4D0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A9D2-3C9F-CF1B-BBEF-5B9DEF030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A3FFB-4F43-0BD4-C379-00BAF15A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ACCB0-37CA-A4AB-E31B-9ED5677A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57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48F0-2944-003D-7196-C40E5300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1296-FAD6-9E1F-2CAD-962FAABA0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4AFF8-0693-C7C7-D19F-254F163AA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7DE73-DAC2-081C-C322-C53687F7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577E0-4980-0BB5-34DA-4E6B8EB0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0DC2-5CD9-BACC-0E5F-97E879D4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80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D3C3-1AE8-0641-8607-3CA35EA5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62873-2B2E-A8F0-C839-1A54F01A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E130-EBA8-500F-E9AE-434E39CDD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CD5EF-E9DC-4CE0-C466-D7C69B4C4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94E94-00A5-36FD-5E7C-A3AD485F9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C612D-4CA3-8837-FF36-4DFD3239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14BAB-FD4D-FC48-D648-FACB44F9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0DAFF-FD31-0295-9B37-CC17DBEA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37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0199-238E-A848-A7AA-42233600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1F5C4-FFCB-A898-1410-9A41C70B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75EAA-0614-21E6-863A-96B67197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B908F-765D-D39A-CA25-493DE80C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74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54451-D448-B6C8-1948-23A99BC2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07E-BEC4-194B-5B82-1086B8BF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E645C-6AD1-FB10-D489-4B30D6E0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030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732E-3BB6-0663-55F5-9D31F526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1121-F520-B7B3-131D-F8037EBF9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00DE0-1E93-8BEB-3E4D-0FD53D683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3AF80-CECD-458A-2E91-65D358EF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DCBEE-3C60-561B-211B-A49A2987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D38C8-9D83-8513-D252-B2850BC9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81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4F28-B95B-633D-F4E2-874621F7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DC990-F36D-F2BC-E2F5-65E63EE35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D4E6B-59F2-EC0F-2D78-66D63F327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95262-5D96-6A1E-21D6-4155C11D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4AD1F-D367-88FF-C6B1-2108040C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E6E2E-F5E2-3C5A-9686-1B81AA1A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65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961B-7AB5-8EC8-BB18-BF678C35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FF38B-3FAC-3370-C456-825A1587A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A368-3EDF-F25E-F56E-C00B8F1D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5A774-1C3B-6774-AF98-D1BD4780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88BD1-822E-DBE4-2F94-096C395F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631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ACF94-3CEE-FBA5-FFBA-ACD39FD2D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526AD-9848-CA19-1980-16B29DFC1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D5DA7-6FDE-DE96-8DD3-27D9A29E5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CFC0A-8564-0649-FC72-745255FE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CA55-C12D-7112-433E-0707E289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70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37EF-2587-41AD-FDAF-7C8F8E80E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49F8D-0D53-B964-6AF6-CCD3DF66C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3F045-2F51-14D8-212E-D09036B2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ACE3-BAEB-91F7-FD6E-507018BE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3698-EB57-44FC-5FBF-45028E2E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760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81AD-673C-4AAC-EAE6-784BE631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E696E-AF9D-32A1-978C-816738D6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AD3FE-7BBC-08BB-23BA-43A5DEF3C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8991-ED8E-DD5D-B257-963A151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F019B-EDF6-C1FF-EF9C-838A1D15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544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7121-F9D0-3D2C-3DB9-C56B0223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38973-81BD-82D6-C95B-AC953625C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E1053-B8B9-74D3-9D2E-13A24673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B7B3E-8624-0BBA-1AD3-26EAEA10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42A0-5889-7224-F357-46527724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799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EC13-9316-66D6-7256-1CB374C0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837D-0720-9D9B-6679-0695F0CD7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A4C20-FCC8-4D41-3B5F-62528AC3E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01561-A4B0-D9C2-F25C-8647506B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968AF-E1A5-46E6-515E-9D4E7139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69D33-D775-41F3-4D62-30DF4E8A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078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96E-8467-482C-073D-9BD7B233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2241A-59F6-B0F3-5E79-94C507236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68E48-A135-F136-246F-FED28B119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EBE25-B800-C71A-A01F-662F45D07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8E239-FDC9-90D2-6BFB-CBC50746B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0A59-3B91-18F3-D5E8-C7DA35CD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7346A-EBAB-0024-FA9C-45F62FCC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5CBA4-4F7B-4A61-8539-E2EDFAAE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388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4E67-4B0D-DF8D-76AF-2618CD2C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19F9-2C9A-96A4-F228-816B3434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AC18E-BC2C-D890-C274-4CD48A51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49942-DE44-AA23-C5A2-71D90FC6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1794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0A291-8E45-0E2E-5953-E0B3EE54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F2805-5B0F-18A9-2B94-83BBA81E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3087F-2C54-B163-0F59-9D295B14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9075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CF0D-F566-120F-0445-EF6C424C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F6051-01AE-E30E-880E-E434CA29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2D896-3554-3729-5180-BB16645BE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9CC7-FC85-9A23-7578-0CF9B61B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28668-154D-3D2A-0CCA-2122A14E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9F41A-3E02-865C-E761-DA82C3CB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5800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BCAC-61E0-996F-36D8-731F6DFE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E06D8-B92D-5DF6-CD03-B9F292052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1EC81-D486-E7B4-AD74-7B9B71C77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65A45-907A-F630-9D57-DF833567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ADFFA-6F0F-8066-CB9E-CC6EAA39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59B8B-59C4-90B4-60F0-06B38758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038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F09F-849F-080D-DFD6-869EF6F0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4F113-323C-C585-C2CC-58F81126E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5105-1427-8B82-9BAC-FAE56E07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8D23-3BD9-6220-3FB3-E8C2623C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784B-1A0B-5788-4F20-5047AD99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917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B8606-38F7-AC22-F487-CF590DD1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5779F-6AC5-DEF8-D6C3-5F0492CDB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29368-C10A-93E1-A39F-86C7F860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6DD0-279C-3391-2E5A-E87D08C5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11CB-A010-59B5-F0E9-5B51A559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0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30DFB-2300-F6D6-9B82-702D422F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02C97-37A8-68A5-CF9E-259D48B14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21175-2355-1E58-F9E8-D24DF5EBE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AAADC-5354-43C0-984D-64B641234F9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09705-3AD2-75E9-71AD-89AEAD0CB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CA005-D84B-77BF-23C4-DD54A4C06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20B2D-0D44-4081-B893-A8AF5E4A26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53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F4C14-4775-0FAD-6A28-DF2F5828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7A2CE-F793-2E0F-DCE6-DA9A64BD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CD162-635A-5982-F72B-6AD3ADAD5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14A82-078E-442C-9E77-AC45039B736B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A1FF8-FE02-3775-51E7-6EC9951BA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B773-8500-2D77-AA97-3E53150EB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1C068-D9DE-4654-B7ED-31C808F9BA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902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D26AB-FCEC-F741-1C7D-FAB782049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AU" sz="3400" dirty="0">
                <a:solidFill>
                  <a:srgbClr val="FFFFFF"/>
                </a:solidFill>
              </a:rPr>
              <a:t>NAB Banking Month-End Reconciliation SQL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11F87-A62D-20CB-8396-F29BF9CD8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r>
              <a:rPr lang="en-AU" sz="2000">
                <a:solidFill>
                  <a:srgbClr val="FFFFFF"/>
                </a:solidFill>
              </a:rPr>
              <a:t>Michael 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C4167-DC0E-481A-8FA2-18875AFC0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342565"/>
            <a:ext cx="7225748" cy="417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7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90FA-CF7C-4964-2256-EFB746FF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58BE891-F5F2-2A51-D573-FF50090B3E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1285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69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B51A88-3DAC-60CD-97DA-D30D5C2D49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4C1AE-B786-4F16-9B47-2848E8B9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Content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E700CD-50CA-AFFD-1FF4-2C12403A00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9733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421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E54CB-CFA7-DE2E-34E5-BEA15F4D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AU" sz="4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Create a fresh database for NAB Banking</a:t>
            </a:r>
            <a:br>
              <a:rPr kumimoji="0" lang="en-US" sz="4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endParaRPr lang="en-AU" sz="400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4637BFC3-084F-AEFC-8EBA-6E039F404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5CD39-8366-DB43-20C6-80C1DC60D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090" y="176981"/>
            <a:ext cx="6803923" cy="6381135"/>
          </a:xfrm>
        </p:spPr>
        <p:txBody>
          <a:bodyPr anchor="ctr">
            <a:normAutofit/>
          </a:bodyPr>
          <a:lstStyle/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Clean slate for training session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(training reset)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IF DB_ID('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') IS NOT NULL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SET SINGLE_USER WITH ROLLBACK IMMEDIATE;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DATABASE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'✓ Database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NAB_Banking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created successfully';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21740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C06D02-5CC8-998A-6986-F5D19206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3700">
                <a:solidFill>
                  <a:schemeClr val="tx2"/>
                </a:solidFill>
              </a:rPr>
              <a:t>DDL: Create table for accounts, transactions </a:t>
            </a:r>
            <a:br>
              <a:rPr lang="en-US" sz="3700">
                <a:solidFill>
                  <a:schemeClr val="tx2"/>
                </a:solidFill>
              </a:rPr>
            </a:br>
            <a:endParaRPr lang="en-AU" sz="37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4643A-D2D7-6A9C-4312-68237DF58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Accounts table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TABLE accounts (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account_id INT PRIMARY KEY IDENTITY(1,1),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account_number NVARCHAR(20) NOT NULL UNIQUE,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customer_name NVARCHAR(100) NOT NULL,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account_type NVARCHAR(50) NOT NULL,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opening_balance DECIMAL(15,2) NOT NULL DEFAULT 0,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created_date DATETIME NOT NULL DEFAULT GETDATE(),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status NVARCHAR(20) NOT NULL DEFAULT 'Active',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CONSTRAINT CK_account_type CHECK (account_type IN ('Savings', 'Checking', 'Business', 'Investment'))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Transactions table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TABLE transactions (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transaction_id INT PRIMARY KEY IDENTITY(1,1),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account_id INT NOT NULL,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transaction_date DATETIME NOT NULL DEFAULT GETDATE(),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DECIMAL(15,2) NOT NULL,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transaction_type NVARCHAR(50) NOT NULL,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description NVARCHAR(200),</a:t>
            </a:r>
          </a:p>
          <a:p>
            <a:r>
              <a:rPr lang="en-US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CONSTRAINT FK_transactions_accounts FOREIGN KEY (account_id) REFERENCES accounts(account_id),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CONSTRAINT CK_transaction_type CHECK (transaction_type IN ('Deposit', 'Withdrawal', 'Transfer', 'Fee', 'Interest'))</a:t>
            </a:r>
          </a:p>
          <a:p>
            <a:r>
              <a:rPr lang="en-AU" sz="7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7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1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70ABD5-4B57-8DC3-4E4A-3A24365E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chemeClr val="tx2"/>
                </a:solidFill>
              </a:rPr>
              <a:t>DDL: Create indexes for performance </a:t>
            </a:r>
            <a:br>
              <a:rPr lang="en-US" sz="4000">
                <a:solidFill>
                  <a:schemeClr val="tx2"/>
                </a:solidFill>
              </a:rPr>
            </a:br>
            <a:endParaRPr lang="en-AU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F1DC-31BD-2DA3-264C-8A087B321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AU" sz="18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indexes for performance</a:t>
            </a:r>
          </a:p>
          <a:p>
            <a:r>
              <a:rPr lang="en-AU" sz="18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INDEX IX_transactions_account_date ON transactions(account_id, transaction_date);</a:t>
            </a:r>
          </a:p>
          <a:p>
            <a:r>
              <a:rPr lang="en-AU" sz="18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INDEX IX_transactions_date ON transactions(transaction_date);</a:t>
            </a:r>
          </a:p>
          <a:p>
            <a:r>
              <a:rPr lang="en-US" sz="18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INDEX IX_accounts_status ON accounts(status);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04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66D39D-D51C-5892-426D-5232EA0A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3400" dirty="0">
                <a:solidFill>
                  <a:schemeClr val="tx2"/>
                </a:solidFill>
              </a:rPr>
              <a:t>DML: Inserts values for accounts and transactions </a:t>
            </a:r>
            <a:br>
              <a:rPr lang="en-US" sz="3400" dirty="0">
                <a:solidFill>
                  <a:schemeClr val="tx2"/>
                </a:solidFill>
              </a:rPr>
            </a:br>
            <a:endParaRPr lang="en-AU" sz="34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A10F-F7F3-5DBD-7486-1FFC1A421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 fontScale="92500"/>
          </a:bodyPr>
          <a:lstStyle/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 INTO accounts (account_number, customer_name, account_type, opening_balance, created_date)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('NAD-001-SAV', 'James Anderson', 'Savings', 75000.00, '2024-01-15'),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('NAD-002-CHK', 'Sarah Mitchell', 'Checking', 45000.00, '2024-01-20'),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('NAD-003-BUS', 'TechStart Solutions Pty Ltd', 'Business', 125000.00, '2024-02-01'),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('NAD-004-SAV', 'Emma Thompson', 'Savings', 32000.00, '2024-02-10'),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('NAD-005-INV', 'Robert Chen', 'Investment', 250000.00, '2024-02-15'),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('NAD-006-CHK', 'Maria Garcia', 'Checking', 28000.00, '2024-03-01'),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('NAD-007-BUS', 'Melbourne Retail Group', 'Business', 180000.00, '2024-03-05'),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('NAD-008-SAV', 'David Wilson', 'Savings', 55000.00, '2024-03-10'),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('NAD-009-CHK', 'Lisa Brown', 'Checking', 12000.00, '2024-03-15'),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('NAD-010-SAV', 'Michael O''Connor', 'Savings', 48000.00, '2024-03-20'),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('NAD-011-BUS', 'Sydney Import Export', 'Business', 95000.00, '2024-04-01'),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('NAD-012-INV', 'Jennifer Lee', 'Investment', 175000.00, '2024-04-05'),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('NAD-013-CHK', 'Thomas White', 'Checking', 38000.00, '2024-04-10'),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('NAD-014-SAV', 'Patricia Moore', 'Savings', 62000.00, '2024-04-15'),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('NAD-015-BUS', 'Brisbane Consulting', 'Business', 88000.00, '2024-04-20'),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('NAD-016-CHK', 'Christopher Taylor', 'Checking', 25000.00, '2024-05-01'),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('NAD-017-SAV', 'Amanda Jackson', 'Savings', 71000.00, '2024-05-05'),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('NAD-018-INV', 'Daniel Martin', 'Investment', 310000.00, '2024-05-10'),</a:t>
            </a:r>
          </a:p>
          <a:p>
            <a:endParaRPr lang="en-AU" sz="9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99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68C72-3018-F85B-3561-3E51A676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955"/>
            <a:ext cx="10515600" cy="5764008"/>
          </a:xfrm>
        </p:spPr>
        <p:txBody>
          <a:bodyPr>
            <a:normAutofit fontScale="47500" lnSpcReduction="20000"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'NAD-019-CHK'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'Michelle Thompson'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19000.00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'2024-05-15'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'NAD-020-BUS'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'Perth Mining Services'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420000.00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'2024-05-20'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'NAD-021-SAV'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'Kevin Harris'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44000.00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'2024-06-01'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'NAD-022-CHK'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'Nicole Robinson'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31000.00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'2024-06-05'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'NAD-023-BUS'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'Adelaide Wine Distributors'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135000.00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'2024-06-10'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'NAD-024-SAV'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'Steven Clark'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58000.00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'2024-06-15'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'NAD-025-INV'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'Rebecca Lewis'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'Investment'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225000.00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'2024-06-20'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'NAD-026-CHK'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'Brian Walker'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22000.00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'2024-07-01'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'NAD-027-SAV'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'Jessica Hall'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67000.00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'2024-07-05'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'NAD-028-BUS'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'Canberra Tech Hub'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98000.00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'2024-07-10'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'NAD-029-CHK'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'Ryan Young'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'2024-07-15'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'NAD-030-SAV'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'Lauren 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52000.00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'2024-07-20'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'NAD-031-BUS'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'Hobart Seafood Exports'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165000.00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'2024-08-01'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'NAD-032-INV'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'Jason Wright'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'Investment'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280000.00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'2024-08-05'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'NAD-033-CHK'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'Stephanie Green'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27000.00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'2024-08-10'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'NAD-034-SAV'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'Brandon Baker'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73000.00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'2024-08-15'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'NAD-035-BUS'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'Darwin Logistics'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112000.00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'2024-08-20'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'NAD-036-CHK'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'Melissa Adams'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18000.00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'2024-09-01'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'NAD-037-SAV'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'Eric Nelson'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64000.00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'2024-09-05'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'NAD-038-INV'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'Samantha Carter'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'Investment'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195000.00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'2024-09-10'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'NAD-039-CHK'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'Gregory Mitchell'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'Checking'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33000.00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'2024-09-15'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26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301C-D998-E5DD-0B57-9EFE5682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5803337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'NAD-040-BUS'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'Newcastle Steel Works'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'Business'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285000.00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'2024-09-20'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'NAD-041-SAV'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'Heather Perez'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'Savings'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49000.00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'2024-10-01'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'NAD-042-CHK'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'Jonathan Roberts'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'Checking'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24000.00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'2024-10-05'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'NAD-043-BUS'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'Gold Coast Tourism'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'Business'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155000.00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'2024-10-10'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'NAD-044-SAV'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'Rachel Turner'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'Savings'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81000.00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'2024-10-15'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'NAD-045-INV'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'Adam Phillips'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'Investment'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340000.00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'2024-10-20'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'NAD-046-CHK'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'Kimberly Campbell'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'Checking'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29000.00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'2024-11-01'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'NAD-047-SAV'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'Justin Parker'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'Savings'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56000.00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'2024-11-05'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'NAD-048-BUS'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'Wollongong Manufacturing'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'Business'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198000.00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'2024-11-10'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'NAD-049-CHK'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'Brittany Evans'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'Checking'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21000.00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'2024-11-15'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'NAD-050-SAV'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'Tyler Edwards'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'Savings'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69000.00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'2024-11-20'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'✓ Inserted 50 customer accounts'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''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GO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97338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C3F2-B50F-6862-FFB9-6C17FABC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Insert realistic December 2024 transactions (15,000+ transactions)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This simulates a month of banking activity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@TransactionDate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@TxPerDay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082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6653-AB57-D8CA-1CF2-F69EC8CD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>
            <a:normAutofit fontScale="925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Loop through each account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Generate transactions for each day in December 2024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31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@TransactionDate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@TxPerDay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FLOOR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-- 5-20 transactions per day per account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294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76E4-7F1C-33A2-860B-8D857017D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324465"/>
            <a:ext cx="10714703" cy="6174658"/>
          </a:xfrm>
        </p:spPr>
        <p:txBody>
          <a:bodyPr>
            <a:normAutofit fontScale="400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@TxCounter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@TxCounter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@TxPerDay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Randomize transaction types and amounts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@RandType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@RandType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0.4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-- 40% Deposits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'Deposit'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$100-$5,100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@RandType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0.7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-- 30% Withdrawals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'Withdrawal'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-$50 to -$3,050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@RandType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0.85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-- 15% Transfers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'Transfer'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0.5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@RandType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0.95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-- 10% Fees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3960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15AC-B6AB-7431-A8FE-32365900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457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'Fee'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-$5 to -$55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-- 5% Interest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'Interest'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@Amount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200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$10-$210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 some time variance to transaction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MINUTE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FLOOR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1440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@AccountID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@TransactionDate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@Amount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@TxType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@TxType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- 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@TransactionDate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'dd/MM/</a:t>
            </a:r>
            <a:r>
              <a:rPr lang="en-AU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yyyy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HH:mm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@TxCounter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@TxCounter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@DayCounter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@AccountID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501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9E13-7817-D4B7-37D3-9A1B30A9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dirty="0"/>
              <a:t>DQL: Validation Check </a:t>
            </a:r>
            <a:br>
              <a:rPr lang="en-US" dirty="0"/>
            </a:br>
            <a:endParaRPr lang="en-AU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5BCA2-7D91-0DBB-5521-91756C550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149422"/>
            <a:ext cx="3836894" cy="1262977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B4C0-B150-FE9D-AC46-3F0F6D26A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-- Display data summary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'Total Accounts' AS Metric,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COUNT(*) AS Value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FROM accounts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UNION ALL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'Total Transactions',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COUNT(*)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FROM transactions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UNION ALL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'December 2024 Transactions',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    COUNT(*)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FROM transactions</a:t>
            </a:r>
          </a:p>
          <a:p>
            <a:r>
              <a:rPr lang="en-AU" sz="1400">
                <a:highlight>
                  <a:srgbClr val="FFFFFF"/>
                </a:highlight>
                <a:latin typeface="Cascadia Mono" panose="020B0609020000020004" pitchFamily="49" charset="0"/>
              </a:rPr>
              <a:t>WHERE transaction_date &gt;= '2024-12-01' AND transaction_date &lt; '2025-01-01';</a:t>
            </a:r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274778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B48F4A-84E4-099F-1A17-AECA1FC4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chemeClr val="tx2"/>
                </a:solidFill>
              </a:rPr>
              <a:t>Temp table for #HighValueAccounts </a:t>
            </a:r>
            <a:br>
              <a:rPr lang="en-US" sz="3100">
                <a:solidFill>
                  <a:schemeClr val="tx2"/>
                </a:solidFill>
              </a:rPr>
            </a:br>
            <a:endParaRPr lang="en-AU" sz="31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A032-CB9D-5441-8FD8-90817AD5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temp table for high-value accounts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 TABLE #HighValueAccounts (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account_id INT,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account_number NVARCHAR(20),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customer_name NVARCHAR(100),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account_type NVARCHAR(50),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opening_balance DECIMAL(15,2)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100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Populate temp table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 INTO #HighValueAccounts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account_id,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account_number,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customer_name,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account_type,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opening_balance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accounts</a:t>
            </a:r>
          </a:p>
          <a:p>
            <a:r>
              <a:rPr lang="en-AU" sz="10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opening_balance &gt; 50000;</a:t>
            </a:r>
          </a:p>
          <a:p>
            <a:endParaRPr lang="en-AU" sz="100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555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E37EC-C4E2-5791-F709-EC95A4E6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03" y="586761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sz="4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Query temp table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Value Accounts (&gt;$50,000)'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0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AccountCount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AvgBalance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MaxBalance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Verify temp table exists in </a:t>
            </a:r>
            <a:r>
              <a:rPr lang="en-US" sz="4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 table physical location:'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TempTableName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create_date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CreatedAt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tempdb</a:t>
            </a:r>
            <a:r>
              <a:rPr lang="en-AU" sz="40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4000" dirty="0" err="1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</a:t>
            </a:r>
            <a:r>
              <a:rPr lang="en-AU" sz="40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4000" dirty="0" err="1">
                <a:solidFill>
                  <a:srgbClr val="00FF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tables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LIKE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'#</a:t>
            </a:r>
            <a:r>
              <a:rPr lang="en-AU" sz="4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HighValueAccounts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Clean up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Temp table dropped successfully'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4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40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FCB05-B28D-AB76-6CA2-3B8A09F0E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425" y="5928410"/>
            <a:ext cx="5004617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372C06-8FC3-3CF7-6D25-48ED670DA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426" y="147484"/>
            <a:ext cx="5004618" cy="571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14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38FD3-5DBF-A7D9-4351-18EC106D2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53" y="137652"/>
            <a:ext cx="4972744" cy="5906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0C6884-3964-18F9-155D-19C89108A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53" y="6158654"/>
            <a:ext cx="4572638" cy="3810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08739-2C71-5009-83BA-C52ED86C51A1}"/>
              </a:ext>
            </a:extLst>
          </p:cNvPr>
          <p:cNvSpPr txBox="1"/>
          <p:nvPr/>
        </p:nvSpPr>
        <p:spPr>
          <a:xfrm>
            <a:off x="5172797" y="5250426"/>
            <a:ext cx="396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Opening Balance in Descending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45563-CA98-4B09-61E8-C19648A2B84C}"/>
              </a:ext>
            </a:extLst>
          </p:cNvPr>
          <p:cNvSpPr txBox="1"/>
          <p:nvPr/>
        </p:nvSpPr>
        <p:spPr>
          <a:xfrm>
            <a:off x="4772691" y="6227222"/>
            <a:ext cx="2456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Temporary Table Name</a:t>
            </a:r>
          </a:p>
        </p:txBody>
      </p:sp>
    </p:spTree>
    <p:extLst>
      <p:ext uri="{BB962C8B-B14F-4D97-AF65-F5344CB8AC3E}">
        <p14:creationId xmlns:p14="http://schemas.microsoft.com/office/powerpoint/2010/main" val="1909097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275F-8E8B-3499-7837-B39F331D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" y="68847"/>
            <a:ext cx="11992897" cy="1325563"/>
          </a:xfrm>
        </p:spPr>
        <p:txBody>
          <a:bodyPr>
            <a:normAutofit/>
          </a:bodyPr>
          <a:lstStyle/>
          <a:p>
            <a:r>
              <a:rPr lang="en-AU" dirty="0"/>
              <a:t>Temp table with Indexes for #DecemberTransactions</a:t>
            </a:r>
            <a:br>
              <a:rPr lang="en-US" dirty="0"/>
            </a:b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91A2DF-F5E9-EBB5-97F7-EB7EC1471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130" y="1499918"/>
            <a:ext cx="4601217" cy="3858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55B13F-94C0-98FB-4EB9-CEFD9262F6FA}"/>
              </a:ext>
            </a:extLst>
          </p:cNvPr>
          <p:cNvSpPr txBox="1"/>
          <p:nvPr/>
        </p:nvSpPr>
        <p:spPr>
          <a:xfrm>
            <a:off x="7066130" y="5525729"/>
            <a:ext cx="430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20 rows, for #DecemberTransactions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6DD447-DFBE-734B-A60A-EC6A3F0D5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131" y="6000569"/>
            <a:ext cx="1076475" cy="409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262BD3-D843-FCAF-1CEE-DB1F0C1D9B71}"/>
              </a:ext>
            </a:extLst>
          </p:cNvPr>
          <p:cNvSpPr txBox="1"/>
          <p:nvPr/>
        </p:nvSpPr>
        <p:spPr>
          <a:xfrm>
            <a:off x="7213873" y="6410201"/>
            <a:ext cx="2196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Total Records 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AC5C1-EB5E-F599-D1CC-04EFB3D00E6A}"/>
              </a:ext>
            </a:extLst>
          </p:cNvPr>
          <p:cNvSpPr txBox="1"/>
          <p:nvPr/>
        </p:nvSpPr>
        <p:spPr>
          <a:xfrm>
            <a:off x="130277" y="593224"/>
            <a:ext cx="681129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temp table for all December transactions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Populate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'2025-01-01'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'Records in #DecemberTransactions:'</a:t>
            </a:r>
            <a:r>
              <a:rPr lang="en-AU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RecordCount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5752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5996-8F4D-DB24-4251-540396E0F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3" y="517934"/>
            <a:ext cx="6585155" cy="5961523"/>
          </a:xfrm>
        </p:spPr>
        <p:txBody>
          <a:bodyPr>
            <a:normAutofit fontScale="700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 index for performance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IX_AccountID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IX_TransactionDate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Now query with improved performance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TotalDeposits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NetChange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#DecemberTransactions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NetChange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EF1E9-25AF-C894-33A2-EB6F26798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56" y="123621"/>
            <a:ext cx="4347892" cy="6272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8D6DDF-5224-20D1-CA18-3CA2D7DAFFCB}"/>
              </a:ext>
            </a:extLst>
          </p:cNvPr>
          <p:cNvSpPr txBox="1"/>
          <p:nvPr/>
        </p:nvSpPr>
        <p:spPr>
          <a:xfrm>
            <a:off x="7548893" y="6396506"/>
            <a:ext cx="470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40 rows for December 2024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60947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EB911-39C0-338A-E63F-E09B5118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AU" sz="3300">
                <a:solidFill>
                  <a:schemeClr val="tx2"/>
                </a:solidFill>
              </a:rPr>
              <a:t>Temp table for #QuickTemp</a:t>
            </a:r>
            <a:br>
              <a:rPr lang="en-US" sz="3300">
                <a:solidFill>
                  <a:schemeClr val="tx2"/>
                </a:solidFill>
              </a:rPr>
            </a:br>
            <a:endParaRPr lang="en-AU" sz="33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0F8A-ECC9-31B5-B801-0D771118F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temp table automatically with SELECT INTO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account_id,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account_number,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customer_name,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account_type,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opening_balance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 #QuickTemp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accounts</a:t>
            </a:r>
          </a:p>
          <a:p>
            <a:r>
              <a:rPr lang="en-AU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account_type = 'Business';</a:t>
            </a:r>
          </a:p>
          <a:p>
            <a:endParaRPr lang="en-AU" sz="900">
              <a:solidFill>
                <a:schemeClr val="tx2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 'Business accounts in #QuickTemp:';</a:t>
            </a:r>
          </a:p>
          <a:p>
            <a:r>
              <a:rPr lang="en-US" sz="900">
                <a:solidFill>
                  <a:schemeClr val="tx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* FROM #QuickTemp ORDER BY opening_balance DESC;</a:t>
            </a:r>
            <a:endParaRPr lang="en-AU" sz="9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7D93CDE-0195-8BBA-0C2E-C739CD178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906401"/>
            <a:ext cx="4142232" cy="196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46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1715-0335-06CB-1DD9-C8949B00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Temp table for @AccountSummary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7CBC4-B1EB-BBA9-8157-FB6833810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04" y="1027906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DEMO 4: Table Variable Basics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Declare table variable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@AccountSummary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risk_level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Populate table variable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@AccountSummary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Risk'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 Risk'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'Low Risk'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risk_level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'2025-01-01'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2E03A-4DDD-95FA-2E0B-C5552BC45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459" y="901365"/>
            <a:ext cx="3350341" cy="5267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12D0EB-91F6-F807-FDC5-9C5AC893909A}"/>
              </a:ext>
            </a:extLst>
          </p:cNvPr>
          <p:cNvSpPr txBox="1"/>
          <p:nvPr/>
        </p:nvSpPr>
        <p:spPr>
          <a:xfrm>
            <a:off x="8003459" y="6295109"/>
            <a:ext cx="389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32 rows are @Account Summary</a:t>
            </a:r>
          </a:p>
        </p:txBody>
      </p:sp>
    </p:spTree>
    <p:extLst>
      <p:ext uri="{BB962C8B-B14F-4D97-AF65-F5344CB8AC3E}">
        <p14:creationId xmlns:p14="http://schemas.microsoft.com/office/powerpoint/2010/main" val="3582243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B190-D581-161E-F044-AE5E8AD9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681037"/>
            <a:ext cx="6024716" cy="4351338"/>
          </a:xfrm>
        </p:spPr>
        <p:txBody>
          <a:bodyPr>
            <a:normAutofit fontScale="55000" lnSpcReduction="20000"/>
          </a:bodyPr>
          <a:lstStyle/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Query table variable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'Account Risk Analysis:'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risk_level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AvgBalance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@AccountSummary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risk_level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risk_level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Risk'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 Risk'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450B4-143E-3B2B-2BA9-81DA75D0A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13" y="5206417"/>
            <a:ext cx="5138532" cy="87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97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D9E26-A3B5-83E6-012B-0B0FDA99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Temp table for @BatchTest and #SessionTest</a:t>
            </a:r>
            <a:br>
              <a:rPr lang="en-US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EEE81-D005-05FE-CAEF-5E3D09768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3892895"/>
            <a:ext cx="3836894" cy="177603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1533-E9EE-78AB-9F31-B08ABE0DD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 lnSpcReduction="10000"/>
          </a:bodyPr>
          <a:lstStyle/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-- Table variable - dies at GO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DECLARE @BatchTest TABLE (ID INT, Value NVARCHAR(50));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INSERT INTO @BatchTest VALUES (1, 'Batch scoped - dies at GO');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SELECT * FROM @BatchTest;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PRINT 'Table variable exists in this batch';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-- This will fail - table variable out of scope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-- SELECT * FROM @BatchTest; -- Uncomment to see error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-- Temp table - survives GO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CREATE TABLE #SessionTest (ID INT, Value NVARCHAR(50));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INSERT INTO #SessionTest VALUES (1, 'Session scoped - survives GO');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SELECT * FROM #SessionTest;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PRINT 'Temp table survives across batches!';</a:t>
            </a:r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3190052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2067-FE0D-030D-7291-F533A4D7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AU" dirty="0"/>
              <a:t>Month-End Reconciliation Workflow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207A-99E4-D9B1-CA40-C9B16BE08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9" y="681036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Extract December Transactions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1: Extracting December 2024 transactions...'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'2025-01-01'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Add index for performance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IX_Account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@Step1Count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Extracted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@Step1Count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transactions'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BF5B0-EF4E-19AF-545A-72EDD13D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267" y="1126579"/>
            <a:ext cx="6125430" cy="3905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A4123C-F80D-AD73-9167-BBF751F91614}"/>
              </a:ext>
            </a:extLst>
          </p:cNvPr>
          <p:cNvSpPr txBox="1"/>
          <p:nvPr/>
        </p:nvSpPr>
        <p:spPr>
          <a:xfrm>
            <a:off x="6886949" y="5108585"/>
            <a:ext cx="387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20 rows for #Step1_Transactions</a:t>
            </a:r>
          </a:p>
        </p:txBody>
      </p:sp>
    </p:spTree>
    <p:extLst>
      <p:ext uri="{BB962C8B-B14F-4D97-AF65-F5344CB8AC3E}">
        <p14:creationId xmlns:p14="http://schemas.microsoft.com/office/powerpoint/2010/main" val="3994624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26BA4-848D-35BA-1B4A-E78CE3E6E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162" y="357041"/>
            <a:ext cx="3801491" cy="5530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DE875-E8A6-8F9C-EA79-646C69B7C62C}"/>
              </a:ext>
            </a:extLst>
          </p:cNvPr>
          <p:cNvSpPr txBox="1"/>
          <p:nvPr/>
        </p:nvSpPr>
        <p:spPr>
          <a:xfrm>
            <a:off x="7813964" y="60013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First 25 rows for #Step2_DailyBalances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214AEF-F2FE-801B-3632-6573495AFD8B}"/>
              </a:ext>
            </a:extLst>
          </p:cNvPr>
          <p:cNvSpPr txBox="1">
            <a:spLocks/>
          </p:cNvSpPr>
          <p:nvPr/>
        </p:nvSpPr>
        <p:spPr>
          <a:xfrm>
            <a:off x="267929" y="6810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5ADEB-EA62-1661-7694-7DB749BD7D27}"/>
              </a:ext>
            </a:extLst>
          </p:cNvPr>
          <p:cNvSpPr txBox="1"/>
          <p:nvPr/>
        </p:nvSpPr>
        <p:spPr>
          <a:xfrm>
            <a:off x="443347" y="871546"/>
            <a:ext cx="70381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2: Calculating daily running balances per account...'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balance_date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daily_total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</a:t>
            </a: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balance_date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daily_total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BETWEEN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UNBOUNDED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PRECEDING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</a:t>
            </a:r>
          </a:p>
          <a:p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IX_AccountDate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balance_date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@Step2Count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Calculated '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@Step2Count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daily balance records'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127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83765-DFCD-0DEF-C316-E97EF2CDB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2" y="509442"/>
            <a:ext cx="7890164" cy="6348557"/>
          </a:xfrm>
        </p:spPr>
        <p:txBody>
          <a:bodyPr>
            <a:normAutofit fontScale="40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3: Identify Overdraft Instances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3: Identifying overdraft instances...'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overdraft_amount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severity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overdraft_amount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@Step3Count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Identified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@Step3Count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overdraft instances'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F6137-B5EE-AF4A-DD1B-2C21CEEF78A5}"/>
              </a:ext>
            </a:extLst>
          </p:cNvPr>
          <p:cNvSpPr txBox="1"/>
          <p:nvPr/>
        </p:nvSpPr>
        <p:spPr>
          <a:xfrm>
            <a:off x="7703128" y="6163892"/>
            <a:ext cx="435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Expect the running balance is not below 0.</a:t>
            </a:r>
          </a:p>
        </p:txBody>
      </p:sp>
    </p:spTree>
    <p:extLst>
      <p:ext uri="{BB962C8B-B14F-4D97-AF65-F5344CB8AC3E}">
        <p14:creationId xmlns:p14="http://schemas.microsoft.com/office/powerpoint/2010/main" val="2284157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808B-D05F-E8AF-41D3-CB6235527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3" y="578716"/>
            <a:ext cx="11056598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4: Flagging suspicious large transactions...'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flag_reason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 Alert (&gt;$50K)'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'Large Transaction (&gt;$10K)'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'Medium Alert (&gt;$5K)'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flag_reason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@Step4Count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Flagged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@Step4Count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suspicious transactions'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9C17F-E716-F602-85A2-06A511A0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34" y="317843"/>
            <a:ext cx="5572903" cy="5601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1E3529-DC0B-F5C6-DDA4-593F95BC17D0}"/>
              </a:ext>
            </a:extLst>
          </p:cNvPr>
          <p:cNvSpPr txBox="1"/>
          <p:nvPr/>
        </p:nvSpPr>
        <p:spPr>
          <a:xfrm>
            <a:off x="6348933" y="6094618"/>
            <a:ext cx="549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First 30 rows for Flagging suspicious large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17806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1ED2C-1DE9-36D7-235F-74496D2B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2"/>
            <a:ext cx="5719916" cy="6039311"/>
          </a:xfrm>
        </p:spPr>
        <p:txBody>
          <a:bodyPr>
            <a:normAutofit fontScale="47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5: Calculating fee revenue by account type...'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#Step5_FeeRevenue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total_fees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fee_count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avg_fee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#Step5_FeeRevenue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total_fees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fee_count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avg_fee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'Fee'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Fee revenue calculated by account type'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B3DF2-ECEC-7C4C-4EAA-FCC0E1D56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189" y="4647240"/>
            <a:ext cx="4888805" cy="15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94AE-D8FF-F76B-EB1C-1091B7E38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216310"/>
            <a:ext cx="5683045" cy="6335009"/>
          </a:xfrm>
        </p:spPr>
        <p:txBody>
          <a:bodyPr>
            <a:normAutofit fontScale="40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6: Matching deposits to withdrawals...'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#Step6_DepositWithdrawalMatch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total_deposits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total_withdrawals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net_position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match_status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#Step6_DepositWithdrawalMatch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total_deposits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net_position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Net Deposit'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'Net Deposit'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'Balanced'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10000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'Net Withdrawal'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Net Withdrawal'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match_status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0BF25-7D4F-7573-E798-C33A3BF93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973" y="216311"/>
            <a:ext cx="4936773" cy="5711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1AF85-60AB-BD0C-A117-DC65128F613F}"/>
              </a:ext>
            </a:extLst>
          </p:cNvPr>
          <p:cNvSpPr txBox="1"/>
          <p:nvPr/>
        </p:nvSpPr>
        <p:spPr>
          <a:xfrm>
            <a:off x="6348933" y="6094618"/>
            <a:ext cx="549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First 34 rows for Matching deposits to withdrawals….</a:t>
            </a:r>
          </a:p>
        </p:txBody>
      </p:sp>
    </p:spTree>
    <p:extLst>
      <p:ext uri="{BB962C8B-B14F-4D97-AF65-F5344CB8AC3E}">
        <p14:creationId xmlns:p14="http://schemas.microsoft.com/office/powerpoint/2010/main" val="1431001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51EF7-59EE-BD82-8210-B03D48C41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57" y="480918"/>
            <a:ext cx="7219277" cy="6183443"/>
          </a:xfrm>
        </p:spPr>
        <p:txBody>
          <a:bodyPr>
            <a:normAutofit fontScale="32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7: Identifying unmatched large transactions...'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#Step7_UnmatchedLarge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issue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#Step7_UnmatchedLarge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'Large unmatched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issue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#Step6_DepositWithdrawalMatch m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net_position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0.1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Less than 10% of net position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10000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'Deposit'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'Withdrawal'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@Step7Count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#Step7_UnmatchedLarge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Identified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@Step7Count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unmatched large transactions'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72979-5A57-485B-6DA8-ED1DB42D5D4D}"/>
              </a:ext>
            </a:extLst>
          </p:cNvPr>
          <p:cNvSpPr txBox="1"/>
          <p:nvPr/>
        </p:nvSpPr>
        <p:spPr>
          <a:xfrm>
            <a:off x="7121563" y="5905948"/>
            <a:ext cx="4609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Expect there is no output in unmatched large</a:t>
            </a:r>
          </a:p>
          <a:p>
            <a:r>
              <a:rPr lang="en-AU" dirty="0"/>
              <a:t>Transactions by running this query.</a:t>
            </a:r>
          </a:p>
        </p:txBody>
      </p:sp>
    </p:spTree>
    <p:extLst>
      <p:ext uri="{BB962C8B-B14F-4D97-AF65-F5344CB8AC3E}">
        <p14:creationId xmlns:p14="http://schemas.microsoft.com/office/powerpoint/2010/main" val="4227881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9FE4-2C2F-0BD7-977B-976089E8C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685" y="117987"/>
            <a:ext cx="7434431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8: Calculate Interest Accruals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8: Calculating interest accruals...'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#Step8_InterestAccruals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interest_rate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accrued_interest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#Step8_InterestAccruals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0.0325  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-- 3.25% for Savings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'Investment'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0.0475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-- 4.75% for Investment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0.0215 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-- 2.15% for Business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0.0125                  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-- 1.25% for Checking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interest_rate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'Savings'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0.0325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'Investment'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0.0475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'Business'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0.0215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0.0125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31.0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365.0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accrued_interest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December has 31 days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#Step2_DailyBalances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@Step8Count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#Step8_InterestAccruals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Calculated interest for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@Step8Count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accounts'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B77A1-2B6C-F197-5616-F29AA11A5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047" y="117987"/>
            <a:ext cx="4508778" cy="6055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1AEBB-0EBF-8915-F671-E247989FC590}"/>
              </a:ext>
            </a:extLst>
          </p:cNvPr>
          <p:cNvSpPr txBox="1"/>
          <p:nvPr/>
        </p:nvSpPr>
        <p:spPr>
          <a:xfrm>
            <a:off x="6845047" y="6291073"/>
            <a:ext cx="511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First 30 rows displaying Interest Accruals </a:t>
            </a:r>
          </a:p>
        </p:txBody>
      </p:sp>
    </p:spTree>
    <p:extLst>
      <p:ext uri="{BB962C8B-B14F-4D97-AF65-F5344CB8AC3E}">
        <p14:creationId xmlns:p14="http://schemas.microsoft.com/office/powerpoint/2010/main" val="4068956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0682E-1446-E204-9A9D-9655101D4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09" y="291793"/>
            <a:ext cx="10515600" cy="4351338"/>
          </a:xfrm>
        </p:spPr>
        <p:txBody>
          <a:bodyPr>
            <a:normAutofit fontScale="25000" lnSpcReduction="20000"/>
          </a:bodyPr>
          <a:lstStyle/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9: Generate Variance Report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9: Generating variance report...'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#Step9_VarianceReport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calculated_closing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expected_closing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variance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variance_pct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#Step9_VarianceReport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calculated_closing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1.02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expected_closing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Expect 2% growth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1.02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variance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1.02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variance_pct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 ✓ Variance report generated'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9063F-CEA6-CA32-4370-D9C946F30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22" y="560439"/>
            <a:ext cx="4912479" cy="587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91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4B2F3-C0BE-B216-C31E-AA66D61031BF}"/>
              </a:ext>
            </a:extLst>
          </p:cNvPr>
          <p:cNvSpPr txBox="1"/>
          <p:nvPr/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December 2024 Month-End reconciliation Report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14613-EDBA-E7C3-8070-26606E85C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900">
              <a:highlight>
                <a:srgbClr val="FFFFFF"/>
              </a:highlight>
            </a:endParaRPr>
          </a:p>
          <a:p>
            <a:r>
              <a:rPr lang="en-US" sz="900">
                <a:highlight>
                  <a:srgbClr val="FFFFFF"/>
                </a:highlight>
              </a:rPr>
              <a:t>-- Executive Summary</a:t>
            </a:r>
          </a:p>
          <a:p>
            <a:r>
              <a:rPr lang="en-US" sz="900">
                <a:highlight>
                  <a:srgbClr val="FFFFFF"/>
                </a:highlight>
              </a:rPr>
              <a:t>SELECT </a:t>
            </a:r>
          </a:p>
          <a:p>
            <a:r>
              <a:rPr lang="en-US" sz="900">
                <a:highlight>
                  <a:srgbClr val="FFFFFF"/>
                </a:highlight>
              </a:rPr>
              <a:t>    'EXECUTIVE SUMMARY' AS Section,</a:t>
            </a:r>
          </a:p>
          <a:p>
            <a:r>
              <a:rPr lang="en-US" sz="900">
                <a:highlight>
                  <a:srgbClr val="FFFFFF"/>
                </a:highlight>
              </a:rPr>
              <a:t>    '' AS Metric,</a:t>
            </a:r>
          </a:p>
          <a:p>
            <a:r>
              <a:rPr lang="en-US" sz="900">
                <a:highlight>
                  <a:srgbClr val="FFFFFF"/>
                </a:highlight>
              </a:rPr>
              <a:t>    NULL AS Value,</a:t>
            </a:r>
          </a:p>
          <a:p>
            <a:r>
              <a:rPr lang="en-US" sz="900">
                <a:highlight>
                  <a:srgbClr val="FFFFFF"/>
                </a:highlight>
              </a:rPr>
              <a:t>    NULL AS Details</a:t>
            </a:r>
          </a:p>
          <a:p>
            <a:r>
              <a:rPr lang="en-US" sz="900">
                <a:highlight>
                  <a:srgbClr val="FFFFFF"/>
                </a:highlight>
              </a:rPr>
              <a:t>UNION ALL</a:t>
            </a:r>
          </a:p>
          <a:p>
            <a:r>
              <a:rPr lang="en-US" sz="900">
                <a:highlight>
                  <a:srgbClr val="FFFFFF"/>
                </a:highlight>
              </a:rPr>
              <a:t>SELECT </a:t>
            </a:r>
          </a:p>
          <a:p>
            <a:r>
              <a:rPr lang="en-US" sz="900">
                <a:highlight>
                  <a:srgbClr val="FFFFFF"/>
                </a:highlight>
              </a:rPr>
              <a:t>    '',</a:t>
            </a:r>
          </a:p>
          <a:p>
            <a:r>
              <a:rPr lang="en-US" sz="900">
                <a:highlight>
                  <a:srgbClr val="FFFFFF"/>
                </a:highlight>
              </a:rPr>
              <a:t>    'Total Accounts Processed',</a:t>
            </a:r>
          </a:p>
          <a:p>
            <a:r>
              <a:rPr lang="en-US" sz="900">
                <a:highlight>
                  <a:srgbClr val="FFFFFF"/>
                </a:highlight>
              </a:rPr>
              <a:t>    CAST(COUNT(DISTINCT a.account_id) AS NVARCHAR(20)),</a:t>
            </a:r>
          </a:p>
          <a:p>
            <a:r>
              <a:rPr lang="en-US" sz="900">
                <a:highlight>
                  <a:srgbClr val="FFFFFF"/>
                </a:highlight>
              </a:rPr>
              <a:t>    NULL</a:t>
            </a:r>
          </a:p>
          <a:p>
            <a:r>
              <a:rPr lang="en-US" sz="900">
                <a:highlight>
                  <a:srgbClr val="FFFFFF"/>
                </a:highlight>
              </a:rPr>
              <a:t>FROM accounts a</a:t>
            </a:r>
          </a:p>
          <a:p>
            <a:r>
              <a:rPr lang="en-US" sz="900">
                <a:highlight>
                  <a:srgbClr val="FFFFFF"/>
                </a:highlight>
              </a:rPr>
              <a:t>UNION ALL</a:t>
            </a:r>
          </a:p>
        </p:txBody>
      </p:sp>
    </p:spTree>
    <p:extLst>
      <p:ext uri="{BB962C8B-B14F-4D97-AF65-F5344CB8AC3E}">
        <p14:creationId xmlns:p14="http://schemas.microsoft.com/office/powerpoint/2010/main" val="4053116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93A92-B79C-7133-33DD-EC8A1D7AC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8" y="304800"/>
            <a:ext cx="7295536" cy="6420465"/>
          </a:xfrm>
        </p:spPr>
        <p:txBody>
          <a:bodyPr>
            <a:normAutofit fontScale="40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'Total Transactions'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CAST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COUNT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(*)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NVARCHAR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20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)),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#Step1_Transactions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UNION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ALL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'Total Transaction Volume'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'$'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+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FORMAT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SUM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ABS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amount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)),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'N2'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#Step1_Transactions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UNION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ALL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'Net Position Change'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'$'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+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FORMAT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SUM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amount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'N2'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),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CASE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WHEN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SUM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amount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0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THEN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'Net Inflow'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ELSE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'Net Outflow'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END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#Step1_Transactions</a:t>
            </a:r>
            <a:r>
              <a:rPr kumimoji="0" lang="en-AU" sz="3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kumimoji="0" lang="en-AU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B9414-1987-107C-0810-5FA6A7A9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60" y="5092788"/>
            <a:ext cx="4458322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8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14CD-9B10-16A9-DE69-0A61B7A3C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265471"/>
            <a:ext cx="10515600" cy="5793505"/>
          </a:xfrm>
        </p:spPr>
        <p:txBody>
          <a:bodyPr>
            <a:normAutofit fontScale="5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'ACCOUNT PERFORMANCE BY TYPE:'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TotalAccounts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AvgOpeningBalance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--FORMAT(AVG(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a.opening_balance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ISNULL(SUM(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t.amount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0)), 'C2') AS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AvgClosingBalance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CANNOT PERFORM CALCULATION ON TEMP TABLES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AvgClosingBalance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TotalDeposits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TotalWithdrawals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'RISK ALERTS:'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DD98B-6B8C-3727-8ACE-D3AD817E2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056" y="4823511"/>
            <a:ext cx="5811061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6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4D5F-24F0-4975-12A1-FAF554359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7" y="639097"/>
            <a:ext cx="4984955" cy="5537866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'Overdraft Instances'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severity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'Critical'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'Suspicious Transactions'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AlertType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flag_reason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</a:t>
            </a: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flag_reason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84C44B-8B05-DD34-4EE6-F495A6AC6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074" y="5062726"/>
            <a:ext cx="3982064" cy="542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17D837-6D8F-B78D-BFF0-613E1061B4E1}"/>
              </a:ext>
            </a:extLst>
          </p:cNvPr>
          <p:cNvSpPr txBox="1"/>
          <p:nvPr/>
        </p:nvSpPr>
        <p:spPr>
          <a:xfrm>
            <a:off x="5712542" y="4542504"/>
            <a:ext cx="419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NOTE: There are no risk alerts by severity</a:t>
            </a:r>
          </a:p>
        </p:txBody>
      </p:sp>
    </p:spTree>
    <p:extLst>
      <p:ext uri="{BB962C8B-B14F-4D97-AF65-F5344CB8AC3E}">
        <p14:creationId xmlns:p14="http://schemas.microsoft.com/office/powerpoint/2010/main" val="2115034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92787F-E2B7-319A-B4BD-91CF17E8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013"/>
            <a:ext cx="9711813" cy="5822950"/>
          </a:xfrm>
        </p:spPr>
        <p:txBody>
          <a:bodyPr>
            <a:normAutofit/>
          </a:bodyPr>
          <a:lstStyle/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'FEE REVENUE ANALYSIS:'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AccountType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total_fees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TotalFeeRevenue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fee_count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TransactionCount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avg_fee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AvgFeeAmount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#Step5_FeeRevenue</a:t>
            </a: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total_fees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9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'INTEREST ACCRUALS:'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AccountType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AccountsWithInterest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avg_balance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AvgAccountBalance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interest_rate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'N2'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'%'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InterestRate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accrued_interest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TotalAccruedInterest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#Step8_InterestAccruals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accrued_interest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5F699-7051-3C82-65B1-2A6A88AF6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03" y="1578898"/>
            <a:ext cx="3877216" cy="933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BBCC74-06D5-CCAA-3E03-F4C31F52E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106" y="4670942"/>
            <a:ext cx="5106113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17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E232-CB5D-FD71-A490-A12AB0EA8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074"/>
            <a:ext cx="6958263" cy="5767889"/>
          </a:xfrm>
        </p:spPr>
        <p:txBody>
          <a:bodyPr>
            <a:normAutofit fontScale="5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'TOP 10 ACCOUNTS BY ACTIVITY:'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TotalDeposits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ClosingBalance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0EB13-8705-4E57-892D-A23D3E1EF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831" y="4546162"/>
            <a:ext cx="5682916" cy="163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12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B9ED1-30F4-A3EF-FC7E-137BAD67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53" y="551071"/>
            <a:ext cx="6685548" cy="5755858"/>
          </a:xfrm>
        </p:spPr>
        <p:txBody>
          <a:bodyPr>
            <a:normAutofit fontScale="325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'ACCOUNTS REQUIRING ATTENTION:'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STUFF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 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flag_reason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 s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PATH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'NVARCHAR(MAX)'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Alerts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OverdraftDays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OverdraftDays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CurrentBalance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#Step1_Transactions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DISTINCT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OverdraftDays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#Step4_SuspiciousTransactions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#Step3_Overdrafts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OverdraftDays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OverdraftDays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61788-9427-E663-6182-B7438932F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2" y="242556"/>
            <a:ext cx="5133974" cy="5755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FC0840-8F54-D067-3FB0-3746C448DAE7}"/>
              </a:ext>
            </a:extLst>
          </p:cNvPr>
          <p:cNvSpPr txBox="1"/>
          <p:nvPr/>
        </p:nvSpPr>
        <p:spPr>
          <a:xfrm>
            <a:off x="6904912" y="6306929"/>
            <a:ext cx="528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36 rows of accounts that requires ATTENTION!!</a:t>
            </a:r>
          </a:p>
        </p:txBody>
      </p:sp>
    </p:spTree>
    <p:extLst>
      <p:ext uri="{BB962C8B-B14F-4D97-AF65-F5344CB8AC3E}">
        <p14:creationId xmlns:p14="http://schemas.microsoft.com/office/powerpoint/2010/main" val="3071472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5C8C-2D7D-B3AB-300F-16AF38D0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1"/>
            <a:ext cx="11353800" cy="157638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DDL: Create Global temp table #SharedAccountList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B48E-8588-9179-1E1F-F17931B5A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04606"/>
            <a:ext cx="10515600" cy="4652169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global temp table (visible to ALL sessions)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##SharedAccountList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##SharedAccountList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shared_by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'Training Session'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'Global temp table ##SharedAccountList created.'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'This table is visible to ALL sessions until the last session using it disconnects.'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##SharedAccountList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Case: Share reference data across multiple analyst sessions'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'Caution: Naming conflicts possible, use permanent tables for true shared data'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‘’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Cleanup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##SharedAccountList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Global temp table dropped'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062CA3-1B6D-CFB2-1E7C-0CF6EF5A1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1111109"/>
            <a:ext cx="4201111" cy="2019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07BA66-DB59-C225-1A4B-56E98B73E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3895444"/>
            <a:ext cx="543953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7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97797-C346-69B1-67B3-8A55CF06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AU" sz="1800">
                <a:solidFill>
                  <a:srgbClr val="FFFFFF"/>
                </a:solidFill>
              </a:rPr>
              <a:t>Stored Procedure for dbo.MonthEndReconciliation </a:t>
            </a:r>
            <a:br>
              <a:rPr lang="en-US" sz="1800">
                <a:solidFill>
                  <a:srgbClr val="FFFFFF"/>
                </a:solidFill>
              </a:rPr>
            </a:br>
            <a:endParaRPr lang="en-AU" sz="18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21D76-02AE-2699-FBE2-C31B9DD07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090" y="707923"/>
            <a:ext cx="6432721" cy="5869858"/>
          </a:xfrm>
        </p:spPr>
        <p:txBody>
          <a:bodyPr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dbo.MonthEndReconciliation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@Year INT,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@Month INT,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@ShowDetails BIT = 1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SET NOCOUNT ON;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Validate parameters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IF @Year &lt; 2020 OR @Year &gt; 2030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BEGIN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RAISERROR('Year must be between 2020 and 2030', 16, 1);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RETURN;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IF @Month &lt; 1 OR @Month &gt; 12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BEGIN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RAISERROR('Month must be between 1 and 12', 16, 1);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RETURN;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682234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F3A7-4E02-DF77-CE24-003F53068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644524"/>
            <a:ext cx="10515600" cy="6061075"/>
          </a:xfrm>
        </p:spPr>
        <p:txBody>
          <a:bodyPr>
            <a:normAutofit fontScale="32500" lnSpcReduction="20000"/>
          </a:bodyPr>
          <a:lstStyle/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Calculate date range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DATEFROMPARTS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@Year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@Month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@MonthName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'================================================================================'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'MONTH-END RECONCILIATION: 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@MonthName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@Year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'================================================================================'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Extract Transactions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amount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transaction_type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IX_Account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847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214E0-E25E-046C-2573-562828A58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03224"/>
            <a:ext cx="10515600" cy="6264275"/>
          </a:xfrm>
        </p:spPr>
        <p:txBody>
          <a:bodyPr>
            <a:normAutofit fontScale="325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@TxCount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'Extracted 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@TxCount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transactions'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Account Summary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#AccountSummary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total_deposits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total_withdrawals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net_change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#AccountSummary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66451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98B6B-AEF7-6069-FB73-19DD48D5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428624"/>
            <a:ext cx="5232400" cy="6302375"/>
          </a:xfrm>
        </p:spPr>
        <p:txBody>
          <a:bodyPr>
            <a:normAutofit fontScale="325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Final Report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'RECONCILIATION SUMMARY:'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net_change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NetChange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ClosingBalance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#AccountSummary s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Cleanup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#AccountSummary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Reconciliation completed successfully'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Test the procedure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fr-FR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r-FR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MonthEndReconciliation</a:t>
            </a:r>
            <a:r>
              <a:rPr lang="fr-FR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@Year </a:t>
            </a:r>
            <a:r>
              <a:rPr lang="fr-F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2024</a:t>
            </a:r>
            <a:r>
              <a:rPr lang="fr-F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@Month </a:t>
            </a:r>
            <a:r>
              <a:rPr lang="fr-F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</a:t>
            </a:r>
            <a:r>
              <a:rPr lang="fr-FR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fr-FR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353C4-869D-589C-17F6-929163874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428624"/>
            <a:ext cx="6476969" cy="4135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754EA-A196-8E91-7847-215FCA9996C5}"/>
              </a:ext>
            </a:extLst>
          </p:cNvPr>
          <p:cNvSpPr txBox="1"/>
          <p:nvPr/>
        </p:nvSpPr>
        <p:spPr>
          <a:xfrm>
            <a:off x="6001536" y="4760685"/>
            <a:ext cx="5936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25 rows for the Final Report: Reconciliation Summary</a:t>
            </a:r>
          </a:p>
        </p:txBody>
      </p:sp>
    </p:spTree>
    <p:extLst>
      <p:ext uri="{BB962C8B-B14F-4D97-AF65-F5344CB8AC3E}">
        <p14:creationId xmlns:p14="http://schemas.microsoft.com/office/powerpoint/2010/main" val="626618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BA4E-C5EE-F355-67EF-59B90DFA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>
            <a:normAutofit fontScale="90000"/>
          </a:bodyPr>
          <a:lstStyle/>
          <a:p>
            <a:r>
              <a:rPr lang="en-AU" dirty="0"/>
              <a:t>Temp Table for #HighValueCounts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DB287-BFB2-1C33-E10A-6CC18AB4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828" y="9112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</a:p>
          <a:p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endParaRPr lang="en-US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</a:t>
            </a: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'High Value Accounts'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TotalAccounts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MinBalance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MaxBalance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AvgBalance</a:t>
            </a:r>
            <a:endParaRPr lang="en-US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#HighValueAccounts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Exercise 1 completed'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4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4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4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4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4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F13AB-8C63-D53B-8DFD-21F71C81D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440" y="911225"/>
            <a:ext cx="3825732" cy="543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95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3DA7-55F3-675C-B142-2EF3AA06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Table Variable for Small Dataset for @TransactionSummary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3747-28F7-1046-7F1F-9CA44C04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14" y="1291770"/>
            <a:ext cx="5776686" cy="5566229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@TransactionSummary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total_amount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tx_count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@TransactionSummary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tx_count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'2025-01-01'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tx_count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TotalAmount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@TransactionSummary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tx_count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tx_count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Exercise 2 completed'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C5C47-06CF-785B-890B-A96E9472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743" y="130629"/>
            <a:ext cx="3193143" cy="6023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53EF18-8F41-04C1-E7D7-097EC0E1DF9C}"/>
              </a:ext>
            </a:extLst>
          </p:cNvPr>
          <p:cNvSpPr txBox="1"/>
          <p:nvPr/>
        </p:nvSpPr>
        <p:spPr>
          <a:xfrm>
            <a:off x="7885443" y="6308209"/>
            <a:ext cx="419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41 Rows for @TransactionSummary</a:t>
            </a:r>
          </a:p>
        </p:txBody>
      </p:sp>
    </p:spTree>
    <p:extLst>
      <p:ext uri="{BB962C8B-B14F-4D97-AF65-F5344CB8AC3E}">
        <p14:creationId xmlns:p14="http://schemas.microsoft.com/office/powerpoint/2010/main" val="4000175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68FB-F178-BC33-B8FE-A9A564F4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Temp Table for #AllTransactions and #DailyTotals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7310-1427-D3A3-23A1-2A947FFC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149350"/>
            <a:ext cx="6705600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Extract December transactions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#AllTransactions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'2024-12-01'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'2025-01-01'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Making some changes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PRINT 'Step 1: Extracted ' + CAST((SELECT COUNT(*) FROM #AllTransactions) AS NVARCHAR(10)) + ' transactions';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@Step1Count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@Step1Count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1: Extracted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@Step1Count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transactions'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A8F3A-0BEE-14F9-A5E6-EC2FD951A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78" y="1082675"/>
            <a:ext cx="2117921" cy="541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0A19F-0023-E60E-04C8-6CDC5AFF63F1}"/>
              </a:ext>
            </a:extLst>
          </p:cNvPr>
          <p:cNvSpPr txBox="1"/>
          <p:nvPr/>
        </p:nvSpPr>
        <p:spPr>
          <a:xfrm>
            <a:off x="114300" y="5915581"/>
            <a:ext cx="925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Here were showing the first 41 rows containing All Transactions occurring in 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03685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D9DB-2BA6-D054-7B49-915027DD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0975"/>
            <a:ext cx="6857999" cy="6347024"/>
          </a:xfrm>
        </p:spPr>
        <p:txBody>
          <a:bodyPr>
            <a:normAutofit fontScale="40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Create daily totals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#DailyTotals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daily_deposits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daily_withdrawals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daily_net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transaction_count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#DailyTotals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#AllTransactions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--Modify this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--PRINT 'Step 2: Aggregated into ' + CAST((SELECT COUNT(*) FROM #DailyTotals) AS NVARCHAR(10)) + ' daily records';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@DailyCount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@DailyCount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#DailyTotals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2: Aggregated into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@DailyCount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daily records'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9AD40-60F0-2965-53DA-483A8E51F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75" y="1343582"/>
            <a:ext cx="4977176" cy="4176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B69A14-5F9E-3E0D-9A95-1B19F7865D61}"/>
              </a:ext>
            </a:extLst>
          </p:cNvPr>
          <p:cNvSpPr txBox="1"/>
          <p:nvPr/>
        </p:nvSpPr>
        <p:spPr>
          <a:xfrm>
            <a:off x="6934200" y="5604669"/>
            <a:ext cx="4645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23 rows, containing Daily Totals, from </a:t>
            </a:r>
          </a:p>
          <a:p>
            <a:r>
              <a:rPr lang="en-AU" dirty="0"/>
              <a:t>December 2024, daily deposits, withdrawals,</a:t>
            </a:r>
          </a:p>
          <a:p>
            <a:r>
              <a:rPr lang="en-AU" dirty="0"/>
              <a:t>daily net, transaction count </a:t>
            </a:r>
          </a:p>
        </p:txBody>
      </p:sp>
    </p:spTree>
    <p:extLst>
      <p:ext uri="{BB962C8B-B14F-4D97-AF65-F5344CB8AC3E}">
        <p14:creationId xmlns:p14="http://schemas.microsoft.com/office/powerpoint/2010/main" val="2487956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0501-4225-1C04-2BA4-8DD93400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520700"/>
            <a:ext cx="5800725" cy="4351338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3: Show daily trends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'Step 3: Daily Transaction Trends:'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daily_net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NetChange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transaction_count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TxCount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#DailyTotals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750CA-7B30-3493-D095-F48A1F50B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92" y="280578"/>
            <a:ext cx="3696216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07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006F-CF29-040C-0EB2-964825BF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0"/>
            <a:ext cx="9220200" cy="1325563"/>
          </a:xfrm>
        </p:spPr>
        <p:txBody>
          <a:bodyPr/>
          <a:lstStyle/>
          <a:p>
            <a:r>
              <a:rPr lang="en-AU" dirty="0"/>
              <a:t>Temp Table with All Transactions, #AllTx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B808-3FFB-4DC7-E294-E4117206C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751681"/>
            <a:ext cx="59055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Create temp table with all transactions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#AllTx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#AllTx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--PRINT 'Temp table created with ' + CAST((SELECT COUNT(*) FROM #AllTx) AS NVARCHAR(10)) + ' records';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Modifying.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@Cnt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#AllTx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'Temp table created with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@Cnt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records'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Query for specific account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@TestAccountID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'Querying transactions for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@TestAccountID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'Credit'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'Debit'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#AllTx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@TestAccountID</a:t>
            </a: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111B4-92A1-64B6-72BE-EBE3A6A14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920" y="129381"/>
            <a:ext cx="2123543" cy="5810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C0BA6E-82E6-1102-90E7-7EE366D05A47}"/>
              </a:ext>
            </a:extLst>
          </p:cNvPr>
          <p:cNvSpPr txBox="1"/>
          <p:nvPr/>
        </p:nvSpPr>
        <p:spPr>
          <a:xfrm>
            <a:off x="7866842" y="6029325"/>
            <a:ext cx="432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First 40 rows for All Transactions for #AllTx</a:t>
            </a:r>
          </a:p>
        </p:txBody>
      </p:sp>
    </p:spTree>
    <p:extLst>
      <p:ext uri="{BB962C8B-B14F-4D97-AF65-F5344CB8AC3E}">
        <p14:creationId xmlns:p14="http://schemas.microsoft.com/office/powerpoint/2010/main" val="441955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527E3-5320-0E87-1B6C-4DA42652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 for dbo.QuarterlyReconciliation </a:t>
            </a:r>
            <a:br>
              <a:rPr lang="en-US" sz="2100">
                <a:solidFill>
                  <a:srgbClr val="FFFFFF"/>
                </a:solidFill>
              </a:rPr>
            </a:br>
            <a:endParaRPr lang="en-AU" sz="2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61D5-C626-9C3B-B997-F2D19CE6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300" y="543265"/>
            <a:ext cx="6678526" cy="6201664"/>
          </a:xfrm>
        </p:spPr>
        <p:txBody>
          <a:bodyPr>
            <a:normAutofit/>
          </a:bodyPr>
          <a:lstStyle/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dbo.QuarterlyReconciliation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@Year INT,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@Quarter INT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SET NOCOUNT ON;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Validate inputs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IF @Quarter NOT IN (1, 2, 3, 4)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BEGIN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RAISERROR('Quarter must be 1, 2, 3, or 4', 16, 1);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RETURN;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Calculate quarter start and 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DECLARE @StartMonth INT = (@Quarter - 1) * 3 + 1;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DECLARE @StartDate DATE = DATEFROMPARTS(@Year, @StartMonth, 1);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DECLARE @EndDate DATE = DATEADD(MONTH, 3, @StartDate);</a:t>
            </a: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692688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71912-94E0-C242-ACD9-09D855CDF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425"/>
            <a:ext cx="10515600" cy="5824538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'================================================================================'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'QUARTERLY RECONCILIATION: Q'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@Quarter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@Year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'Period: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to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120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'================================================================================'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1: Extract quarter transactions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#QuarterTransactions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#QuarterTransactions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IX_Account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Step 2: Calculate quarterly 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quarter_deposits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quarter_withdrawals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10172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1FE8-B339-EFB0-10BE-3E286D8B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987425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#QuarterTransactions 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Final report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'QUARTERLY SUMMARY BY ACCOUNT:'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AccountType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NetChange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 q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 a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9328348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FE275-F465-D42D-671D-5FDC2F47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368300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'QUARTERLY TOTALS:'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'Total Accounts'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Metric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'N0'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'Total Deposits'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quarter_deposits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'Total Withdrawals'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quarter_withdrawals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ALL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'Net Portfolio Change'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closing_balance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'C2'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Cleanup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#QuarterTransactions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#QuarterlySummary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Quarterly reconciliation completed successfully'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2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292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7B494-A5A8-4E4B-E1C1-C6019DE15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692150"/>
            <a:ext cx="4552950" cy="4351338"/>
          </a:xfrm>
        </p:spPr>
        <p:txBody>
          <a:bodyPr>
            <a:normAutofit/>
          </a:bodyPr>
          <a:lstStyle/>
          <a:p>
            <a:r>
              <a:rPr lang="en-AU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Stored procedure </a:t>
            </a:r>
            <a:r>
              <a:rPr lang="en-AU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dbo.QuarterlyReconciliation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created'</a:t>
            </a:r>
            <a:r>
              <a:rPr lang="en-AU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Test the procedure for Q4 2024</a:t>
            </a:r>
          </a:p>
          <a:p>
            <a:r>
              <a:rPr lang="en-AU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 </a:t>
            </a:r>
            <a:r>
              <a:rPr lang="en-AU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QuarterlyReconciliation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 Q4 2024:'</a:t>
            </a:r>
            <a:r>
              <a:rPr lang="en-AU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fr-F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fr-FR" sz="1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QuarterlyReconciliation</a:t>
            </a:r>
            <a:r>
              <a:rPr lang="fr-F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@Year </a:t>
            </a:r>
            <a:r>
              <a:rPr lang="fr-FR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2024</a:t>
            </a:r>
            <a:r>
              <a:rPr lang="fr-FR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@Quarter </a:t>
            </a:r>
            <a:r>
              <a:rPr lang="fr-FR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4</a:t>
            </a:r>
            <a:r>
              <a:rPr lang="fr-FR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400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8C4B6-FBC8-A5F6-36D4-0D85D734F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1117429"/>
            <a:ext cx="6657975" cy="231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18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E0FB-8C88-D01E-2474-AC247C25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Scenario 1: Small Dataset, single use -&gt; Table Variable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0663-0AD6-FABC-04A6-04CB7A56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5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'Scenario 1: Quick lookup list (20 account IDs) → TABLE VARIABLE'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@AccountList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@AccountList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13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34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@AccountList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Table variable perfect for small, temporary lists'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70ADC-BFC4-DE30-47E4-494B81802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055" y="5569533"/>
            <a:ext cx="2715745" cy="10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68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71A8-B354-BBD1-EB35-44A63DE8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Scenario 2: Large Dataset, multiple steps -&gt; Temp Table 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EF1DF-9878-52DD-370E-E04301E87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'Scenario 2: Process 15,000 transactions → TEMP TABLE'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#LargeProcess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amount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#LargeProcess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IX_Amount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#LargeProcess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Can add index!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RecordCount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#LargeProcess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#LargeProcess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Temp table with index for large datasets'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60376-C5E9-919F-2F4F-AA824094B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711" y="5174816"/>
            <a:ext cx="2706317" cy="8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17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8CD9-D3A2-6E54-539D-E6E5267A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Scenario 3: Single query readability -&gt; CTE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99E64-8A1C-AAB9-43DC-92DFE35F2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" y="1343844"/>
            <a:ext cx="8718755" cy="4351338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'Scenario 3: Readable one-time ranking query → CTE'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AccountRanking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account_number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opening_balance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BalanceRank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accounts</a:t>
            </a: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AccountRanking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BalanceRank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'✓ CTE perfect for single-query readability'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31487-FD25-09E8-1801-FA131F900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391" y="5344884"/>
            <a:ext cx="4220164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97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8842</Words>
  <Application>Microsoft Office PowerPoint</Application>
  <PresentationFormat>Widescreen</PresentationFormat>
  <Paragraphs>1210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Cascadia Mono</vt:lpstr>
      <vt:lpstr>Office Theme</vt:lpstr>
      <vt:lpstr>1_Office Theme</vt:lpstr>
      <vt:lpstr>NAB Banking Month-End Reconciliation SQL Project </vt:lpstr>
      <vt:lpstr>Requirements </vt:lpstr>
      <vt:lpstr>Content </vt:lpstr>
      <vt:lpstr>Create a fresh database for NAB Banking </vt:lpstr>
      <vt:lpstr>DDL: Create table for accounts, transactions  </vt:lpstr>
      <vt:lpstr>DDL: Create indexes for performance  </vt:lpstr>
      <vt:lpstr>DML: Inserts values for accounts and transactions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DQL: Validation Check  </vt:lpstr>
      <vt:lpstr>Temp table for #HighValueAccounts  </vt:lpstr>
      <vt:lpstr>PowerPoint Presentation</vt:lpstr>
      <vt:lpstr>PowerPoint Presentation</vt:lpstr>
      <vt:lpstr>Temp table with Indexes for #DecemberTransactions </vt:lpstr>
      <vt:lpstr>PowerPoint Presentation</vt:lpstr>
      <vt:lpstr>Temp table for #QuickTemp </vt:lpstr>
      <vt:lpstr>Temp table for @AccountSummary  </vt:lpstr>
      <vt:lpstr>PowerPoint Presentation</vt:lpstr>
      <vt:lpstr>Temp table for @BatchTest and #SessionTest </vt:lpstr>
      <vt:lpstr>Month-End Reconciliation Workflow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DDL: Create Global temp table #SharedAccountList </vt:lpstr>
      <vt:lpstr>Stored Procedure for dbo.MonthEndReconciliation  </vt:lpstr>
      <vt:lpstr>PowerPoint Presentation</vt:lpstr>
      <vt:lpstr>PowerPoint Presentation</vt:lpstr>
      <vt:lpstr>PowerPoint Presentation</vt:lpstr>
      <vt:lpstr>Temp Table for #HighValueCounts </vt:lpstr>
      <vt:lpstr>Table Variable for Small Dataset for @TransactionSummary </vt:lpstr>
      <vt:lpstr>Temp Table for #AllTransactions and #DailyTotals </vt:lpstr>
      <vt:lpstr>PowerPoint Presentation</vt:lpstr>
      <vt:lpstr>PowerPoint Presentation</vt:lpstr>
      <vt:lpstr>Temp Table with All Transactions, #AllTx </vt:lpstr>
      <vt:lpstr>Stored Procedure for dbo.QuarterlyReconciliation  </vt:lpstr>
      <vt:lpstr>PowerPoint Presentation</vt:lpstr>
      <vt:lpstr>PowerPoint Presentation</vt:lpstr>
      <vt:lpstr>PowerPoint Presentation</vt:lpstr>
      <vt:lpstr>PowerPoint Presentation</vt:lpstr>
      <vt:lpstr>Scenario 1: Small Dataset, single use -&gt; Table Variable  </vt:lpstr>
      <vt:lpstr>Scenario 2: Large Dataset, multiple steps -&gt; Temp Table  </vt:lpstr>
      <vt:lpstr>Scenario 3: Single query readability -&gt; CTE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73</cp:revision>
  <dcterms:created xsi:type="dcterms:W3CDTF">2026-03-19T23:06:35Z</dcterms:created>
  <dcterms:modified xsi:type="dcterms:W3CDTF">2026-03-22T13:17:29Z</dcterms:modified>
</cp:coreProperties>
</file>