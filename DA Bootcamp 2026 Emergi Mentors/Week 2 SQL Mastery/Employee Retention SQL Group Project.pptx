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63" r:id="rId28"/>
    <p:sldId id="284" r:id="rId29"/>
    <p:sldId id="283" r:id="rId30"/>
    <p:sldId id="285" r:id="rId31"/>
    <p:sldId id="286" r:id="rId32"/>
    <p:sldId id="287" r:id="rId33"/>
    <p:sldId id="296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16" r:id="rId50"/>
    <p:sldId id="304" r:id="rId51"/>
    <p:sldId id="305" r:id="rId52"/>
    <p:sldId id="306" r:id="rId53"/>
    <p:sldId id="307" r:id="rId54"/>
    <p:sldId id="308" r:id="rId55"/>
    <p:sldId id="309" r:id="rId56"/>
    <p:sldId id="310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>
      <p:cViewPr varScale="1">
        <p:scale>
          <a:sx n="97" d="100"/>
          <a:sy n="97" d="100"/>
        </p:scale>
        <p:origin x="54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hyperlink" Target="https://github.com/Mikele02171/Main-Stuff/tree/main/DA%20Bootcamp%202026%20Emergi%20Mentors/Week%202%20SQL%20Mastery/Team_SQL_EmployeeRetention" TargetMode="External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hyperlink" Target="https://github.com/Mikele02171/Main-Stuff/tree/main/DA%20Bootcamp%202026%20Emergi%20Mentors/Week%202%20SQL%20Mastery/Team_SQL_EmployeeRetentio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200" dirty="0"/>
            <a:t>Install and Download SQL Server Express (2022,or 2025 (much preferred)) from Microsoft</a:t>
          </a:r>
          <a:endParaRPr lang="en-US" sz="1200" dirty="0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>
              <a:solidFill>
                <a:schemeClr val="tx1"/>
              </a:solidFill>
            </a:rPr>
            <a:t>Files and sources from my repository: </a:t>
          </a:r>
          <a:endParaRPr lang="en-US" b="1" dirty="0">
            <a:solidFill>
              <a:schemeClr val="tx1"/>
            </a:solidFill>
          </a:endParaRPr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Main-Stuff/DA Bootcamp 2026 </a:t>
          </a:r>
          <a:r>
            <a:rPr lang="en-US" dirty="0" err="1">
              <a:hlinkClick xmlns:r="http://schemas.openxmlformats.org/officeDocument/2006/relationships" r:id="rId1"/>
            </a:rPr>
            <a:t>Emergi</a:t>
          </a:r>
          <a:r>
            <a:rPr lang="en-US" dirty="0">
              <a:hlinkClick xmlns:r="http://schemas.openxmlformats.org/officeDocument/2006/relationships" r:id="rId1"/>
            </a:rPr>
            <a:t> Mentors/Week 2 SQL Mastery/</a:t>
          </a:r>
          <a:r>
            <a:rPr lang="en-US" dirty="0" err="1">
              <a:hlinkClick xmlns:r="http://schemas.openxmlformats.org/officeDocument/2006/relationships" r:id="rId1"/>
            </a:rPr>
            <a:t>Team_SQL_EmployeeRetention</a:t>
          </a:r>
          <a:r>
            <a:rPr lang="en-US" dirty="0">
              <a:hlinkClick xmlns:r="http://schemas.openxmlformats.org/officeDocument/2006/relationships" r:id="rId1"/>
            </a:rPr>
            <a:t> at main · Mikele02171/Main-Stuff</a:t>
          </a:r>
          <a:endParaRPr lang="en-US" dirty="0">
            <a:solidFill>
              <a:schemeClr val="tx1"/>
            </a:solidFill>
          </a:endParaRPr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AAC4A40C-362E-4E72-A993-A059AA1EDD31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B4D5E328-5B52-4ABC-8892-A52C8F1AF75A}" type="pres">
      <dgm:prSet presAssocID="{43C33F76-3D70-4B11-80F0-84B084E1D71A}" presName="compNode" presStyleCnt="0"/>
      <dgm:spPr/>
    </dgm:pt>
    <dgm:pt modelId="{87596383-4D59-43A0-92D3-987C569AA954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D0FCC5B-185C-4BCC-80EC-612CFEC186D5}" type="pres">
      <dgm:prSet presAssocID="{43C33F76-3D70-4B11-80F0-84B084E1D71A}" presName="spaceRect" presStyleCnt="0"/>
      <dgm:spPr/>
    </dgm:pt>
    <dgm:pt modelId="{84DFB61A-4F72-4364-B3B3-583C6D92CDFC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59E9F9DD-BFB2-43DC-9853-0F87EA4BA5C6}" type="pres">
      <dgm:prSet presAssocID="{C4062C67-7DA8-4541-82B0-22989C32C653}" presName="sibTrans" presStyleCnt="0"/>
      <dgm:spPr/>
    </dgm:pt>
    <dgm:pt modelId="{7097866B-E68E-45A9-A65D-AEEAF165D75E}" type="pres">
      <dgm:prSet presAssocID="{34F193AB-67D7-4756-9D40-78E054E96E52}" presName="compNode" presStyleCnt="0"/>
      <dgm:spPr/>
    </dgm:pt>
    <dgm:pt modelId="{76D98688-242E-4601-92F7-014494BED513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E9EF951-DA63-4BA4-B97E-B8009527DE25}" type="pres">
      <dgm:prSet presAssocID="{34F193AB-67D7-4756-9D40-78E054E96E52}" presName="spaceRect" presStyleCnt="0"/>
      <dgm:spPr/>
    </dgm:pt>
    <dgm:pt modelId="{052CAD20-4F30-4FD5-8282-32F820B38E6A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7D3534FE-8BFE-4B79-9DD0-F46710AFAC7F}" type="pres">
      <dgm:prSet presAssocID="{EED8082F-719D-4844-AD66-AD823CF67E89}" presName="sibTrans" presStyleCnt="0"/>
      <dgm:spPr/>
    </dgm:pt>
    <dgm:pt modelId="{285DA802-079C-4257-9DD8-4433516C6FB2}" type="pres">
      <dgm:prSet presAssocID="{26AEFD03-D657-4F3C-8BB9-5541B90D4C9A}" presName="compNode" presStyleCnt="0"/>
      <dgm:spPr/>
    </dgm:pt>
    <dgm:pt modelId="{91FC0951-73EA-4668-B2BE-91930015E203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96D212-B9F3-45B1-B907-59C7CD80DC57}" type="pres">
      <dgm:prSet presAssocID="{26AEFD03-D657-4F3C-8BB9-5541B90D4C9A}" presName="spaceRect" presStyleCnt="0"/>
      <dgm:spPr/>
    </dgm:pt>
    <dgm:pt modelId="{E905FAB9-80AA-4185-8D1A-98CE80BAFBFD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7221C1F-D6B2-4E15-8709-7074467265CE}" type="presOf" srcId="{26AEFD03-D657-4F3C-8BB9-5541B90D4C9A}" destId="{E905FAB9-80AA-4185-8D1A-98CE80BAFBFD}" srcOrd="0" destOrd="0" presId="urn:microsoft.com/office/officeart/2018/2/layout/IconLabelList"/>
    <dgm:cxn modelId="{A130652C-3A1D-4071-B234-E4B159C183CD}" type="presOf" srcId="{575EADC8-57D0-42AB-9186-7EC204963A93}" destId="{AAC4A40C-362E-4E72-A993-A059AA1EDD31}" srcOrd="0" destOrd="0" presId="urn:microsoft.com/office/officeart/2018/2/layout/IconLabelList"/>
    <dgm:cxn modelId="{A39BE636-54F2-4329-A3E5-DE8324576181}" type="presOf" srcId="{43C33F76-3D70-4B11-80F0-84B084E1D71A}" destId="{84DFB61A-4F72-4364-B3B3-583C6D92CDFC}" srcOrd="0" destOrd="0" presId="urn:microsoft.com/office/officeart/2018/2/layout/Icon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09C610D6-0F49-4AB1-9DDE-83709F3974CF}" type="presOf" srcId="{34F193AB-67D7-4756-9D40-78E054E96E52}" destId="{052CAD20-4F30-4FD5-8282-32F820B38E6A}" srcOrd="0" destOrd="0" presId="urn:microsoft.com/office/officeart/2018/2/layout/IconLabelList"/>
    <dgm:cxn modelId="{39C0E52A-2771-40F6-9C04-CBD1ACC5BC24}" type="presParOf" srcId="{AAC4A40C-362E-4E72-A993-A059AA1EDD31}" destId="{B4D5E328-5B52-4ABC-8892-A52C8F1AF75A}" srcOrd="0" destOrd="0" presId="urn:microsoft.com/office/officeart/2018/2/layout/IconLabelList"/>
    <dgm:cxn modelId="{F79D7638-7ED3-4BCF-9F58-5B9D5BB273AE}" type="presParOf" srcId="{B4D5E328-5B52-4ABC-8892-A52C8F1AF75A}" destId="{87596383-4D59-43A0-92D3-987C569AA954}" srcOrd="0" destOrd="0" presId="urn:microsoft.com/office/officeart/2018/2/layout/IconLabelList"/>
    <dgm:cxn modelId="{3FF77B18-18A7-4EDE-9903-75641D50EF47}" type="presParOf" srcId="{B4D5E328-5B52-4ABC-8892-A52C8F1AF75A}" destId="{7D0FCC5B-185C-4BCC-80EC-612CFEC186D5}" srcOrd="1" destOrd="0" presId="urn:microsoft.com/office/officeart/2018/2/layout/IconLabelList"/>
    <dgm:cxn modelId="{42D9F4E8-AC6F-4900-A534-E5520DB33CDD}" type="presParOf" srcId="{B4D5E328-5B52-4ABC-8892-A52C8F1AF75A}" destId="{84DFB61A-4F72-4364-B3B3-583C6D92CDFC}" srcOrd="2" destOrd="0" presId="urn:microsoft.com/office/officeart/2018/2/layout/IconLabelList"/>
    <dgm:cxn modelId="{B5103F05-2081-4552-8F78-24F394F7E956}" type="presParOf" srcId="{AAC4A40C-362E-4E72-A993-A059AA1EDD31}" destId="{59E9F9DD-BFB2-43DC-9853-0F87EA4BA5C6}" srcOrd="1" destOrd="0" presId="urn:microsoft.com/office/officeart/2018/2/layout/IconLabelList"/>
    <dgm:cxn modelId="{1EEE698F-A0FF-4EAE-944F-49FE00F5AEEF}" type="presParOf" srcId="{AAC4A40C-362E-4E72-A993-A059AA1EDD31}" destId="{7097866B-E68E-45A9-A65D-AEEAF165D75E}" srcOrd="2" destOrd="0" presId="urn:microsoft.com/office/officeart/2018/2/layout/IconLabelList"/>
    <dgm:cxn modelId="{9F1F574D-E383-48AF-A6FF-C40AD56A3478}" type="presParOf" srcId="{7097866B-E68E-45A9-A65D-AEEAF165D75E}" destId="{76D98688-242E-4601-92F7-014494BED513}" srcOrd="0" destOrd="0" presId="urn:microsoft.com/office/officeart/2018/2/layout/IconLabelList"/>
    <dgm:cxn modelId="{CE68AA40-973E-48A2-A0D8-E71C079E27B6}" type="presParOf" srcId="{7097866B-E68E-45A9-A65D-AEEAF165D75E}" destId="{4E9EF951-DA63-4BA4-B97E-B8009527DE25}" srcOrd="1" destOrd="0" presId="urn:microsoft.com/office/officeart/2018/2/layout/IconLabelList"/>
    <dgm:cxn modelId="{61DF6713-D727-4862-808C-6BA996D932C8}" type="presParOf" srcId="{7097866B-E68E-45A9-A65D-AEEAF165D75E}" destId="{052CAD20-4F30-4FD5-8282-32F820B38E6A}" srcOrd="2" destOrd="0" presId="urn:microsoft.com/office/officeart/2018/2/layout/IconLabelList"/>
    <dgm:cxn modelId="{F0F9FFDA-6C01-4020-B527-31B4DECE2939}" type="presParOf" srcId="{AAC4A40C-362E-4E72-A993-A059AA1EDD31}" destId="{7D3534FE-8BFE-4B79-9DD0-F46710AFAC7F}" srcOrd="3" destOrd="0" presId="urn:microsoft.com/office/officeart/2018/2/layout/IconLabelList"/>
    <dgm:cxn modelId="{2A5AD0F0-6B40-49C6-AFC6-096795D9FB65}" type="presParOf" srcId="{AAC4A40C-362E-4E72-A993-A059AA1EDD31}" destId="{285DA802-079C-4257-9DD8-4433516C6FB2}" srcOrd="4" destOrd="0" presId="urn:microsoft.com/office/officeart/2018/2/layout/IconLabelList"/>
    <dgm:cxn modelId="{18CFC281-7DD4-4567-8496-1F9D20138969}" type="presParOf" srcId="{285DA802-079C-4257-9DD8-4433516C6FB2}" destId="{91FC0951-73EA-4668-B2BE-91930015E203}" srcOrd="0" destOrd="0" presId="urn:microsoft.com/office/officeart/2018/2/layout/IconLabelList"/>
    <dgm:cxn modelId="{F147CA45-7A5A-4046-A31E-1D45E1F58570}" type="presParOf" srcId="{285DA802-079C-4257-9DD8-4433516C6FB2}" destId="{6796D212-B9F3-45B1-B907-59C7CD80DC57}" srcOrd="1" destOrd="0" presId="urn:microsoft.com/office/officeart/2018/2/layout/IconLabelList"/>
    <dgm:cxn modelId="{76623304-9043-491E-B8C7-E09C0F65E04F}" type="presParOf" srcId="{285DA802-079C-4257-9DD8-4433516C6FB2}" destId="{E905FAB9-80AA-4185-8D1A-98CE80BAFB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720C6F-1861-443D-B275-8F8554798C73}" type="doc">
      <dgm:prSet loTypeId="urn:microsoft.com/office/officeart/2005/8/layout/vProcess5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D6530B9-6400-4827-8182-2713C8D68A32}">
      <dgm:prSet/>
      <dgm:spPr/>
      <dgm:t>
        <a:bodyPr/>
        <a:lstStyle/>
        <a:p>
          <a:r>
            <a:rPr lang="en-AU" dirty="0"/>
            <a:t>Setup Database and Schemas </a:t>
          </a:r>
          <a:endParaRPr lang="en-US" dirty="0"/>
        </a:p>
      </dgm:t>
    </dgm:pt>
    <dgm:pt modelId="{3CE7F288-D2CF-471A-A7AA-4E235F0B9FF8}" type="parTrans" cxnId="{DFAFC425-8B01-406B-9BDA-B813E633F02B}">
      <dgm:prSet/>
      <dgm:spPr/>
      <dgm:t>
        <a:bodyPr/>
        <a:lstStyle/>
        <a:p>
          <a:endParaRPr lang="en-US"/>
        </a:p>
      </dgm:t>
    </dgm:pt>
    <dgm:pt modelId="{789BC083-92DD-45C6-AD27-48584E8E6FE2}" type="sibTrans" cxnId="{DFAFC425-8B01-406B-9BDA-B813E633F02B}">
      <dgm:prSet/>
      <dgm:spPr>
        <a:solidFill>
          <a:srgbClr val="FF0000">
            <a:alpha val="90000"/>
          </a:srgbClr>
        </a:solidFill>
      </dgm:spPr>
      <dgm:t>
        <a:bodyPr/>
        <a:lstStyle/>
        <a:p>
          <a:endParaRPr lang="en-US"/>
        </a:p>
      </dgm:t>
    </dgm:pt>
    <dgm:pt modelId="{EB48F0F4-3DC1-4EDF-BCD1-502D8E13889F}">
      <dgm:prSet/>
      <dgm:spPr>
        <a:solidFill>
          <a:srgbClr val="CC6600"/>
        </a:solidFill>
      </dgm:spPr>
      <dgm:t>
        <a:bodyPr/>
        <a:lstStyle/>
        <a:p>
          <a:r>
            <a:rPr lang="en-AU" dirty="0"/>
            <a:t>Bronze Layer</a:t>
          </a:r>
          <a:endParaRPr lang="en-US" dirty="0"/>
        </a:p>
      </dgm:t>
    </dgm:pt>
    <dgm:pt modelId="{AD9C486D-7214-4B79-AAB3-02EA39877DD9}" type="parTrans" cxnId="{885CDDD3-FF1F-4D46-B712-8EDD42239992}">
      <dgm:prSet/>
      <dgm:spPr/>
      <dgm:t>
        <a:bodyPr/>
        <a:lstStyle/>
        <a:p>
          <a:endParaRPr lang="en-US"/>
        </a:p>
      </dgm:t>
    </dgm:pt>
    <dgm:pt modelId="{D3A9AB79-14C3-4409-9917-CFB8D007FB97}" type="sibTrans" cxnId="{885CDDD3-FF1F-4D46-B712-8EDD42239992}">
      <dgm:prSet/>
      <dgm:spPr>
        <a:solidFill>
          <a:srgbClr val="FF0000">
            <a:alpha val="90000"/>
          </a:srgbClr>
        </a:solidFill>
      </dgm:spPr>
      <dgm:t>
        <a:bodyPr/>
        <a:lstStyle/>
        <a:p>
          <a:endParaRPr lang="en-US"/>
        </a:p>
      </dgm:t>
    </dgm:pt>
    <dgm:pt modelId="{5AB47154-2D52-411F-B186-A3D7EA80B079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AU"/>
            <a:t>Silver Layer </a:t>
          </a:r>
          <a:endParaRPr lang="en-US"/>
        </a:p>
      </dgm:t>
    </dgm:pt>
    <dgm:pt modelId="{C4886773-D8A9-4B56-83BE-272950669FF2}" type="parTrans" cxnId="{C0CE2B1B-E18A-4232-B7AA-56EB535449F9}">
      <dgm:prSet/>
      <dgm:spPr/>
      <dgm:t>
        <a:bodyPr/>
        <a:lstStyle/>
        <a:p>
          <a:endParaRPr lang="en-US"/>
        </a:p>
      </dgm:t>
    </dgm:pt>
    <dgm:pt modelId="{C143BDB0-8B0D-4153-9163-9E766E5F6F5A}" type="sibTrans" cxnId="{C0CE2B1B-E18A-4232-B7AA-56EB535449F9}">
      <dgm:prSet/>
      <dgm:spPr>
        <a:solidFill>
          <a:srgbClr val="FF0000">
            <a:alpha val="90000"/>
          </a:srgbClr>
        </a:solidFill>
      </dgm:spPr>
      <dgm:t>
        <a:bodyPr/>
        <a:lstStyle/>
        <a:p>
          <a:endParaRPr lang="en-US"/>
        </a:p>
      </dgm:t>
    </dgm:pt>
    <dgm:pt modelId="{985A3953-93AE-4F18-AB8D-B92DAEADB560}">
      <dgm:prSet/>
      <dgm:spPr>
        <a:solidFill>
          <a:srgbClr val="FFC000"/>
        </a:solidFill>
      </dgm:spPr>
      <dgm:t>
        <a:bodyPr/>
        <a:lstStyle/>
        <a:p>
          <a:r>
            <a:rPr lang="en-AU"/>
            <a:t>Golden Layer</a:t>
          </a:r>
          <a:endParaRPr lang="en-US"/>
        </a:p>
      </dgm:t>
    </dgm:pt>
    <dgm:pt modelId="{660D1BBB-9DAF-4904-87A2-31538EF16472}" type="parTrans" cxnId="{2CF658FF-F90E-40EE-973B-0E42B980BF9A}">
      <dgm:prSet/>
      <dgm:spPr/>
      <dgm:t>
        <a:bodyPr/>
        <a:lstStyle/>
        <a:p>
          <a:endParaRPr lang="en-US"/>
        </a:p>
      </dgm:t>
    </dgm:pt>
    <dgm:pt modelId="{CE647F5C-E877-4178-8DEE-0D4968F07E07}" type="sibTrans" cxnId="{2CF658FF-F90E-40EE-973B-0E42B980BF9A}">
      <dgm:prSet/>
      <dgm:spPr>
        <a:solidFill>
          <a:srgbClr val="FF0000">
            <a:alpha val="90000"/>
          </a:srgbClr>
        </a:solidFill>
      </dgm:spPr>
      <dgm:t>
        <a:bodyPr/>
        <a:lstStyle/>
        <a:p>
          <a:endParaRPr lang="en-US"/>
        </a:p>
      </dgm:t>
    </dgm:pt>
    <dgm:pt modelId="{B741DF84-8636-4A53-857C-F4C5BADE7420}">
      <dgm:prSet/>
      <dgm:spPr>
        <a:solidFill>
          <a:srgbClr val="92D050"/>
        </a:solidFill>
      </dgm:spPr>
      <dgm:t>
        <a:bodyPr/>
        <a:lstStyle/>
        <a:p>
          <a:r>
            <a:rPr lang="en-AU"/>
            <a:t>Results</a:t>
          </a:r>
          <a:endParaRPr lang="en-US"/>
        </a:p>
      </dgm:t>
    </dgm:pt>
    <dgm:pt modelId="{60CAA2A3-CFA1-439F-8D17-E640814E86D8}" type="parTrans" cxnId="{E26D237E-3793-452E-8A40-70D86F74A81F}">
      <dgm:prSet/>
      <dgm:spPr/>
      <dgm:t>
        <a:bodyPr/>
        <a:lstStyle/>
        <a:p>
          <a:endParaRPr lang="en-US"/>
        </a:p>
      </dgm:t>
    </dgm:pt>
    <dgm:pt modelId="{B974C839-83EC-4FEB-97AF-CD65CA032C80}" type="sibTrans" cxnId="{E26D237E-3793-452E-8A40-70D86F74A81F}">
      <dgm:prSet/>
      <dgm:spPr/>
      <dgm:t>
        <a:bodyPr/>
        <a:lstStyle/>
        <a:p>
          <a:endParaRPr lang="en-US"/>
        </a:p>
      </dgm:t>
    </dgm:pt>
    <dgm:pt modelId="{00B4905C-9036-4DDB-AD17-9CFCC6995961}" type="pres">
      <dgm:prSet presAssocID="{54720C6F-1861-443D-B275-8F8554798C73}" presName="outerComposite" presStyleCnt="0">
        <dgm:presLayoutVars>
          <dgm:chMax val="5"/>
          <dgm:dir/>
          <dgm:resizeHandles val="exact"/>
        </dgm:presLayoutVars>
      </dgm:prSet>
      <dgm:spPr/>
    </dgm:pt>
    <dgm:pt modelId="{A5F095A8-7440-4B86-96F4-DE1D1019450C}" type="pres">
      <dgm:prSet presAssocID="{54720C6F-1861-443D-B275-8F8554798C73}" presName="dummyMaxCanvas" presStyleCnt="0">
        <dgm:presLayoutVars/>
      </dgm:prSet>
      <dgm:spPr/>
    </dgm:pt>
    <dgm:pt modelId="{E14DCD68-7EB4-48CE-9EAE-E8FAF6B5901B}" type="pres">
      <dgm:prSet presAssocID="{54720C6F-1861-443D-B275-8F8554798C73}" presName="FiveNodes_1" presStyleLbl="node1" presStyleIdx="0" presStyleCnt="5">
        <dgm:presLayoutVars>
          <dgm:bulletEnabled val="1"/>
        </dgm:presLayoutVars>
      </dgm:prSet>
      <dgm:spPr/>
    </dgm:pt>
    <dgm:pt modelId="{5A06AD4E-D4B8-4891-A6FF-B4A4E428771B}" type="pres">
      <dgm:prSet presAssocID="{54720C6F-1861-443D-B275-8F8554798C73}" presName="FiveNodes_2" presStyleLbl="node1" presStyleIdx="1" presStyleCnt="5">
        <dgm:presLayoutVars>
          <dgm:bulletEnabled val="1"/>
        </dgm:presLayoutVars>
      </dgm:prSet>
      <dgm:spPr/>
    </dgm:pt>
    <dgm:pt modelId="{B1AB250C-3263-480C-99F4-CB5E0989A24D}" type="pres">
      <dgm:prSet presAssocID="{54720C6F-1861-443D-B275-8F8554798C73}" presName="FiveNodes_3" presStyleLbl="node1" presStyleIdx="2" presStyleCnt="5">
        <dgm:presLayoutVars>
          <dgm:bulletEnabled val="1"/>
        </dgm:presLayoutVars>
      </dgm:prSet>
      <dgm:spPr/>
    </dgm:pt>
    <dgm:pt modelId="{9B42725C-2343-4EDB-93C0-6119220F2382}" type="pres">
      <dgm:prSet presAssocID="{54720C6F-1861-443D-B275-8F8554798C73}" presName="FiveNodes_4" presStyleLbl="node1" presStyleIdx="3" presStyleCnt="5">
        <dgm:presLayoutVars>
          <dgm:bulletEnabled val="1"/>
        </dgm:presLayoutVars>
      </dgm:prSet>
      <dgm:spPr/>
    </dgm:pt>
    <dgm:pt modelId="{47EF5D63-6717-46B4-9CE2-9A886785B9E4}" type="pres">
      <dgm:prSet presAssocID="{54720C6F-1861-443D-B275-8F8554798C73}" presName="FiveNodes_5" presStyleLbl="node1" presStyleIdx="4" presStyleCnt="5">
        <dgm:presLayoutVars>
          <dgm:bulletEnabled val="1"/>
        </dgm:presLayoutVars>
      </dgm:prSet>
      <dgm:spPr/>
    </dgm:pt>
    <dgm:pt modelId="{005AF3AB-9ABA-4873-9748-BD112FE3382C}" type="pres">
      <dgm:prSet presAssocID="{54720C6F-1861-443D-B275-8F8554798C73}" presName="FiveConn_1-2" presStyleLbl="fgAccFollowNode1" presStyleIdx="0" presStyleCnt="4">
        <dgm:presLayoutVars>
          <dgm:bulletEnabled val="1"/>
        </dgm:presLayoutVars>
      </dgm:prSet>
      <dgm:spPr/>
    </dgm:pt>
    <dgm:pt modelId="{C10E4D4F-96A0-4BDE-8A3D-EB4F42206AE5}" type="pres">
      <dgm:prSet presAssocID="{54720C6F-1861-443D-B275-8F8554798C73}" presName="FiveConn_2-3" presStyleLbl="fgAccFollowNode1" presStyleIdx="1" presStyleCnt="4">
        <dgm:presLayoutVars>
          <dgm:bulletEnabled val="1"/>
        </dgm:presLayoutVars>
      </dgm:prSet>
      <dgm:spPr/>
    </dgm:pt>
    <dgm:pt modelId="{B789C13C-E841-4232-B13C-23C5E26B7AB6}" type="pres">
      <dgm:prSet presAssocID="{54720C6F-1861-443D-B275-8F8554798C73}" presName="FiveConn_3-4" presStyleLbl="fgAccFollowNode1" presStyleIdx="2" presStyleCnt="4">
        <dgm:presLayoutVars>
          <dgm:bulletEnabled val="1"/>
        </dgm:presLayoutVars>
      </dgm:prSet>
      <dgm:spPr/>
    </dgm:pt>
    <dgm:pt modelId="{E5030BD3-4D59-44EC-8519-21FFAE45B190}" type="pres">
      <dgm:prSet presAssocID="{54720C6F-1861-443D-B275-8F8554798C73}" presName="FiveConn_4-5" presStyleLbl="fgAccFollowNode1" presStyleIdx="3" presStyleCnt="4">
        <dgm:presLayoutVars>
          <dgm:bulletEnabled val="1"/>
        </dgm:presLayoutVars>
      </dgm:prSet>
      <dgm:spPr/>
    </dgm:pt>
    <dgm:pt modelId="{32298C90-EA38-4243-BB74-046590AF4EB6}" type="pres">
      <dgm:prSet presAssocID="{54720C6F-1861-443D-B275-8F8554798C73}" presName="FiveNodes_1_text" presStyleLbl="node1" presStyleIdx="4" presStyleCnt="5">
        <dgm:presLayoutVars>
          <dgm:bulletEnabled val="1"/>
        </dgm:presLayoutVars>
      </dgm:prSet>
      <dgm:spPr/>
    </dgm:pt>
    <dgm:pt modelId="{263AC416-F575-441C-A018-30BF5F17CE3D}" type="pres">
      <dgm:prSet presAssocID="{54720C6F-1861-443D-B275-8F8554798C73}" presName="FiveNodes_2_text" presStyleLbl="node1" presStyleIdx="4" presStyleCnt="5">
        <dgm:presLayoutVars>
          <dgm:bulletEnabled val="1"/>
        </dgm:presLayoutVars>
      </dgm:prSet>
      <dgm:spPr/>
    </dgm:pt>
    <dgm:pt modelId="{C04A5B82-A3A8-4544-B79D-710AD19C1E18}" type="pres">
      <dgm:prSet presAssocID="{54720C6F-1861-443D-B275-8F8554798C73}" presName="FiveNodes_3_text" presStyleLbl="node1" presStyleIdx="4" presStyleCnt="5">
        <dgm:presLayoutVars>
          <dgm:bulletEnabled val="1"/>
        </dgm:presLayoutVars>
      </dgm:prSet>
      <dgm:spPr/>
    </dgm:pt>
    <dgm:pt modelId="{545771FA-02D1-44F8-AFD3-E0384753AB0A}" type="pres">
      <dgm:prSet presAssocID="{54720C6F-1861-443D-B275-8F8554798C73}" presName="FiveNodes_4_text" presStyleLbl="node1" presStyleIdx="4" presStyleCnt="5">
        <dgm:presLayoutVars>
          <dgm:bulletEnabled val="1"/>
        </dgm:presLayoutVars>
      </dgm:prSet>
      <dgm:spPr/>
    </dgm:pt>
    <dgm:pt modelId="{0283068D-D6F9-4ECF-8F96-AB7E2B0FA959}" type="pres">
      <dgm:prSet presAssocID="{54720C6F-1861-443D-B275-8F8554798C7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E4FD305-FB97-4FFC-B7B3-FC3A44B6F62F}" type="presOf" srcId="{985A3953-93AE-4F18-AB8D-B92DAEADB560}" destId="{9B42725C-2343-4EDB-93C0-6119220F2382}" srcOrd="0" destOrd="0" presId="urn:microsoft.com/office/officeart/2005/8/layout/vProcess5"/>
    <dgm:cxn modelId="{1DD5B40A-846C-43D4-8E52-A8A8A7882858}" type="presOf" srcId="{EB48F0F4-3DC1-4EDF-BCD1-502D8E13889F}" destId="{263AC416-F575-441C-A018-30BF5F17CE3D}" srcOrd="1" destOrd="0" presId="urn:microsoft.com/office/officeart/2005/8/layout/vProcess5"/>
    <dgm:cxn modelId="{C0CE2B1B-E18A-4232-B7AA-56EB535449F9}" srcId="{54720C6F-1861-443D-B275-8F8554798C73}" destId="{5AB47154-2D52-411F-B186-A3D7EA80B079}" srcOrd="2" destOrd="0" parTransId="{C4886773-D8A9-4B56-83BE-272950669FF2}" sibTransId="{C143BDB0-8B0D-4153-9163-9E766E5F6F5A}"/>
    <dgm:cxn modelId="{B9C93520-02D7-4916-B841-42B82B7F4F5A}" type="presOf" srcId="{C143BDB0-8B0D-4153-9163-9E766E5F6F5A}" destId="{B789C13C-E841-4232-B13C-23C5E26B7AB6}" srcOrd="0" destOrd="0" presId="urn:microsoft.com/office/officeart/2005/8/layout/vProcess5"/>
    <dgm:cxn modelId="{D625FA24-17BD-4ED3-ABC0-0E869C02CD68}" type="presOf" srcId="{4D6530B9-6400-4827-8182-2713C8D68A32}" destId="{32298C90-EA38-4243-BB74-046590AF4EB6}" srcOrd="1" destOrd="0" presId="urn:microsoft.com/office/officeart/2005/8/layout/vProcess5"/>
    <dgm:cxn modelId="{DFAFC425-8B01-406B-9BDA-B813E633F02B}" srcId="{54720C6F-1861-443D-B275-8F8554798C73}" destId="{4D6530B9-6400-4827-8182-2713C8D68A32}" srcOrd="0" destOrd="0" parTransId="{3CE7F288-D2CF-471A-A7AA-4E235F0B9FF8}" sibTransId="{789BC083-92DD-45C6-AD27-48584E8E6FE2}"/>
    <dgm:cxn modelId="{CA0D5D27-40DA-4B8E-B0B7-E3D55DF66B60}" type="presOf" srcId="{5AB47154-2D52-411F-B186-A3D7EA80B079}" destId="{C04A5B82-A3A8-4544-B79D-710AD19C1E18}" srcOrd="1" destOrd="0" presId="urn:microsoft.com/office/officeart/2005/8/layout/vProcess5"/>
    <dgm:cxn modelId="{94644131-3599-41D4-9257-33BF6766BDBD}" type="presOf" srcId="{54720C6F-1861-443D-B275-8F8554798C73}" destId="{00B4905C-9036-4DDB-AD17-9CFCC6995961}" srcOrd="0" destOrd="0" presId="urn:microsoft.com/office/officeart/2005/8/layout/vProcess5"/>
    <dgm:cxn modelId="{D0806244-9BA6-4D0F-AD32-F1E34A7157BB}" type="presOf" srcId="{4D6530B9-6400-4827-8182-2713C8D68A32}" destId="{E14DCD68-7EB4-48CE-9EAE-E8FAF6B5901B}" srcOrd="0" destOrd="0" presId="urn:microsoft.com/office/officeart/2005/8/layout/vProcess5"/>
    <dgm:cxn modelId="{5B1C1C65-00D8-4CF6-9302-D7E712C74525}" type="presOf" srcId="{EB48F0F4-3DC1-4EDF-BCD1-502D8E13889F}" destId="{5A06AD4E-D4B8-4891-A6FF-B4A4E428771B}" srcOrd="0" destOrd="0" presId="urn:microsoft.com/office/officeart/2005/8/layout/vProcess5"/>
    <dgm:cxn modelId="{A53E2375-0813-49B3-9D20-500E71AFA41A}" type="presOf" srcId="{789BC083-92DD-45C6-AD27-48584E8E6FE2}" destId="{005AF3AB-9ABA-4873-9748-BD112FE3382C}" srcOrd="0" destOrd="0" presId="urn:microsoft.com/office/officeart/2005/8/layout/vProcess5"/>
    <dgm:cxn modelId="{E26D237E-3793-452E-8A40-70D86F74A81F}" srcId="{54720C6F-1861-443D-B275-8F8554798C73}" destId="{B741DF84-8636-4A53-857C-F4C5BADE7420}" srcOrd="4" destOrd="0" parTransId="{60CAA2A3-CFA1-439F-8D17-E640814E86D8}" sibTransId="{B974C839-83EC-4FEB-97AF-CD65CA032C80}"/>
    <dgm:cxn modelId="{8CB2AD89-67BC-4E2B-A803-F8A49FDA2E1C}" type="presOf" srcId="{D3A9AB79-14C3-4409-9917-CFB8D007FB97}" destId="{C10E4D4F-96A0-4BDE-8A3D-EB4F42206AE5}" srcOrd="0" destOrd="0" presId="urn:microsoft.com/office/officeart/2005/8/layout/vProcess5"/>
    <dgm:cxn modelId="{9CBFA49F-C2BC-4AE6-A6A4-74E60E4021B2}" type="presOf" srcId="{CE647F5C-E877-4178-8DEE-0D4968F07E07}" destId="{E5030BD3-4D59-44EC-8519-21FFAE45B190}" srcOrd="0" destOrd="0" presId="urn:microsoft.com/office/officeart/2005/8/layout/vProcess5"/>
    <dgm:cxn modelId="{01AAC2B1-5E50-4E77-BB6F-D23C961463CA}" type="presOf" srcId="{B741DF84-8636-4A53-857C-F4C5BADE7420}" destId="{0283068D-D6F9-4ECF-8F96-AB7E2B0FA959}" srcOrd="1" destOrd="0" presId="urn:microsoft.com/office/officeart/2005/8/layout/vProcess5"/>
    <dgm:cxn modelId="{885CDDD3-FF1F-4D46-B712-8EDD42239992}" srcId="{54720C6F-1861-443D-B275-8F8554798C73}" destId="{EB48F0F4-3DC1-4EDF-BCD1-502D8E13889F}" srcOrd="1" destOrd="0" parTransId="{AD9C486D-7214-4B79-AAB3-02EA39877DD9}" sibTransId="{D3A9AB79-14C3-4409-9917-CFB8D007FB97}"/>
    <dgm:cxn modelId="{AFF13AD6-43C7-4DFC-954F-882E06222A80}" type="presOf" srcId="{5AB47154-2D52-411F-B186-A3D7EA80B079}" destId="{B1AB250C-3263-480C-99F4-CB5E0989A24D}" srcOrd="0" destOrd="0" presId="urn:microsoft.com/office/officeart/2005/8/layout/vProcess5"/>
    <dgm:cxn modelId="{026DCEE4-2B70-4ECE-804A-026D22022A81}" type="presOf" srcId="{B741DF84-8636-4A53-857C-F4C5BADE7420}" destId="{47EF5D63-6717-46B4-9CE2-9A886785B9E4}" srcOrd="0" destOrd="0" presId="urn:microsoft.com/office/officeart/2005/8/layout/vProcess5"/>
    <dgm:cxn modelId="{B75463FD-87B8-46D7-8927-1806B2471D3B}" type="presOf" srcId="{985A3953-93AE-4F18-AB8D-B92DAEADB560}" destId="{545771FA-02D1-44F8-AFD3-E0384753AB0A}" srcOrd="1" destOrd="0" presId="urn:microsoft.com/office/officeart/2005/8/layout/vProcess5"/>
    <dgm:cxn modelId="{2CF658FF-F90E-40EE-973B-0E42B980BF9A}" srcId="{54720C6F-1861-443D-B275-8F8554798C73}" destId="{985A3953-93AE-4F18-AB8D-B92DAEADB560}" srcOrd="3" destOrd="0" parTransId="{660D1BBB-9DAF-4904-87A2-31538EF16472}" sibTransId="{CE647F5C-E877-4178-8DEE-0D4968F07E07}"/>
    <dgm:cxn modelId="{4D81D627-1361-4652-9CE5-FAEB60F4B94F}" type="presParOf" srcId="{00B4905C-9036-4DDB-AD17-9CFCC6995961}" destId="{A5F095A8-7440-4B86-96F4-DE1D1019450C}" srcOrd="0" destOrd="0" presId="urn:microsoft.com/office/officeart/2005/8/layout/vProcess5"/>
    <dgm:cxn modelId="{72C64A72-83B8-44B6-967C-0B9596B75F31}" type="presParOf" srcId="{00B4905C-9036-4DDB-AD17-9CFCC6995961}" destId="{E14DCD68-7EB4-48CE-9EAE-E8FAF6B5901B}" srcOrd="1" destOrd="0" presId="urn:microsoft.com/office/officeart/2005/8/layout/vProcess5"/>
    <dgm:cxn modelId="{E82BD684-81B4-4756-B351-A572B7BFE1BE}" type="presParOf" srcId="{00B4905C-9036-4DDB-AD17-9CFCC6995961}" destId="{5A06AD4E-D4B8-4891-A6FF-B4A4E428771B}" srcOrd="2" destOrd="0" presId="urn:microsoft.com/office/officeart/2005/8/layout/vProcess5"/>
    <dgm:cxn modelId="{0EC709FC-3D35-4CE1-AE51-94B3F3377D67}" type="presParOf" srcId="{00B4905C-9036-4DDB-AD17-9CFCC6995961}" destId="{B1AB250C-3263-480C-99F4-CB5E0989A24D}" srcOrd="3" destOrd="0" presId="urn:microsoft.com/office/officeart/2005/8/layout/vProcess5"/>
    <dgm:cxn modelId="{A1592060-4C20-4F71-8032-D873B6B8ECCF}" type="presParOf" srcId="{00B4905C-9036-4DDB-AD17-9CFCC6995961}" destId="{9B42725C-2343-4EDB-93C0-6119220F2382}" srcOrd="4" destOrd="0" presId="urn:microsoft.com/office/officeart/2005/8/layout/vProcess5"/>
    <dgm:cxn modelId="{9646F15F-FEDC-499B-8A40-344B1AB1A6DF}" type="presParOf" srcId="{00B4905C-9036-4DDB-AD17-9CFCC6995961}" destId="{47EF5D63-6717-46B4-9CE2-9A886785B9E4}" srcOrd="5" destOrd="0" presId="urn:microsoft.com/office/officeart/2005/8/layout/vProcess5"/>
    <dgm:cxn modelId="{D0D3662A-0406-43C1-B12A-5F3A4E0B9434}" type="presParOf" srcId="{00B4905C-9036-4DDB-AD17-9CFCC6995961}" destId="{005AF3AB-9ABA-4873-9748-BD112FE3382C}" srcOrd="6" destOrd="0" presId="urn:microsoft.com/office/officeart/2005/8/layout/vProcess5"/>
    <dgm:cxn modelId="{9BD67CC0-238D-419E-9737-D1194DA98291}" type="presParOf" srcId="{00B4905C-9036-4DDB-AD17-9CFCC6995961}" destId="{C10E4D4F-96A0-4BDE-8A3D-EB4F42206AE5}" srcOrd="7" destOrd="0" presId="urn:microsoft.com/office/officeart/2005/8/layout/vProcess5"/>
    <dgm:cxn modelId="{59355BE4-9F2E-4921-A0A0-369EC8B3756C}" type="presParOf" srcId="{00B4905C-9036-4DDB-AD17-9CFCC6995961}" destId="{B789C13C-E841-4232-B13C-23C5E26B7AB6}" srcOrd="8" destOrd="0" presId="urn:microsoft.com/office/officeart/2005/8/layout/vProcess5"/>
    <dgm:cxn modelId="{9F7DBDA9-9992-4E75-9A36-95BDCD0414D7}" type="presParOf" srcId="{00B4905C-9036-4DDB-AD17-9CFCC6995961}" destId="{E5030BD3-4D59-44EC-8519-21FFAE45B190}" srcOrd="9" destOrd="0" presId="urn:microsoft.com/office/officeart/2005/8/layout/vProcess5"/>
    <dgm:cxn modelId="{FAB8BF5D-8CDD-4749-89DB-143F0C01BFA9}" type="presParOf" srcId="{00B4905C-9036-4DDB-AD17-9CFCC6995961}" destId="{32298C90-EA38-4243-BB74-046590AF4EB6}" srcOrd="10" destOrd="0" presId="urn:microsoft.com/office/officeart/2005/8/layout/vProcess5"/>
    <dgm:cxn modelId="{9A68FDFD-D7ED-4383-A172-86A9FD7063AA}" type="presParOf" srcId="{00B4905C-9036-4DDB-AD17-9CFCC6995961}" destId="{263AC416-F575-441C-A018-30BF5F17CE3D}" srcOrd="11" destOrd="0" presId="urn:microsoft.com/office/officeart/2005/8/layout/vProcess5"/>
    <dgm:cxn modelId="{24E2DF2E-56E5-43AA-A687-22CF46D7FF36}" type="presParOf" srcId="{00B4905C-9036-4DDB-AD17-9CFCC6995961}" destId="{C04A5B82-A3A8-4544-B79D-710AD19C1E18}" srcOrd="12" destOrd="0" presId="urn:microsoft.com/office/officeart/2005/8/layout/vProcess5"/>
    <dgm:cxn modelId="{617F0752-25D5-408F-AB2F-76A80D5E90E3}" type="presParOf" srcId="{00B4905C-9036-4DDB-AD17-9CFCC6995961}" destId="{545771FA-02D1-44F8-AFD3-E0384753AB0A}" srcOrd="13" destOrd="0" presId="urn:microsoft.com/office/officeart/2005/8/layout/vProcess5"/>
    <dgm:cxn modelId="{5657A62A-D093-4937-9A0D-66B8EA4967AF}" type="presParOf" srcId="{00B4905C-9036-4DDB-AD17-9CFCC6995961}" destId="{0283068D-D6F9-4ECF-8F96-AB7E2B0FA95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96383-4D59-43A0-92D3-987C569AA954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FB61A-4F72-4364-B3B3-583C6D92CDFC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Install and Download SQL Server Express (2022,or 2025 (much preferred)) from Microsoft</a:t>
          </a:r>
          <a:endParaRPr lang="en-US" sz="1200" kern="1200" dirty="0"/>
        </a:p>
      </dsp:txBody>
      <dsp:txXfrm>
        <a:off x="417971" y="2644140"/>
        <a:ext cx="2889450" cy="720000"/>
      </dsp:txXfrm>
    </dsp:sp>
    <dsp:sp modelId="{76D98688-242E-4601-92F7-014494BED513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AD20-4F30-4FD5-8282-32F820B38E6A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chemeClr val="tx1"/>
              </a:solidFill>
            </a:rPr>
            <a:t>Files and sources from my repository: 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3813075" y="2644140"/>
        <a:ext cx="2889450" cy="720000"/>
      </dsp:txXfrm>
    </dsp:sp>
    <dsp:sp modelId="{91FC0951-73EA-4668-B2BE-91930015E203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5FAB9-80AA-4185-8D1A-98CE80BAFBFD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hlinkClick xmlns:r="http://schemas.openxmlformats.org/officeDocument/2006/relationships" r:id="rId4"/>
            </a:rPr>
            <a:t>Main-Stuff/DA Bootcamp 2026 </a:t>
          </a:r>
          <a:r>
            <a:rPr lang="en-US" sz="1100" kern="1200" dirty="0" err="1">
              <a:hlinkClick xmlns:r="http://schemas.openxmlformats.org/officeDocument/2006/relationships" r:id="rId4"/>
            </a:rPr>
            <a:t>Emergi</a:t>
          </a:r>
          <a:r>
            <a:rPr lang="en-US" sz="1100" kern="1200" dirty="0">
              <a:hlinkClick xmlns:r="http://schemas.openxmlformats.org/officeDocument/2006/relationships" r:id="rId4"/>
            </a:rPr>
            <a:t> Mentors/Week 2 SQL Mastery/</a:t>
          </a:r>
          <a:r>
            <a:rPr lang="en-US" sz="1100" kern="1200" dirty="0" err="1">
              <a:hlinkClick xmlns:r="http://schemas.openxmlformats.org/officeDocument/2006/relationships" r:id="rId4"/>
            </a:rPr>
            <a:t>Team_SQL_EmployeeRetention</a:t>
          </a:r>
          <a:r>
            <a:rPr lang="en-US" sz="1100" kern="1200" dirty="0">
              <a:hlinkClick xmlns:r="http://schemas.openxmlformats.org/officeDocument/2006/relationships" r:id="rId4"/>
            </a:rPr>
            <a:t> at main · Mikele02171/Main-Stuff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DCD68-7EB4-48CE-9EAE-E8FAF6B5901B}">
      <dsp:nvSpPr>
        <dsp:cNvPr id="0" name=""/>
        <dsp:cNvSpPr/>
      </dsp:nvSpPr>
      <dsp:spPr>
        <a:xfrm>
          <a:off x="0" y="0"/>
          <a:ext cx="4152887" cy="78324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/>
            <a:t>Setup Database and Schemas </a:t>
          </a:r>
          <a:endParaRPr lang="en-US" sz="2000" kern="1200" dirty="0"/>
        </a:p>
      </dsp:txBody>
      <dsp:txXfrm>
        <a:off x="22940" y="22940"/>
        <a:ext cx="3216071" cy="737360"/>
      </dsp:txXfrm>
    </dsp:sp>
    <dsp:sp modelId="{5A06AD4E-D4B8-4891-A6FF-B4A4E428771B}">
      <dsp:nvSpPr>
        <dsp:cNvPr id="0" name=""/>
        <dsp:cNvSpPr/>
      </dsp:nvSpPr>
      <dsp:spPr>
        <a:xfrm>
          <a:off x="310118" y="892024"/>
          <a:ext cx="4152887" cy="783240"/>
        </a:xfrm>
        <a:prstGeom prst="roundRect">
          <a:avLst>
            <a:gd name="adj" fmla="val 10000"/>
          </a:avLst>
        </a:prstGeom>
        <a:solidFill>
          <a:srgbClr val="CC660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/>
            <a:t>Bronze Layer</a:t>
          </a:r>
          <a:endParaRPr lang="en-US" sz="2000" kern="1200" dirty="0"/>
        </a:p>
      </dsp:txBody>
      <dsp:txXfrm>
        <a:off x="333058" y="914964"/>
        <a:ext cx="3287783" cy="737360"/>
      </dsp:txXfrm>
    </dsp:sp>
    <dsp:sp modelId="{B1AB250C-3263-480C-99F4-CB5E0989A24D}">
      <dsp:nvSpPr>
        <dsp:cNvPr id="0" name=""/>
        <dsp:cNvSpPr/>
      </dsp:nvSpPr>
      <dsp:spPr>
        <a:xfrm>
          <a:off x="620236" y="1784048"/>
          <a:ext cx="4152887" cy="783240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/>
            <a:t>Silver Layer </a:t>
          </a:r>
          <a:endParaRPr lang="en-US" sz="2000" kern="1200"/>
        </a:p>
      </dsp:txBody>
      <dsp:txXfrm>
        <a:off x="643176" y="1806988"/>
        <a:ext cx="3287783" cy="737360"/>
      </dsp:txXfrm>
    </dsp:sp>
    <dsp:sp modelId="{9B42725C-2343-4EDB-93C0-6119220F2382}">
      <dsp:nvSpPr>
        <dsp:cNvPr id="0" name=""/>
        <dsp:cNvSpPr/>
      </dsp:nvSpPr>
      <dsp:spPr>
        <a:xfrm>
          <a:off x="930354" y="2676072"/>
          <a:ext cx="4152887" cy="78324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/>
            <a:t>Golden Layer</a:t>
          </a:r>
          <a:endParaRPr lang="en-US" sz="2000" kern="1200"/>
        </a:p>
      </dsp:txBody>
      <dsp:txXfrm>
        <a:off x="953294" y="2699012"/>
        <a:ext cx="3287783" cy="737360"/>
      </dsp:txXfrm>
    </dsp:sp>
    <dsp:sp modelId="{47EF5D63-6717-46B4-9CE2-9A886785B9E4}">
      <dsp:nvSpPr>
        <dsp:cNvPr id="0" name=""/>
        <dsp:cNvSpPr/>
      </dsp:nvSpPr>
      <dsp:spPr>
        <a:xfrm>
          <a:off x="1240473" y="3568097"/>
          <a:ext cx="4152887" cy="783240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/>
            <a:t>Results</a:t>
          </a:r>
          <a:endParaRPr lang="en-US" sz="2000" kern="1200"/>
        </a:p>
      </dsp:txBody>
      <dsp:txXfrm>
        <a:off x="1263413" y="3591037"/>
        <a:ext cx="3287783" cy="737360"/>
      </dsp:txXfrm>
    </dsp:sp>
    <dsp:sp modelId="{005AF3AB-9ABA-4873-9748-BD112FE3382C}">
      <dsp:nvSpPr>
        <dsp:cNvPr id="0" name=""/>
        <dsp:cNvSpPr/>
      </dsp:nvSpPr>
      <dsp:spPr>
        <a:xfrm>
          <a:off x="3643781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rgbClr val="FF0000">
            <a:alpha val="90000"/>
          </a:srgb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3758330" y="572200"/>
        <a:ext cx="280008" cy="383102"/>
      </dsp:txXfrm>
    </dsp:sp>
    <dsp:sp modelId="{C10E4D4F-96A0-4BDE-8A3D-EB4F42206AE5}">
      <dsp:nvSpPr>
        <dsp:cNvPr id="0" name=""/>
        <dsp:cNvSpPr/>
      </dsp:nvSpPr>
      <dsp:spPr>
        <a:xfrm>
          <a:off x="3953899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rgbClr val="FF0000">
            <a:alpha val="90000"/>
          </a:srgb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068448" y="1464225"/>
        <a:ext cx="280008" cy="383102"/>
      </dsp:txXfrm>
    </dsp:sp>
    <dsp:sp modelId="{B789C13C-E841-4232-B13C-23C5E26B7AB6}">
      <dsp:nvSpPr>
        <dsp:cNvPr id="0" name=""/>
        <dsp:cNvSpPr/>
      </dsp:nvSpPr>
      <dsp:spPr>
        <a:xfrm>
          <a:off x="4264017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rgbClr val="FF0000">
            <a:alpha val="90000"/>
          </a:srgb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378566" y="2343195"/>
        <a:ext cx="280008" cy="383102"/>
      </dsp:txXfrm>
    </dsp:sp>
    <dsp:sp modelId="{E5030BD3-4D59-44EC-8519-21FFAE45B190}">
      <dsp:nvSpPr>
        <dsp:cNvPr id="0" name=""/>
        <dsp:cNvSpPr/>
      </dsp:nvSpPr>
      <dsp:spPr>
        <a:xfrm>
          <a:off x="457413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rgbClr val="FF0000">
            <a:alpha val="90000"/>
          </a:srgb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688685" y="3243922"/>
        <a:ext cx="280008" cy="38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37EF-2587-41AD-FDAF-7C8F8E80E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49F8D-0D53-B964-6AF6-CCD3DF66C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3F045-2F51-14D8-212E-D09036B2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4ACE3-BAEB-91F7-FD6E-507018BE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E3698-EB57-44FC-5FBF-45028E2E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314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81AD-673C-4AAC-EAE6-784BE631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E696E-AF9D-32A1-978C-816738D63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AD3FE-7BBC-08BB-23BA-43A5DEF3C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58991-ED8E-DD5D-B257-963A151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F019B-EDF6-C1FF-EF9C-838A1D15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71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7121-F9D0-3D2C-3DB9-C56B0223C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38973-81BD-82D6-C95B-AC953625C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E1053-B8B9-74D3-9D2E-13A24673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B7B3E-8624-0BBA-1AD3-26EAEA10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42A0-5889-7224-F357-46527724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42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EC13-9316-66D6-7256-1CB374C0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837D-0720-9D9B-6679-0695F0CD7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A4C20-FCC8-4D41-3B5F-62528AC3E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01561-A4B0-D9C2-F25C-8647506B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968AF-E1A5-46E6-515E-9D4E7139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69D33-D775-41F3-4D62-30DF4E8A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096E-8467-482C-073D-9BD7B233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2241A-59F6-B0F3-5E79-94C507236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68E48-A135-F136-246F-FED28B119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EBE25-B800-C71A-A01F-662F45D07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8E239-FDC9-90D2-6BFB-CBC50746B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0A59-3B91-18F3-D5E8-C7DA35CD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7346A-EBAB-0024-FA9C-45F62FCC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5CBA4-4F7B-4A61-8539-E2EDFAAE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44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4E67-4B0D-DF8D-76AF-2618CD2C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19F9-2C9A-96A4-F228-816B3434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AC18E-BC2C-D890-C274-4CD48A51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49942-DE44-AA23-C5A2-71D90FC6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456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0A291-8E45-0E2E-5953-E0B3EE54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F2805-5B0F-18A9-2B94-83BBA81E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3087F-2C54-B163-0F59-9D295B14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25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CF0D-F566-120F-0445-EF6C424C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F6051-01AE-E30E-880E-E434CA29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2D896-3554-3729-5180-BB16645BE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19CC7-FC85-9A23-7578-0CF9B61B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28668-154D-3D2A-0CCA-2122A14E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9F41A-3E02-865C-E761-DA82C3CB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1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BCAC-61E0-996F-36D8-731F6DFE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E06D8-B92D-5DF6-CD03-B9F292052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1EC81-D486-E7B4-AD74-7B9B71C77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65A45-907A-F630-9D57-DF833567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ADFFA-6F0F-8066-CB9E-CC6EAA39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59B8B-59C4-90B4-60F0-06B38758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12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F09F-849F-080D-DFD6-869EF6F0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4F113-323C-C585-C2CC-58F81126E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5105-1427-8B82-9BAC-FAE56E07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C8D23-3BD9-6220-3FB3-E8C2623C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784B-1A0B-5788-4F20-5047AD99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472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B8606-38F7-AC22-F487-CF590DD1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5779F-6AC5-DEF8-D6C3-5F0492CDB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29368-C10A-93E1-A39F-86C7F860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26DD0-279C-3391-2E5A-E87D08C5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611CB-A010-59B5-F0E9-5B51A559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036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F4C14-4775-0FAD-6A28-DF2F5828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7A2CE-F793-2E0F-DCE6-DA9A64BD3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CD162-635A-5982-F72B-6AD3ADAD5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14A82-078E-442C-9E77-AC45039B736B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A1FF8-FE02-3775-51E7-6EC9951BA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B773-8500-2D77-AA97-3E53150EB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486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513126-F46A-B2A0-D5B5-B4D6A0C33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9" r="1" b="1"/>
          <a:stretch>
            <a:fillRect/>
          </a:stretch>
        </p:blipFill>
        <p:spPr>
          <a:xfrm>
            <a:off x="-3447" y="-1"/>
            <a:ext cx="12195447" cy="68797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A557F-F5A2-965B-2551-2EA6B407F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028" y="4121944"/>
            <a:ext cx="7927785" cy="1620665"/>
          </a:xfrm>
        </p:spPr>
        <p:txBody>
          <a:bodyPr>
            <a:normAutofit/>
          </a:bodyPr>
          <a:lstStyle/>
          <a:p>
            <a:pPr algn="l"/>
            <a:r>
              <a:rPr lang="en-AU" sz="4000">
                <a:solidFill>
                  <a:srgbClr val="FFFFFF"/>
                </a:solidFill>
              </a:rPr>
              <a:t>Employee Retention SQL Group Project (Medallion Architecture)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42B14-80A2-DE29-E2EB-16AADD157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028" y="5737867"/>
            <a:ext cx="7942381" cy="618479"/>
          </a:xfrm>
        </p:spPr>
        <p:txBody>
          <a:bodyPr>
            <a:normAutofit/>
          </a:bodyPr>
          <a:lstStyle/>
          <a:p>
            <a:pPr algn="l"/>
            <a:r>
              <a:rPr lang="en-AU" sz="2000">
                <a:solidFill>
                  <a:srgbClr val="FFFFFF"/>
                </a:solidFill>
              </a:rPr>
              <a:t>Michael Le</a:t>
            </a:r>
          </a:p>
        </p:txBody>
      </p:sp>
    </p:spTree>
    <p:extLst>
      <p:ext uri="{BB962C8B-B14F-4D97-AF65-F5344CB8AC3E}">
        <p14:creationId xmlns:p14="http://schemas.microsoft.com/office/powerpoint/2010/main" val="194281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90FA-CF7C-4964-2256-EFB746FF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Requirements 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58BE891-F5F2-2A51-D573-FF50090B3E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2189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0695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52F87-1AD5-7F84-BFC7-D938EC42C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AU" dirty="0"/>
              <a:t>Content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DB401-D5EF-6F87-FB2B-F6F363D45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3" r="22208" b="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1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44DFC-9675-3C37-782B-F65FE633B6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255345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854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765C-05FA-CA99-206E-F1817CC5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936" y="174675"/>
            <a:ext cx="6557463" cy="1454051"/>
          </a:xfrm>
        </p:spPr>
        <p:txBody>
          <a:bodyPr>
            <a:normAutofit/>
          </a:bodyPr>
          <a:lstStyle/>
          <a:p>
            <a:r>
              <a:rPr lang="en-AU" sz="3300" dirty="0">
                <a:solidFill>
                  <a:schemeClr val="tx2"/>
                </a:solidFill>
              </a:rPr>
              <a:t>Setup Database and Schemas Part 1</a:t>
            </a:r>
            <a:br>
              <a:rPr lang="en-US" sz="3300" dirty="0">
                <a:solidFill>
                  <a:schemeClr val="tx2"/>
                </a:solidFill>
              </a:rPr>
            </a:br>
            <a:endParaRPr lang="en-AU" sz="33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F03A2-D875-6724-8C06-31BE9B581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3400"/>
            <a:ext cx="5172650" cy="4257571"/>
          </a:xfrm>
        </p:spPr>
        <p:txBody>
          <a:bodyPr anchor="ctr">
            <a:normAutofit fontScale="85000" lnSpcReduction="20000"/>
          </a:bodyPr>
          <a:lstStyle/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name </a:t>
            </a: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300" dirty="0" err="1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sys.databases</a:t>
            </a:r>
            <a:endParaRPr lang="en-AU" sz="13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name LIKE '%</a:t>
            </a:r>
            <a:r>
              <a:rPr lang="en-AU" sz="1300" dirty="0" err="1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EmployeeRetention</a:t>
            </a:r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%';</a:t>
            </a:r>
          </a:p>
          <a:p>
            <a:endParaRPr lang="en-AU" sz="13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3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 master;</a:t>
            </a: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3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DB_ID('</a:t>
            </a:r>
            <a:r>
              <a:rPr lang="en-US" sz="1300" dirty="0" err="1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 IS NOT NULL</a:t>
            </a: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ALTER DATABASE </a:t>
            </a:r>
            <a:r>
              <a:rPr lang="en-US" sz="1300" dirty="0" err="1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SET SINGLE_USER WITH ROLLBACK IMMEDIATE;</a:t>
            </a: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DROP DATABASE </a:t>
            </a:r>
            <a:r>
              <a:rPr lang="en-AU" sz="1300" dirty="0" err="1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3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DATABASE </a:t>
            </a:r>
            <a:r>
              <a:rPr lang="en-AU" sz="1300" dirty="0" err="1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3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6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3EF2D983-0D63-D186-1040-DCB3738A4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5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6ADD5-4902-E412-BBD7-D97EF492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Setup Database and Schemas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95A83-8D79-5302-B383-C9519D4AE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1" y="241300"/>
            <a:ext cx="4463089" cy="6273800"/>
          </a:xfrm>
        </p:spPr>
        <p:txBody>
          <a:bodyPr anchor="ctr">
            <a:normAutofit/>
          </a:bodyPr>
          <a:lstStyle/>
          <a:p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-- Create schemas representing Medallion layers and supporting schemas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bronze;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silver;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gold;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etl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dq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-- Validation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name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CreatedDatabase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sys.databases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name = '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name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CreatedSchema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sys.schemas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name IN ('bronze','silver','gold','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etl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dq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');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800" dirty="0"/>
          </a:p>
          <a:p>
            <a:endParaRPr lang="en-AU" sz="800" dirty="0"/>
          </a:p>
        </p:txBody>
      </p:sp>
      <p:pic>
        <p:nvPicPr>
          <p:cNvPr id="4" name="Graphic 3" descr="Database">
            <a:extLst>
              <a:ext uri="{FF2B5EF4-FFF2-40B4-BE49-F238E27FC236}">
                <a16:creationId xmlns:a16="http://schemas.microsoft.com/office/drawing/2014/main" id="{5C0634DC-2EA4-325C-5BBA-A63E14C88E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9502" y="511388"/>
            <a:ext cx="3615776" cy="3615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930EE2-6AF4-336B-95EB-AC538F142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877" y="3974352"/>
            <a:ext cx="2632218" cy="26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27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9E881A4-A468-403A-9941-F8FFD5C68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F6568-3F4F-1793-6684-4B1D83E95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443" y="1201994"/>
            <a:ext cx="3019248" cy="445401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F168544-607B-491A-8601-3087D0FCE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8703" y="1"/>
            <a:ext cx="742329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98401-3BA1-063B-8BD0-149BC239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226" y="-88989"/>
            <a:ext cx="5667269" cy="1289024"/>
          </a:xfrm>
        </p:spPr>
        <p:txBody>
          <a:bodyPr anchor="b">
            <a:normAutofit/>
          </a:bodyPr>
          <a:lstStyle/>
          <a:p>
            <a:pPr algn="ctr"/>
            <a:r>
              <a:rPr lang="en-AU" sz="3200" dirty="0">
                <a:solidFill>
                  <a:srgbClr val="595959"/>
                </a:solidFill>
              </a:rPr>
              <a:t>Bronze Layer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5AFA-1A19-7A01-9FF6-9FC94D6A4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227" y="1111045"/>
            <a:ext cx="5765330" cy="4875512"/>
          </a:xfrm>
        </p:spPr>
        <p:txBody>
          <a:bodyPr anchor="t">
            <a:normAutofit lnSpcReduction="10000"/>
          </a:bodyPr>
          <a:lstStyle/>
          <a:p>
            <a:endParaRPr lang="en-AU" sz="105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 </a:t>
            </a:r>
            <a:r>
              <a:rPr lang="en-AU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AU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5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Drop tables in dependency-safe order</a:t>
            </a:r>
          </a:p>
          <a:p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bronze.Absence','U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          IS NOT NULL DROP TABLE 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bronze.Absence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5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OBJECT_ID('bronze.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EmployeeEvent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','U')    IS NOT NULL DROP TABLE 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bronze.EmployeeEvent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5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bronze.Employee','U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         IS NOT NULL DROP TABLE 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5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OBJECT_ID('bronze.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EmploymentType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','U')   IS NOT NULL DROP TABLE </a:t>
            </a:r>
            <a:r>
              <a:rPr lang="en-US" sz="105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bronze.EmploymentType</a:t>
            </a:r>
            <a:r>
              <a:rPr lang="en-US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05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07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58452-9BB6-E21F-15A8-E35ED187C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3" y="259410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AU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Bronze Layer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D6E82-A782-7F63-B334-45794C726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23" y="1494503"/>
            <a:ext cx="5129506" cy="4124804"/>
          </a:xfrm>
        </p:spPr>
        <p:txBody>
          <a:bodyPr anchor="t">
            <a:normAutofit fontScale="47500" lnSpcReduction="20000"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bronze.Role','U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             IS NOT NULL DROP TABLE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bronze.Role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bronze.Department','U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       IS NOT NULL DROP TABLE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bronze.Department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bronze.Location','U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         IS NOT NULL DROP TABLE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bronze.Location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OBJECT_ID('dq.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DataQualityLog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','U') IS NOT NULL DROP TABLE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dq.DataQualityLog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bronze and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dq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schema (if not exists)</a:t>
            </a: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SCHEMA bronze;</a:t>
            </a: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SCHEMA </a:t>
            </a:r>
            <a:r>
              <a:rPr lang="en-AU" sz="1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dq</a:t>
            </a:r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CCAA3-B5F8-0142-9D28-47E864830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339" y="934473"/>
            <a:ext cx="3381935" cy="498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2A3CE-071E-65DC-9F30-3640BE29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2500">
                <a:solidFill>
                  <a:srgbClr val="FFFFFF"/>
                </a:solidFill>
              </a:rPr>
              <a:t>Bronze Layer</a:t>
            </a:r>
            <a:br>
              <a:rPr lang="en-AU" sz="2500">
                <a:solidFill>
                  <a:srgbClr val="FFFFFF"/>
                </a:solidFill>
              </a:rPr>
            </a:br>
            <a:r>
              <a:rPr lang="en-AU" sz="2500">
                <a:solidFill>
                  <a:srgbClr val="FFFFFF"/>
                </a:solidFill>
              </a:rPr>
              <a:t>DDL: Creating tables for Department, Role, Location, EmploymentType, Employee, EmployeeEvent, Absence, DataQualityLog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73C6F-054F-9D86-3516-81FB0FAD3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-- Department (raw)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CREATE TABLE bronze.Department (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DepartmentID   INT IDENTITY(1,1) NOT NULL CONSTRAINT PK_bronze_Department PRIMARY KEY,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DepartmentCode NVARCHAR(20)  NOT NULL,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DepartmentName NVARCHAR(100) NOT NULL,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CreatedDTTM    DATETIME2(0)  NOT NULL CONSTRAINT DF_bronze_Department_Created DEFAULT SYSUTCDATETIME()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-- Role (raw)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CREATE TABLE bronze.Role (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RoleID        INT IDENTITY(1,1) NOT NULL CONSTRAINT PK_bronze_Role PRIMARY KEY,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DepartmentID  INT NULL,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RoleCode      NVARCHAR(20)  NOT NULL,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RoleName      NVARCHAR(100) NOT NULL,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CreatedDTTM   DATETIME2(0)  NOT NULL CONSTRAINT DF_bronze_Role_Created DEFAULT SYSUTCDATETIME()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17CFA-3258-2B4E-37F3-92B5C4F69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767931"/>
            <a:ext cx="3615776" cy="533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0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D40FB0-7859-CF11-900A-595F7F2BA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" r="-2" b="2122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ED4CC-811B-99CB-149D-F64D7CDA6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058" y="609600"/>
            <a:ext cx="5983474" cy="5610225"/>
          </a:xfrm>
        </p:spPr>
        <p:txBody>
          <a:bodyPr>
            <a:normAutofit/>
          </a:bodyPr>
          <a:lstStyle/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-- Location (raw)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bronze.Location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LocationID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IDENTITY(1,1) NOT NULL CONSTRAINT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PK_bronze_Location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NVARCHAR(20) 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NVARCHAR(100)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Region        NVARCHAR(50) 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CreatedDTTM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DATETIME2(0)  NOT NULL CONSTRAINT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DF_bronze_Location_Created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DEFAULT SYSUTCDATETIME()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-- Employment type (raw)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bronze.EmploymentType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EmploymentTypeID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IDENTITY(1,1) NOT NULL CONSTRAINT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PK_bronze_EmploymentType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NVARCHAR(10) 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NVARCHAR(50) 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CreatedDTTM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DATETIME2(0)  NOT NULL CONSTRAINT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DF_bronze_EmpType_Created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DEFAULT SYSUTCDATETIME()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2098582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A58B71-766D-C51D-8B3A-7E027BB7E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" r="-2" b="2122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CCD30-9F47-92B2-6AF8-E5E0EBE2C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-- Employee (raw) - de-identified; synthetic IDs only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EmployeeID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INT IDENTITY(1,1) NOT NULL CONSTRAINT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PK_bronze_Employee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NVARCHAR(25) NOT NULL,  -- business key (synthetic)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FirstName        NVARCHAR(100)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LastName         NVARCHAR(100) NOT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BirthDate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DATE         NOT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Gender           CHAR(1)      NOT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INT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INT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INT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INT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ManagerID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INT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DATE NOT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DATE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TerminationReason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NVARCHAR(100)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DuplicateFlag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BIT NOT NULL CONSTRAINT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DF_bronze_Employee_Dup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DEFAULT (0),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CreatedDTTM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DATETIME2(0) NOT NULL CONSTRAINT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DF_bronze_Employee_Created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DEFAULT SYSUTCDATETIME()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2627995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F8CA3-D763-19EA-72BD-FC494134E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462116"/>
            <a:ext cx="6002912" cy="5478861"/>
          </a:xfrm>
        </p:spPr>
        <p:txBody>
          <a:bodyPr anchor="t">
            <a:normAutofit fontScale="92500" lnSpcReduction="10000"/>
          </a:bodyPr>
          <a:lstStyle/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-- Employee events (raw)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bronze.EmployeeEvent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EmployeeEventID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INT IDENTITY(1,1) NOT NULL CONSTRAINT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PK_bronze_EmployeeEvent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EmployeeID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INT NULL,</a:t>
            </a:r>
          </a:p>
          <a:p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NVARCHAR(20)  NOT NULL,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EventDate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         NOT NULL,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INT NULL,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RoleID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INT NULL,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LocationID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INT NULL,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EmploymentTypeID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INT NULL,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ManagerID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NULL,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EventReason</a:t>
            </a:r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NVARCHAR(100) NULL,</a:t>
            </a:r>
          </a:p>
          <a:p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CreatedDTTM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DATETIME2(0) NOT NULL CONSTRAINT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DF_bronze_Event_Created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DEFAULT SYSUTCDATETIME()</a:t>
            </a:r>
          </a:p>
          <a:p>
            <a:r>
              <a:rPr lang="en-A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2E7890-DB9C-B3FE-A7D4-98D414F9D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42" y="909081"/>
            <a:ext cx="3437980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00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A9DC8-83A6-2226-0B81-71756F245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9082"/>
            <a:ext cx="6307393" cy="5403228"/>
          </a:xfrm>
        </p:spPr>
        <p:txBody>
          <a:bodyPr anchor="t">
            <a:normAutofit lnSpcReduction="10000"/>
          </a:bodyPr>
          <a:lstStyle/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-- Absence (raw)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bronze.Absence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AbsenceID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IDENTITY(1,1) NOT NULL CONSTRAINT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PK_bronze_Absence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EmployeeID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NULL,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StartDate    DATE NOT NULL,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DATE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AbsenceType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NVARCHAR(50)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CreatedDTTM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DATETIME2(0) NOT NULL CONSTRAINT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DF_bronze_Absence_Created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DEFAULT SYSUTCDATETIME()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-- Data Quality log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dq.DataQualityLog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LogID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INT IDENTITY(1,1) NOT NULL CONSTRAINT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PK_dq_DataQualityLog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TableName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NVARCHAR(128)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CheckName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NVARCHAR(256) NOT NULL,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CheckResult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NVARCHAR(256) NOT NULL,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ErrorCount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INT NOT NULL,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RunDTTM     DATETIME2(0) NOT NULL CONSTRAINT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DF_dq_Run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DEFAULT SYSUTCDATETIME()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900" dirty="0"/>
          </a:p>
          <a:p>
            <a:endParaRPr lang="en-AU" sz="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F2E22-4F72-5094-9D3C-6CDCE1BDF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42" y="909081"/>
            <a:ext cx="3437980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7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3467-81AB-87BB-1C9F-93B090FC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Bronze Layer (DDL): Validation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6F1E4-F997-1D0F-CCFD-43641E68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6703" cy="4351338"/>
          </a:xfrm>
        </p:spPr>
        <p:txBody>
          <a:bodyPr/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Validation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RawTables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INFORMATION_SCHEMA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TABLE_SCHEMA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25CCC-4900-80B7-2B6A-0EF7DBDD7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895820"/>
            <a:ext cx="2651200" cy="1060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E8DA5C-D7C3-679B-388C-BC7FD8C22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752" y="1201993"/>
            <a:ext cx="3019248" cy="445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22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5471E-6FEF-A9A6-CC78-112C5C92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en-AU" sz="2100"/>
              <a:t>Bronze Layer</a:t>
            </a:r>
            <a:br>
              <a:rPr lang="en-AU" sz="2100"/>
            </a:br>
            <a:r>
              <a:rPr lang="en-AU" sz="2100"/>
              <a:t>DML: Inserting tables for Department, Role, Location, </a:t>
            </a:r>
            <a:r>
              <a:rPr lang="en-AU" sz="2100" err="1"/>
              <a:t>EmploymentType</a:t>
            </a:r>
            <a:r>
              <a:rPr lang="en-AU" sz="2100"/>
              <a:t>, Employee, </a:t>
            </a:r>
            <a:r>
              <a:rPr lang="en-AU" sz="2100" err="1"/>
              <a:t>EmployeeEvent</a:t>
            </a:r>
            <a:r>
              <a:rPr lang="en-AU" sz="2100"/>
              <a:t>, Absence, </a:t>
            </a:r>
            <a:r>
              <a:rPr lang="en-AU" sz="2100" err="1"/>
              <a:t>DataQualityLog</a:t>
            </a:r>
            <a:endParaRPr lang="en-AU" sz="21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0" y="5800298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99D82-D7DA-92CA-EA03-503AB8CB7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7" y="2549718"/>
            <a:ext cx="5747857" cy="3552969"/>
          </a:xfrm>
        </p:spPr>
        <p:txBody>
          <a:bodyPr>
            <a:normAutofit/>
          </a:bodyPr>
          <a:lstStyle/>
          <a:p>
            <a:r>
              <a:rPr lang="en-AU" sz="2000" dirty="0">
                <a:highlight>
                  <a:srgbClr val="FFFFFF"/>
                </a:highlight>
                <a:latin typeface="Cascadia Mono" panose="020B0609020000020004" pitchFamily="49" charset="0"/>
              </a:rPr>
              <a:t>-- Must run the following lines first</a:t>
            </a:r>
          </a:p>
          <a:p>
            <a:r>
              <a:rPr lang="en-AU" sz="2000" dirty="0">
                <a:highlight>
                  <a:srgbClr val="FFFFFF"/>
                </a:highlight>
                <a:latin typeface="Cascadia Mono" panose="020B0609020000020004" pitchFamily="49" charset="0"/>
              </a:rPr>
              <a:t>USE </a:t>
            </a:r>
            <a:r>
              <a:rPr lang="en-AU" sz="2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AU" sz="20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0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2000" dirty="0">
                <a:highlight>
                  <a:srgbClr val="FFFFFF"/>
                </a:highlight>
                <a:latin typeface="Cascadia Mono" panose="020B0609020000020004" pitchFamily="49" charset="0"/>
              </a:rPr>
              <a:t>SET NOCOUNT ON;</a:t>
            </a:r>
          </a:p>
          <a:p>
            <a:endParaRPr lang="en-AU" sz="2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0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D3D551-A983-846A-8B96-7AC1A65B1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976" y="771383"/>
            <a:ext cx="3600798" cy="531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0" y="5800298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82F41-170D-50A3-8100-30FE94171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7" y="2549718"/>
            <a:ext cx="5747857" cy="3552969"/>
          </a:xfrm>
        </p:spPr>
        <p:txBody>
          <a:bodyPr>
            <a:normAutofit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-- TALLY TABLE (200,000)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IF OBJECT_ID('tempdb..#Numbers') IS NOT NULL DROP TABLE #Numbers;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;WITH N AS (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SELECT TOP (200000)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   ROW_NUMBER() OVER (ORDER BY (SELECT NULL)) AS n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FROM sys.all_objects a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CROSS JOIN sys.all_objects b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SELECT n INTO #Numbers FROM N;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87CF28-7A95-5CA9-8C13-B890A3130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976" y="771383"/>
            <a:ext cx="3600798" cy="531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1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F5037B-45C6-F2FF-5355-84E80A06D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CD76-A7F4-DD44-C3A8-659A9552C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LOCATIONS (8)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BEGIN TRAN;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bronze.Location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Region)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CONCAT('L', RIGHT('00' + CAST(n AS VARCHAR(2)), 2)),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CONCAT('Location ', RIGHT('00' + CAST(n AS VARCHAR(2)), 2)),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CASE (ABS(CHECKSUM(n*3)) % 4)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WHEN 0 THEN 'North'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WHEN 1 THEN 'South'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WHEN 2 THEN 'East'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ELSE 'West'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END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FROM #Numbers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WHERE n &lt;= 8;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COMMIT;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1594654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EF627D-567F-C229-A8F0-98F5E959E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FF176-DCF8-404A-BD57-83D38D19D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 DEPARTMENTS (10)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BEGIN TRAN;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bronze.Department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DepartmentCode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CONCAT('D', RIGHT('00' + CAST(n AS VARCHAR(2)), 2)),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CONCAT('Department ', RIGHT('00' + CAST(n AS VARCHAR(2)), 2))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#Numbers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WHERE n &lt;= 10;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COMMIT;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300"/>
          </a:p>
        </p:txBody>
      </p:sp>
    </p:spTree>
    <p:extLst>
      <p:ext uri="{BB962C8B-B14F-4D97-AF65-F5344CB8AC3E}">
        <p14:creationId xmlns:p14="http://schemas.microsoft.com/office/powerpoint/2010/main" val="364230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66E00F-C349-8785-4996-96F264DB2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6485C-0DE9-3242-FF0F-A2A9DE464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 lnSpcReduction="10000"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 ROLES (40)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BEGIN TRAN;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bronze.Role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RoleCode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RoleName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pt-BR" sz="130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(ABS(CHECKSUM(n*5)) % 10),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CONCAT('R', RIGHT('000' + CAST(n AS VARCHAR(3)), 3)),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CONCAT('Role ', RIGHT('000' + CAST(n AS VARCHAR(3)), 3))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#Numbers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WHERE n &lt;= 40;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COMMIT;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300"/>
          </a:p>
        </p:txBody>
      </p:sp>
    </p:spTree>
    <p:extLst>
      <p:ext uri="{BB962C8B-B14F-4D97-AF65-F5344CB8AC3E}">
        <p14:creationId xmlns:p14="http://schemas.microsoft.com/office/powerpoint/2010/main" val="503859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FAE219-1F0C-26E9-47CF-7CFCD693C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043D3-AAC8-18CA-02FA-461316CB8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 lnSpcReduction="10000"/>
          </a:bodyPr>
          <a:lstStyle/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-- EMPLOYMENT TYPES (3)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BEGIN TRAN;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bronze.EmploymentType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('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PERM','Permanent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'),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('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CON','Contract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'),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('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CAS','Casual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');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COMMIT;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500"/>
          </a:p>
        </p:txBody>
      </p:sp>
    </p:spTree>
    <p:extLst>
      <p:ext uri="{BB962C8B-B14F-4D97-AF65-F5344CB8AC3E}">
        <p14:creationId xmlns:p14="http://schemas.microsoft.com/office/powerpoint/2010/main" val="1859008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86FFAD-71DD-2E6C-6ED3-37B0EBBB5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C53F8-78DA-E835-C026-3026D88AE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 lnSpcReduction="10000"/>
          </a:bodyPr>
          <a:lstStyle/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-- EMPLOYEES (12,000)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BEGIN TRAN;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180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, FirstName, LastName,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BirthDate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, Gender,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RoleID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LocationID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EmploymentTypeID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ManagerID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80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180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180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TerminationReason</a:t>
            </a:r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1800" err="1">
                <a:highlight>
                  <a:srgbClr val="FFFFFF"/>
                </a:highlight>
                <a:latin typeface="Cascadia Mono" panose="020B0609020000020004" pitchFamily="49" charset="0"/>
              </a:rPr>
              <a:t>DuplicateFlag</a:t>
            </a:r>
            <a:endParaRPr lang="en-AU" sz="1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4210005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647B7A-509C-BBA9-F333-D80613A28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366CE-F538-A1E4-8767-1CE0FD50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 fontScale="92500" lnSpcReduction="20000"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CASE WHEN n % 100 &lt; 2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THEN CONCAT('EMP', RIGHT('000000' + CAST(n-1 AS VARCHAR(6)), 6))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ELSE CONCAT('EMP', RIGHT('000000' + CAST(n   AS VARCHAR(6)), 6))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END,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CONCAT('First_', RIGHT('000000' + CAST(n AS VARCHAR(6)), 6)),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CONCAT('Last_',  RIGHT('000000' + CAST(n AS VARCHAR(6)), 6)),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DATEADD(DAY, -1 * (ABS(CHECKSUM(n*7)) % (60*365)), '2005-01-01'),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CASE WHEN ABS(CHECKSUM(n*11)) % 2 = 0 THEN 'M' ELSE 'F' END,</a:t>
            </a:r>
          </a:p>
          <a:p>
            <a:r>
              <a:rPr lang="pt-BR" sz="130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(ABS(CHECKSUM(n*13)) % 10),</a:t>
            </a:r>
          </a:p>
          <a:p>
            <a:r>
              <a:rPr lang="pt-BR" sz="130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(ABS(CHECKSUM(n*17)) % 40),</a:t>
            </a:r>
          </a:p>
          <a:p>
            <a:r>
              <a:rPr lang="pt-BR" sz="130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(ABS(CHECKSUM(n*19)) % 8),</a:t>
            </a:r>
          </a:p>
          <a:p>
            <a:r>
              <a:rPr lang="pt-BR" sz="130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(ABS(CHECKSUM(n*23)) % 3),</a:t>
            </a:r>
          </a:p>
        </p:txBody>
      </p:sp>
    </p:spTree>
    <p:extLst>
      <p:ext uri="{BB962C8B-B14F-4D97-AF65-F5344CB8AC3E}">
        <p14:creationId xmlns:p14="http://schemas.microsoft.com/office/powerpoint/2010/main" val="709065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CF16F5-E0AF-4144-B7AF-BDDCDF8D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085843F-A255-4AE2-BD1C-10954E1A6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0"/>
            <a:ext cx="7918980" cy="6858000"/>
          </a:xfrm>
          <a:custGeom>
            <a:avLst/>
            <a:gdLst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91493 w 7918980"/>
              <a:gd name="connsiteY69" fmla="*/ 1969445 h 6858000"/>
              <a:gd name="connsiteX70" fmla="*/ 6949577 w 7918980"/>
              <a:gd name="connsiteY70" fmla="*/ 2024270 h 6858000"/>
              <a:gd name="connsiteX71" fmla="*/ 6942508 w 7918980"/>
              <a:gd name="connsiteY71" fmla="*/ 2107942 h 6858000"/>
              <a:gd name="connsiteX72" fmla="*/ 6933336 w 7918980"/>
              <a:gd name="connsiteY72" fmla="*/ 2193455 h 6858000"/>
              <a:gd name="connsiteX73" fmla="*/ 6927972 w 7918980"/>
              <a:gd name="connsiteY73" fmla="*/ 2260088 h 6858000"/>
              <a:gd name="connsiteX74" fmla="*/ 6909058 w 7918980"/>
              <a:gd name="connsiteY74" fmla="*/ 2296008 h 6858000"/>
              <a:gd name="connsiteX75" fmla="*/ 6901810 w 7918980"/>
              <a:gd name="connsiteY75" fmla="*/ 2305564 h 6858000"/>
              <a:gd name="connsiteX76" fmla="*/ 6904482 w 7918980"/>
              <a:gd name="connsiteY76" fmla="*/ 2320214 h 6858000"/>
              <a:gd name="connsiteX77" fmla="*/ 6891885 w 7918980"/>
              <a:gd name="connsiteY77" fmla="*/ 2417011 h 6858000"/>
              <a:gd name="connsiteX78" fmla="*/ 6884970 w 7918980"/>
              <a:gd name="connsiteY78" fmla="*/ 2454207 h 6858000"/>
              <a:gd name="connsiteX79" fmla="*/ 6882954 w 7918980"/>
              <a:gd name="connsiteY79" fmla="*/ 2487203 h 6858000"/>
              <a:gd name="connsiteX80" fmla="*/ 6871484 w 7918980"/>
              <a:gd name="connsiteY80" fmla="*/ 2512282 h 6858000"/>
              <a:gd name="connsiteX81" fmla="*/ 6872496 w 7918980"/>
              <a:gd name="connsiteY81" fmla="*/ 2514318 h 6858000"/>
              <a:gd name="connsiteX82" fmla="*/ 6898111 w 7918980"/>
              <a:gd name="connsiteY82" fmla="*/ 2574334 h 6858000"/>
              <a:gd name="connsiteX83" fmla="*/ 6897017 w 7918980"/>
              <a:gd name="connsiteY83" fmla="*/ 2579877 h 6858000"/>
              <a:gd name="connsiteX84" fmla="*/ 6897171 w 7918980"/>
              <a:gd name="connsiteY84" fmla="*/ 2608928 h 6858000"/>
              <a:gd name="connsiteX85" fmla="*/ 6896584 w 7918980"/>
              <a:gd name="connsiteY85" fmla="*/ 2613111 h 6858000"/>
              <a:gd name="connsiteX86" fmla="*/ 6888164 w 7918980"/>
              <a:gd name="connsiteY86" fmla="*/ 2621996 h 6858000"/>
              <a:gd name="connsiteX87" fmla="*/ 6890652 w 7918980"/>
              <a:gd name="connsiteY87" fmla="*/ 2634265 h 6858000"/>
              <a:gd name="connsiteX88" fmla="*/ 6882034 w 7918980"/>
              <a:gd name="connsiteY88" fmla="*/ 2647237 h 6858000"/>
              <a:gd name="connsiteX89" fmla="*/ 6888195 w 7918980"/>
              <a:gd name="connsiteY89" fmla="*/ 2650786 h 6858000"/>
              <a:gd name="connsiteX90" fmla="*/ 6894052 w 7918980"/>
              <a:gd name="connsiteY90" fmla="*/ 2661993 h 6858000"/>
              <a:gd name="connsiteX91" fmla="*/ 6885953 w 7918980"/>
              <a:gd name="connsiteY91" fmla="*/ 2670949 h 6858000"/>
              <a:gd name="connsiteX92" fmla="*/ 6880156 w 7918980"/>
              <a:gd name="connsiteY92" fmla="*/ 2690255 h 6858000"/>
              <a:gd name="connsiteX93" fmla="*/ 6881009 w 7918980"/>
              <a:gd name="connsiteY93" fmla="*/ 2695683 h 6858000"/>
              <a:gd name="connsiteX94" fmla="*/ 6870001 w 7918980"/>
              <a:gd name="connsiteY94" fmla="*/ 2713964 h 6858000"/>
              <a:gd name="connsiteX95" fmla="*/ 6864441 w 7918980"/>
              <a:gd name="connsiteY95" fmla="*/ 2730175 h 6858000"/>
              <a:gd name="connsiteX96" fmla="*/ 6875107 w 7918980"/>
              <a:gd name="connsiteY96" fmla="*/ 2763497 h 6858000"/>
              <a:gd name="connsiteX97" fmla="*/ 6837349 w 7918980"/>
              <a:gd name="connsiteY97" fmla="*/ 3051539 h 6858000"/>
              <a:gd name="connsiteX98" fmla="*/ 6835698 w 7918980"/>
              <a:gd name="connsiteY98" fmla="*/ 3060333 h 6858000"/>
              <a:gd name="connsiteX99" fmla="*/ 6837785 w 7918980"/>
              <a:gd name="connsiteY99" fmla="*/ 3065434 h 6858000"/>
              <a:gd name="connsiteX100" fmla="*/ 6834476 w 7918980"/>
              <a:gd name="connsiteY100" fmla="*/ 3066836 h 6858000"/>
              <a:gd name="connsiteX101" fmla="*/ 6831096 w 7918980"/>
              <a:gd name="connsiteY101" fmla="*/ 3084834 h 6858000"/>
              <a:gd name="connsiteX102" fmla="*/ 6831305 w 7918980"/>
              <a:gd name="connsiteY102" fmla="*/ 3097259 h 6858000"/>
              <a:gd name="connsiteX103" fmla="*/ 6828050 w 7918980"/>
              <a:gd name="connsiteY103" fmla="*/ 3101053 h 6858000"/>
              <a:gd name="connsiteX104" fmla="*/ 6827093 w 7918980"/>
              <a:gd name="connsiteY104" fmla="*/ 3106151 h 6858000"/>
              <a:gd name="connsiteX105" fmla="*/ 6833251 w 7918980"/>
              <a:gd name="connsiteY105" fmla="*/ 3116747 h 6858000"/>
              <a:gd name="connsiteX106" fmla="*/ 6825921 w 7918980"/>
              <a:gd name="connsiteY106" fmla="*/ 3151828 h 6858000"/>
              <a:gd name="connsiteX107" fmla="*/ 6825863 w 7918980"/>
              <a:gd name="connsiteY107" fmla="*/ 3180546 h 6858000"/>
              <a:gd name="connsiteX108" fmla="*/ 6839691 w 7918980"/>
              <a:gd name="connsiteY108" fmla="*/ 3258677 h 6858000"/>
              <a:gd name="connsiteX109" fmla="*/ 6840898 w 7918980"/>
              <a:gd name="connsiteY109" fmla="*/ 3262610 h 6858000"/>
              <a:gd name="connsiteX110" fmla="*/ 6834652 w 7918980"/>
              <a:gd name="connsiteY110" fmla="*/ 3277179 h 6858000"/>
              <a:gd name="connsiteX111" fmla="*/ 6832324 w 7918980"/>
              <a:gd name="connsiteY111" fmla="*/ 3278130 h 6858000"/>
              <a:gd name="connsiteX112" fmla="*/ 6849750 w 7918980"/>
              <a:gd name="connsiteY112" fmla="*/ 3325671 h 6858000"/>
              <a:gd name="connsiteX113" fmla="*/ 6847551 w 7918980"/>
              <a:gd name="connsiteY113" fmla="*/ 3332072 h 6858000"/>
              <a:gd name="connsiteX114" fmla="*/ 6864685 w 7918980"/>
              <a:gd name="connsiteY114" fmla="*/ 3362948 h 6858000"/>
              <a:gd name="connsiteX115" fmla="*/ 6870457 w 7918980"/>
              <a:gd name="connsiteY115" fmla="*/ 3378959 h 6858000"/>
              <a:gd name="connsiteX116" fmla="*/ 6883738 w 7918980"/>
              <a:gd name="connsiteY116" fmla="*/ 3407057 h 6858000"/>
              <a:gd name="connsiteX117" fmla="*/ 6881948 w 7918980"/>
              <a:gd name="connsiteY117" fmla="*/ 3409825 h 6858000"/>
              <a:gd name="connsiteX118" fmla="*/ 6885647 w 7918980"/>
              <a:gd name="connsiteY118" fmla="*/ 3415218 h 6858000"/>
              <a:gd name="connsiteX119" fmla="*/ 6883908 w 7918980"/>
              <a:gd name="connsiteY119" fmla="*/ 3419880 h 6858000"/>
              <a:gd name="connsiteX120" fmla="*/ 6885903 w 7918980"/>
              <a:gd name="connsiteY120" fmla="*/ 3424545 h 6858000"/>
              <a:gd name="connsiteX121" fmla="*/ 6887603 w 7918980"/>
              <a:gd name="connsiteY121" fmla="*/ 3476412 h 6858000"/>
              <a:gd name="connsiteX122" fmla="*/ 6892664 w 7918980"/>
              <a:gd name="connsiteY122" fmla="*/ 3486850 h 6858000"/>
              <a:gd name="connsiteX123" fmla="*/ 6886319 w 7918980"/>
              <a:gd name="connsiteY123" fmla="*/ 3496391 h 6858000"/>
              <a:gd name="connsiteX124" fmla="*/ 6893119 w 7918980"/>
              <a:gd name="connsiteY124" fmla="*/ 3531201 h 6858000"/>
              <a:gd name="connsiteX125" fmla="*/ 6902876 w 7918980"/>
              <a:gd name="connsiteY125" fmla="*/ 3542019 h 6858000"/>
              <a:gd name="connsiteX126" fmla="*/ 6910520 w 7918980"/>
              <a:gd name="connsiteY126" fmla="*/ 3552249 h 6858000"/>
              <a:gd name="connsiteX127" fmla="*/ 6910882 w 7918980"/>
              <a:gd name="connsiteY127" fmla="*/ 3553678 h 6858000"/>
              <a:gd name="connsiteX128" fmla="*/ 6914489 w 7918980"/>
              <a:gd name="connsiteY128" fmla="*/ 3568021 h 6858000"/>
              <a:gd name="connsiteX129" fmla="*/ 6914914 w 7918980"/>
              <a:gd name="connsiteY129" fmla="*/ 3569719 h 6858000"/>
              <a:gd name="connsiteX130" fmla="*/ 6912342 w 7918980"/>
              <a:gd name="connsiteY130" fmla="*/ 3586412 h 6858000"/>
              <a:gd name="connsiteX131" fmla="*/ 6915338 w 7918980"/>
              <a:gd name="connsiteY131" fmla="*/ 3597336 h 6858000"/>
              <a:gd name="connsiteX132" fmla="*/ 6907234 w 7918980"/>
              <a:gd name="connsiteY132" fmla="*/ 3606007 h 6858000"/>
              <a:gd name="connsiteX133" fmla="*/ 6907261 w 7918980"/>
              <a:gd name="connsiteY133" fmla="*/ 3641228 h 6858000"/>
              <a:gd name="connsiteX134" fmla="*/ 6914828 w 7918980"/>
              <a:gd name="connsiteY134" fmla="*/ 3653088 h 6858000"/>
              <a:gd name="connsiteX135" fmla="*/ 6920416 w 7918980"/>
              <a:gd name="connsiteY135" fmla="*/ 3664114 h 6858000"/>
              <a:gd name="connsiteX136" fmla="*/ 6920498 w 7918980"/>
              <a:gd name="connsiteY136" fmla="*/ 3665569 h 6858000"/>
              <a:gd name="connsiteX137" fmla="*/ 6922809 w 7918980"/>
              <a:gd name="connsiteY137" fmla="*/ 3707357 h 6858000"/>
              <a:gd name="connsiteX138" fmla="*/ 6937676 w 7918980"/>
              <a:gd name="connsiteY138" fmla="*/ 3778166 h 6858000"/>
              <a:gd name="connsiteX139" fmla="*/ 6958359 w 7918980"/>
              <a:gd name="connsiteY139" fmla="*/ 3878222 h 6858000"/>
              <a:gd name="connsiteX140" fmla="*/ 6953118 w 7918980"/>
              <a:gd name="connsiteY140" fmla="*/ 4048117 h 6858000"/>
              <a:gd name="connsiteX141" fmla="*/ 6913020 w 7918980"/>
              <a:gd name="connsiteY141" fmla="*/ 4219510 h 6858000"/>
              <a:gd name="connsiteX142" fmla="*/ 6915792 w 7918980"/>
              <a:gd name="connsiteY142" fmla="*/ 4411258 h 6858000"/>
              <a:gd name="connsiteX143" fmla="*/ 6907579 w 7918980"/>
              <a:gd name="connsiteY143" fmla="*/ 4488531 h 6858000"/>
              <a:gd name="connsiteX144" fmla="*/ 6907052 w 7918980"/>
              <a:gd name="connsiteY144" fmla="*/ 4539168 h 6858000"/>
              <a:gd name="connsiteX145" fmla="*/ 6891916 w 7918980"/>
              <a:gd name="connsiteY145" fmla="*/ 4625153 h 6858000"/>
              <a:gd name="connsiteX146" fmla="*/ 6882094 w 7918980"/>
              <a:gd name="connsiteY146" fmla="*/ 4733115 h 6858000"/>
              <a:gd name="connsiteX147" fmla="*/ 6860189 w 7918980"/>
              <a:gd name="connsiteY147" fmla="*/ 4844323 h 6858000"/>
              <a:gd name="connsiteX148" fmla="*/ 6843618 w 7918980"/>
              <a:gd name="connsiteY148" fmla="*/ 4877992 h 6858000"/>
              <a:gd name="connsiteX149" fmla="*/ 6829393 w 7918980"/>
              <a:gd name="connsiteY149" fmla="*/ 4925805 h 6858000"/>
              <a:gd name="connsiteX150" fmla="*/ 6794017 w 7918980"/>
              <a:gd name="connsiteY150" fmla="*/ 5009272 h 6858000"/>
              <a:gd name="connsiteX151" fmla="*/ 6786085 w 7918980"/>
              <a:gd name="connsiteY151" fmla="*/ 5111369 h 6858000"/>
              <a:gd name="connsiteX152" fmla="*/ 6799321 w 7918980"/>
              <a:gd name="connsiteY152" fmla="*/ 5210876 h 6858000"/>
              <a:gd name="connsiteX153" fmla="*/ 6803597 w 7918980"/>
              <a:gd name="connsiteY153" fmla="*/ 5269726 h 6858000"/>
              <a:gd name="connsiteX154" fmla="*/ 6820713 w 7918980"/>
              <a:gd name="connsiteY154" fmla="*/ 5464225 h 6858000"/>
              <a:gd name="connsiteX155" fmla="*/ 6824380 w 7918980"/>
              <a:gd name="connsiteY155" fmla="*/ 5594585 h 6858000"/>
              <a:gd name="connsiteX156" fmla="*/ 6806680 w 7918980"/>
              <a:gd name="connsiteY156" fmla="*/ 5667896 h 6858000"/>
              <a:gd name="connsiteX157" fmla="*/ 6791486 w 7918980"/>
              <a:gd name="connsiteY157" fmla="*/ 5769225 h 6858000"/>
              <a:gd name="connsiteX158" fmla="*/ 6792745 w 7918980"/>
              <a:gd name="connsiteY158" fmla="*/ 5823324 h 6858000"/>
              <a:gd name="connsiteX159" fmla="*/ 6789109 w 7918980"/>
              <a:gd name="connsiteY159" fmla="*/ 5862699 h 6858000"/>
              <a:gd name="connsiteX160" fmla="*/ 6793675 w 7918980"/>
              <a:gd name="connsiteY160" fmla="*/ 5906467 h 6858000"/>
              <a:gd name="connsiteX161" fmla="*/ 6814548 w 7918980"/>
              <a:gd name="connsiteY161" fmla="*/ 5939847 h 6858000"/>
              <a:gd name="connsiteX162" fmla="*/ 6809795 w 7918980"/>
              <a:gd name="connsiteY162" fmla="*/ 5973994 h 6858000"/>
              <a:gd name="connsiteX163" fmla="*/ 6810756 w 7918980"/>
              <a:gd name="connsiteY163" fmla="*/ 6089693 h 6858000"/>
              <a:gd name="connsiteX164" fmla="*/ 6814601 w 7918980"/>
              <a:gd name="connsiteY164" fmla="*/ 6224938 h 6858000"/>
              <a:gd name="connsiteX165" fmla="*/ 6840137 w 7918980"/>
              <a:gd name="connsiteY165" fmla="*/ 6370251 h 6858000"/>
              <a:gd name="connsiteX166" fmla="*/ 6863777 w 7918980"/>
              <a:gd name="connsiteY166" fmla="*/ 6541313 h 6858000"/>
              <a:gd name="connsiteX167" fmla="*/ 6868355 w 7918980"/>
              <a:gd name="connsiteY167" fmla="*/ 6640957 h 6858000"/>
              <a:gd name="connsiteX168" fmla="*/ 6881422 w 7918980"/>
              <a:gd name="connsiteY168" fmla="*/ 6705297 h 6858000"/>
              <a:gd name="connsiteX169" fmla="*/ 6894105 w 7918980"/>
              <a:gd name="connsiteY169" fmla="*/ 6759582 h 6858000"/>
              <a:gd name="connsiteX170" fmla="*/ 6892152 w 7918980"/>
              <a:gd name="connsiteY170" fmla="*/ 6817746 h 6858000"/>
              <a:gd name="connsiteX171" fmla="*/ 6895302 w 7918980"/>
              <a:gd name="connsiteY171" fmla="*/ 6843646 h 6858000"/>
              <a:gd name="connsiteX172" fmla="*/ 6914368 w 7918980"/>
              <a:gd name="connsiteY172" fmla="*/ 6857998 h 6858000"/>
              <a:gd name="connsiteX173" fmla="*/ 7549620 w 7918980"/>
              <a:gd name="connsiteY173" fmla="*/ 6857998 h 6858000"/>
              <a:gd name="connsiteX174" fmla="*/ 7918980 w 7918980"/>
              <a:gd name="connsiteY174" fmla="*/ 6857998 h 6858000"/>
              <a:gd name="connsiteX175" fmla="*/ 7918980 w 7918980"/>
              <a:gd name="connsiteY175" fmla="*/ 6858000 h 6858000"/>
              <a:gd name="connsiteX176" fmla="*/ 7549620 w 7918980"/>
              <a:gd name="connsiteY176" fmla="*/ 6858000 h 6858000"/>
              <a:gd name="connsiteX177" fmla="*/ 6658851 w 7918980"/>
              <a:gd name="connsiteY177" fmla="*/ 6858000 h 6858000"/>
              <a:gd name="connsiteX178" fmla="*/ 2092387 w 7918980"/>
              <a:gd name="connsiteY178" fmla="*/ 6858000 h 6858000"/>
              <a:gd name="connsiteX179" fmla="*/ 1822980 w 7918980"/>
              <a:gd name="connsiteY179" fmla="*/ 6858000 h 6858000"/>
              <a:gd name="connsiteX180" fmla="*/ 727500 w 7918980"/>
              <a:gd name="connsiteY180" fmla="*/ 6858000 h 6858000"/>
              <a:gd name="connsiteX181" fmla="*/ 504457 w 7918980"/>
              <a:gd name="connsiteY181" fmla="*/ 6858000 h 6858000"/>
              <a:gd name="connsiteX182" fmla="*/ 0 w 7918980"/>
              <a:gd name="connsiteY182" fmla="*/ 685800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49577 w 7918980"/>
              <a:gd name="connsiteY69" fmla="*/ 2024270 h 6858000"/>
              <a:gd name="connsiteX70" fmla="*/ 6942508 w 7918980"/>
              <a:gd name="connsiteY70" fmla="*/ 2107942 h 6858000"/>
              <a:gd name="connsiteX71" fmla="*/ 6933336 w 7918980"/>
              <a:gd name="connsiteY71" fmla="*/ 2193455 h 6858000"/>
              <a:gd name="connsiteX72" fmla="*/ 6927972 w 7918980"/>
              <a:gd name="connsiteY72" fmla="*/ 2260088 h 6858000"/>
              <a:gd name="connsiteX73" fmla="*/ 6909058 w 7918980"/>
              <a:gd name="connsiteY73" fmla="*/ 2296008 h 6858000"/>
              <a:gd name="connsiteX74" fmla="*/ 6901810 w 7918980"/>
              <a:gd name="connsiteY74" fmla="*/ 2305564 h 6858000"/>
              <a:gd name="connsiteX75" fmla="*/ 6904482 w 7918980"/>
              <a:gd name="connsiteY75" fmla="*/ 2320214 h 6858000"/>
              <a:gd name="connsiteX76" fmla="*/ 6891885 w 7918980"/>
              <a:gd name="connsiteY76" fmla="*/ 2417011 h 6858000"/>
              <a:gd name="connsiteX77" fmla="*/ 6884970 w 7918980"/>
              <a:gd name="connsiteY77" fmla="*/ 2454207 h 6858000"/>
              <a:gd name="connsiteX78" fmla="*/ 6882954 w 7918980"/>
              <a:gd name="connsiteY78" fmla="*/ 2487203 h 6858000"/>
              <a:gd name="connsiteX79" fmla="*/ 6871484 w 7918980"/>
              <a:gd name="connsiteY79" fmla="*/ 2512282 h 6858000"/>
              <a:gd name="connsiteX80" fmla="*/ 6872496 w 7918980"/>
              <a:gd name="connsiteY80" fmla="*/ 2514318 h 6858000"/>
              <a:gd name="connsiteX81" fmla="*/ 6898111 w 7918980"/>
              <a:gd name="connsiteY81" fmla="*/ 2574334 h 6858000"/>
              <a:gd name="connsiteX82" fmla="*/ 6897017 w 7918980"/>
              <a:gd name="connsiteY82" fmla="*/ 2579877 h 6858000"/>
              <a:gd name="connsiteX83" fmla="*/ 6897171 w 7918980"/>
              <a:gd name="connsiteY83" fmla="*/ 2608928 h 6858000"/>
              <a:gd name="connsiteX84" fmla="*/ 6896584 w 7918980"/>
              <a:gd name="connsiteY84" fmla="*/ 2613111 h 6858000"/>
              <a:gd name="connsiteX85" fmla="*/ 6888164 w 7918980"/>
              <a:gd name="connsiteY85" fmla="*/ 2621996 h 6858000"/>
              <a:gd name="connsiteX86" fmla="*/ 6890652 w 7918980"/>
              <a:gd name="connsiteY86" fmla="*/ 2634265 h 6858000"/>
              <a:gd name="connsiteX87" fmla="*/ 6882034 w 7918980"/>
              <a:gd name="connsiteY87" fmla="*/ 2647237 h 6858000"/>
              <a:gd name="connsiteX88" fmla="*/ 6888195 w 7918980"/>
              <a:gd name="connsiteY88" fmla="*/ 2650786 h 6858000"/>
              <a:gd name="connsiteX89" fmla="*/ 6894052 w 7918980"/>
              <a:gd name="connsiteY89" fmla="*/ 2661993 h 6858000"/>
              <a:gd name="connsiteX90" fmla="*/ 6885953 w 7918980"/>
              <a:gd name="connsiteY90" fmla="*/ 2670949 h 6858000"/>
              <a:gd name="connsiteX91" fmla="*/ 6880156 w 7918980"/>
              <a:gd name="connsiteY91" fmla="*/ 2690255 h 6858000"/>
              <a:gd name="connsiteX92" fmla="*/ 6881009 w 7918980"/>
              <a:gd name="connsiteY92" fmla="*/ 2695683 h 6858000"/>
              <a:gd name="connsiteX93" fmla="*/ 6870001 w 7918980"/>
              <a:gd name="connsiteY93" fmla="*/ 2713964 h 6858000"/>
              <a:gd name="connsiteX94" fmla="*/ 6864441 w 7918980"/>
              <a:gd name="connsiteY94" fmla="*/ 2730175 h 6858000"/>
              <a:gd name="connsiteX95" fmla="*/ 6875107 w 7918980"/>
              <a:gd name="connsiteY95" fmla="*/ 2763497 h 6858000"/>
              <a:gd name="connsiteX96" fmla="*/ 6837349 w 7918980"/>
              <a:gd name="connsiteY96" fmla="*/ 3051539 h 6858000"/>
              <a:gd name="connsiteX97" fmla="*/ 6835698 w 7918980"/>
              <a:gd name="connsiteY97" fmla="*/ 3060333 h 6858000"/>
              <a:gd name="connsiteX98" fmla="*/ 6837785 w 7918980"/>
              <a:gd name="connsiteY98" fmla="*/ 3065434 h 6858000"/>
              <a:gd name="connsiteX99" fmla="*/ 6834476 w 7918980"/>
              <a:gd name="connsiteY99" fmla="*/ 3066836 h 6858000"/>
              <a:gd name="connsiteX100" fmla="*/ 6831096 w 7918980"/>
              <a:gd name="connsiteY100" fmla="*/ 3084834 h 6858000"/>
              <a:gd name="connsiteX101" fmla="*/ 6831305 w 7918980"/>
              <a:gd name="connsiteY101" fmla="*/ 3097259 h 6858000"/>
              <a:gd name="connsiteX102" fmla="*/ 6828050 w 7918980"/>
              <a:gd name="connsiteY102" fmla="*/ 3101053 h 6858000"/>
              <a:gd name="connsiteX103" fmla="*/ 6827093 w 7918980"/>
              <a:gd name="connsiteY103" fmla="*/ 3106151 h 6858000"/>
              <a:gd name="connsiteX104" fmla="*/ 6833251 w 7918980"/>
              <a:gd name="connsiteY104" fmla="*/ 3116747 h 6858000"/>
              <a:gd name="connsiteX105" fmla="*/ 6825921 w 7918980"/>
              <a:gd name="connsiteY105" fmla="*/ 3151828 h 6858000"/>
              <a:gd name="connsiteX106" fmla="*/ 6825863 w 7918980"/>
              <a:gd name="connsiteY106" fmla="*/ 3180546 h 6858000"/>
              <a:gd name="connsiteX107" fmla="*/ 6839691 w 7918980"/>
              <a:gd name="connsiteY107" fmla="*/ 3258677 h 6858000"/>
              <a:gd name="connsiteX108" fmla="*/ 6840898 w 7918980"/>
              <a:gd name="connsiteY108" fmla="*/ 3262610 h 6858000"/>
              <a:gd name="connsiteX109" fmla="*/ 6834652 w 7918980"/>
              <a:gd name="connsiteY109" fmla="*/ 3277179 h 6858000"/>
              <a:gd name="connsiteX110" fmla="*/ 6832324 w 7918980"/>
              <a:gd name="connsiteY110" fmla="*/ 3278130 h 6858000"/>
              <a:gd name="connsiteX111" fmla="*/ 6849750 w 7918980"/>
              <a:gd name="connsiteY111" fmla="*/ 3325671 h 6858000"/>
              <a:gd name="connsiteX112" fmla="*/ 6847551 w 7918980"/>
              <a:gd name="connsiteY112" fmla="*/ 3332072 h 6858000"/>
              <a:gd name="connsiteX113" fmla="*/ 6864685 w 7918980"/>
              <a:gd name="connsiteY113" fmla="*/ 3362948 h 6858000"/>
              <a:gd name="connsiteX114" fmla="*/ 6870457 w 7918980"/>
              <a:gd name="connsiteY114" fmla="*/ 3378959 h 6858000"/>
              <a:gd name="connsiteX115" fmla="*/ 6883738 w 7918980"/>
              <a:gd name="connsiteY115" fmla="*/ 3407057 h 6858000"/>
              <a:gd name="connsiteX116" fmla="*/ 6881948 w 7918980"/>
              <a:gd name="connsiteY116" fmla="*/ 3409825 h 6858000"/>
              <a:gd name="connsiteX117" fmla="*/ 6885647 w 7918980"/>
              <a:gd name="connsiteY117" fmla="*/ 3415218 h 6858000"/>
              <a:gd name="connsiteX118" fmla="*/ 6883908 w 7918980"/>
              <a:gd name="connsiteY118" fmla="*/ 3419880 h 6858000"/>
              <a:gd name="connsiteX119" fmla="*/ 6885903 w 7918980"/>
              <a:gd name="connsiteY119" fmla="*/ 3424545 h 6858000"/>
              <a:gd name="connsiteX120" fmla="*/ 6887603 w 7918980"/>
              <a:gd name="connsiteY120" fmla="*/ 3476412 h 6858000"/>
              <a:gd name="connsiteX121" fmla="*/ 6892664 w 7918980"/>
              <a:gd name="connsiteY121" fmla="*/ 3486850 h 6858000"/>
              <a:gd name="connsiteX122" fmla="*/ 6886319 w 7918980"/>
              <a:gd name="connsiteY122" fmla="*/ 3496391 h 6858000"/>
              <a:gd name="connsiteX123" fmla="*/ 6893119 w 7918980"/>
              <a:gd name="connsiteY123" fmla="*/ 3531201 h 6858000"/>
              <a:gd name="connsiteX124" fmla="*/ 6902876 w 7918980"/>
              <a:gd name="connsiteY124" fmla="*/ 3542019 h 6858000"/>
              <a:gd name="connsiteX125" fmla="*/ 6910520 w 7918980"/>
              <a:gd name="connsiteY125" fmla="*/ 3552249 h 6858000"/>
              <a:gd name="connsiteX126" fmla="*/ 6910882 w 7918980"/>
              <a:gd name="connsiteY126" fmla="*/ 3553678 h 6858000"/>
              <a:gd name="connsiteX127" fmla="*/ 6914489 w 7918980"/>
              <a:gd name="connsiteY127" fmla="*/ 3568021 h 6858000"/>
              <a:gd name="connsiteX128" fmla="*/ 6914914 w 7918980"/>
              <a:gd name="connsiteY128" fmla="*/ 3569719 h 6858000"/>
              <a:gd name="connsiteX129" fmla="*/ 6912342 w 7918980"/>
              <a:gd name="connsiteY129" fmla="*/ 3586412 h 6858000"/>
              <a:gd name="connsiteX130" fmla="*/ 6915338 w 7918980"/>
              <a:gd name="connsiteY130" fmla="*/ 3597336 h 6858000"/>
              <a:gd name="connsiteX131" fmla="*/ 6907234 w 7918980"/>
              <a:gd name="connsiteY131" fmla="*/ 3606007 h 6858000"/>
              <a:gd name="connsiteX132" fmla="*/ 6907261 w 7918980"/>
              <a:gd name="connsiteY132" fmla="*/ 3641228 h 6858000"/>
              <a:gd name="connsiteX133" fmla="*/ 6914828 w 7918980"/>
              <a:gd name="connsiteY133" fmla="*/ 3653088 h 6858000"/>
              <a:gd name="connsiteX134" fmla="*/ 6920416 w 7918980"/>
              <a:gd name="connsiteY134" fmla="*/ 3664114 h 6858000"/>
              <a:gd name="connsiteX135" fmla="*/ 6920498 w 7918980"/>
              <a:gd name="connsiteY135" fmla="*/ 3665569 h 6858000"/>
              <a:gd name="connsiteX136" fmla="*/ 6922809 w 7918980"/>
              <a:gd name="connsiteY136" fmla="*/ 3707357 h 6858000"/>
              <a:gd name="connsiteX137" fmla="*/ 6937676 w 7918980"/>
              <a:gd name="connsiteY137" fmla="*/ 3778166 h 6858000"/>
              <a:gd name="connsiteX138" fmla="*/ 6958359 w 7918980"/>
              <a:gd name="connsiteY138" fmla="*/ 3878222 h 6858000"/>
              <a:gd name="connsiteX139" fmla="*/ 6953118 w 7918980"/>
              <a:gd name="connsiteY139" fmla="*/ 4048117 h 6858000"/>
              <a:gd name="connsiteX140" fmla="*/ 6913020 w 7918980"/>
              <a:gd name="connsiteY140" fmla="*/ 4219510 h 6858000"/>
              <a:gd name="connsiteX141" fmla="*/ 6915792 w 7918980"/>
              <a:gd name="connsiteY141" fmla="*/ 4411258 h 6858000"/>
              <a:gd name="connsiteX142" fmla="*/ 6907579 w 7918980"/>
              <a:gd name="connsiteY142" fmla="*/ 4488531 h 6858000"/>
              <a:gd name="connsiteX143" fmla="*/ 6907052 w 7918980"/>
              <a:gd name="connsiteY143" fmla="*/ 4539168 h 6858000"/>
              <a:gd name="connsiteX144" fmla="*/ 6891916 w 7918980"/>
              <a:gd name="connsiteY144" fmla="*/ 4625153 h 6858000"/>
              <a:gd name="connsiteX145" fmla="*/ 6882094 w 7918980"/>
              <a:gd name="connsiteY145" fmla="*/ 4733115 h 6858000"/>
              <a:gd name="connsiteX146" fmla="*/ 6860189 w 7918980"/>
              <a:gd name="connsiteY146" fmla="*/ 4844323 h 6858000"/>
              <a:gd name="connsiteX147" fmla="*/ 6843618 w 7918980"/>
              <a:gd name="connsiteY147" fmla="*/ 4877992 h 6858000"/>
              <a:gd name="connsiteX148" fmla="*/ 6829393 w 7918980"/>
              <a:gd name="connsiteY148" fmla="*/ 4925805 h 6858000"/>
              <a:gd name="connsiteX149" fmla="*/ 6794017 w 7918980"/>
              <a:gd name="connsiteY149" fmla="*/ 5009272 h 6858000"/>
              <a:gd name="connsiteX150" fmla="*/ 6786085 w 7918980"/>
              <a:gd name="connsiteY150" fmla="*/ 5111369 h 6858000"/>
              <a:gd name="connsiteX151" fmla="*/ 6799321 w 7918980"/>
              <a:gd name="connsiteY151" fmla="*/ 5210876 h 6858000"/>
              <a:gd name="connsiteX152" fmla="*/ 6803597 w 7918980"/>
              <a:gd name="connsiteY152" fmla="*/ 5269726 h 6858000"/>
              <a:gd name="connsiteX153" fmla="*/ 6820713 w 7918980"/>
              <a:gd name="connsiteY153" fmla="*/ 5464225 h 6858000"/>
              <a:gd name="connsiteX154" fmla="*/ 6824380 w 7918980"/>
              <a:gd name="connsiteY154" fmla="*/ 5594585 h 6858000"/>
              <a:gd name="connsiteX155" fmla="*/ 6806680 w 7918980"/>
              <a:gd name="connsiteY155" fmla="*/ 5667896 h 6858000"/>
              <a:gd name="connsiteX156" fmla="*/ 6791486 w 7918980"/>
              <a:gd name="connsiteY156" fmla="*/ 5769225 h 6858000"/>
              <a:gd name="connsiteX157" fmla="*/ 6792745 w 7918980"/>
              <a:gd name="connsiteY157" fmla="*/ 5823324 h 6858000"/>
              <a:gd name="connsiteX158" fmla="*/ 6789109 w 7918980"/>
              <a:gd name="connsiteY158" fmla="*/ 5862699 h 6858000"/>
              <a:gd name="connsiteX159" fmla="*/ 6793675 w 7918980"/>
              <a:gd name="connsiteY159" fmla="*/ 5906467 h 6858000"/>
              <a:gd name="connsiteX160" fmla="*/ 6814548 w 7918980"/>
              <a:gd name="connsiteY160" fmla="*/ 5939847 h 6858000"/>
              <a:gd name="connsiteX161" fmla="*/ 6809795 w 7918980"/>
              <a:gd name="connsiteY161" fmla="*/ 5973994 h 6858000"/>
              <a:gd name="connsiteX162" fmla="*/ 6810756 w 7918980"/>
              <a:gd name="connsiteY162" fmla="*/ 6089693 h 6858000"/>
              <a:gd name="connsiteX163" fmla="*/ 6814601 w 7918980"/>
              <a:gd name="connsiteY163" fmla="*/ 6224938 h 6858000"/>
              <a:gd name="connsiteX164" fmla="*/ 6840137 w 7918980"/>
              <a:gd name="connsiteY164" fmla="*/ 6370251 h 6858000"/>
              <a:gd name="connsiteX165" fmla="*/ 6863777 w 7918980"/>
              <a:gd name="connsiteY165" fmla="*/ 6541313 h 6858000"/>
              <a:gd name="connsiteX166" fmla="*/ 6868355 w 7918980"/>
              <a:gd name="connsiteY166" fmla="*/ 6640957 h 6858000"/>
              <a:gd name="connsiteX167" fmla="*/ 6881422 w 7918980"/>
              <a:gd name="connsiteY167" fmla="*/ 6705297 h 6858000"/>
              <a:gd name="connsiteX168" fmla="*/ 6894105 w 7918980"/>
              <a:gd name="connsiteY168" fmla="*/ 6759582 h 6858000"/>
              <a:gd name="connsiteX169" fmla="*/ 6892152 w 7918980"/>
              <a:gd name="connsiteY169" fmla="*/ 6817746 h 6858000"/>
              <a:gd name="connsiteX170" fmla="*/ 6895302 w 7918980"/>
              <a:gd name="connsiteY170" fmla="*/ 6843646 h 6858000"/>
              <a:gd name="connsiteX171" fmla="*/ 6914368 w 7918980"/>
              <a:gd name="connsiteY171" fmla="*/ 6857998 h 6858000"/>
              <a:gd name="connsiteX172" fmla="*/ 7549620 w 7918980"/>
              <a:gd name="connsiteY172" fmla="*/ 6857998 h 6858000"/>
              <a:gd name="connsiteX173" fmla="*/ 7918980 w 7918980"/>
              <a:gd name="connsiteY173" fmla="*/ 6857998 h 6858000"/>
              <a:gd name="connsiteX174" fmla="*/ 7918980 w 7918980"/>
              <a:gd name="connsiteY174" fmla="*/ 6858000 h 6858000"/>
              <a:gd name="connsiteX175" fmla="*/ 7549620 w 7918980"/>
              <a:gd name="connsiteY175" fmla="*/ 6858000 h 6858000"/>
              <a:gd name="connsiteX176" fmla="*/ 6658851 w 7918980"/>
              <a:gd name="connsiteY176" fmla="*/ 6858000 h 6858000"/>
              <a:gd name="connsiteX177" fmla="*/ 2092387 w 7918980"/>
              <a:gd name="connsiteY177" fmla="*/ 6858000 h 6858000"/>
              <a:gd name="connsiteX178" fmla="*/ 1822980 w 7918980"/>
              <a:gd name="connsiteY178" fmla="*/ 6858000 h 6858000"/>
              <a:gd name="connsiteX179" fmla="*/ 727500 w 7918980"/>
              <a:gd name="connsiteY179" fmla="*/ 6858000 h 6858000"/>
              <a:gd name="connsiteX180" fmla="*/ 504457 w 7918980"/>
              <a:gd name="connsiteY180" fmla="*/ 6858000 h 6858000"/>
              <a:gd name="connsiteX181" fmla="*/ 0 w 7918980"/>
              <a:gd name="connsiteY181" fmla="*/ 6858000 h 6858000"/>
              <a:gd name="connsiteX182" fmla="*/ 0 w 7918980"/>
              <a:gd name="connsiteY182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6985020 w 7918980"/>
              <a:gd name="connsiteY67" fmla="*/ 1967551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7918980" h="6858000">
                <a:moveTo>
                  <a:pt x="0" y="0"/>
                </a:moveTo>
                <a:lnTo>
                  <a:pt x="504457" y="0"/>
                </a:lnTo>
                <a:lnTo>
                  <a:pt x="727500" y="0"/>
                </a:lnTo>
                <a:lnTo>
                  <a:pt x="1822980" y="0"/>
                </a:lnTo>
                <a:lnTo>
                  <a:pt x="2092387" y="0"/>
                </a:lnTo>
                <a:lnTo>
                  <a:pt x="7076514" y="0"/>
                </a:lnTo>
                <a:lnTo>
                  <a:pt x="7264525" y="0"/>
                </a:lnTo>
                <a:lnTo>
                  <a:pt x="7390497" y="0"/>
                </a:lnTo>
                <a:lnTo>
                  <a:pt x="7389918" y="1705"/>
                </a:lnTo>
                <a:cubicBezTo>
                  <a:pt x="7386106" y="8440"/>
                  <a:pt x="7381092" y="13784"/>
                  <a:pt x="7374574" y="17287"/>
                </a:cubicBezTo>
                <a:cubicBezTo>
                  <a:pt x="7385344" y="82036"/>
                  <a:pt x="7333329" y="69804"/>
                  <a:pt x="7368621" y="130336"/>
                </a:cubicBezTo>
                <a:cubicBezTo>
                  <a:pt x="7349933" y="117589"/>
                  <a:pt x="7359958" y="162458"/>
                  <a:pt x="7361269" y="187093"/>
                </a:cubicBezTo>
                <a:cubicBezTo>
                  <a:pt x="7359185" y="226511"/>
                  <a:pt x="7368702" y="205530"/>
                  <a:pt x="7368770" y="265704"/>
                </a:cubicBezTo>
                <a:cubicBezTo>
                  <a:pt x="7365276" y="317533"/>
                  <a:pt x="7366793" y="325288"/>
                  <a:pt x="7365293" y="354566"/>
                </a:cubicBezTo>
                <a:lnTo>
                  <a:pt x="7347106" y="472000"/>
                </a:lnTo>
                <a:lnTo>
                  <a:pt x="7345150" y="473782"/>
                </a:lnTo>
                <a:cubicBezTo>
                  <a:pt x="7340827" y="482008"/>
                  <a:pt x="7341662" y="487340"/>
                  <a:pt x="7344778" y="491380"/>
                </a:cubicBezTo>
                <a:lnTo>
                  <a:pt x="7359399" y="531675"/>
                </a:lnTo>
                <a:lnTo>
                  <a:pt x="7356415" y="536015"/>
                </a:lnTo>
                <a:lnTo>
                  <a:pt x="7361068" y="572092"/>
                </a:lnTo>
                <a:lnTo>
                  <a:pt x="7359041" y="572511"/>
                </a:lnTo>
                <a:cubicBezTo>
                  <a:pt x="7354591" y="574271"/>
                  <a:pt x="7351509" y="577121"/>
                  <a:pt x="7351198" y="582332"/>
                </a:cubicBezTo>
                <a:cubicBezTo>
                  <a:pt x="7320982" y="573171"/>
                  <a:pt x="7339242" y="585107"/>
                  <a:pt x="7340991" y="601285"/>
                </a:cubicBezTo>
                <a:cubicBezTo>
                  <a:pt x="7331818" y="617831"/>
                  <a:pt x="7303664" y="666964"/>
                  <a:pt x="7296154" y="681608"/>
                </a:cubicBezTo>
                <a:cubicBezTo>
                  <a:pt x="7296082" y="684122"/>
                  <a:pt x="7296013" y="686637"/>
                  <a:pt x="7295943" y="689151"/>
                </a:cubicBezTo>
                <a:lnTo>
                  <a:pt x="7295465" y="689289"/>
                </a:lnTo>
                <a:cubicBezTo>
                  <a:pt x="7294414" y="690905"/>
                  <a:pt x="7293966" y="693376"/>
                  <a:pt x="7294306" y="697222"/>
                </a:cubicBezTo>
                <a:cubicBezTo>
                  <a:pt x="7294586" y="703992"/>
                  <a:pt x="7294864" y="710761"/>
                  <a:pt x="7295144" y="717531"/>
                </a:cubicBezTo>
                <a:lnTo>
                  <a:pt x="7291871" y="722494"/>
                </a:lnTo>
                <a:lnTo>
                  <a:pt x="7286061" y="724368"/>
                </a:lnTo>
                <a:lnTo>
                  <a:pt x="7269961" y="752692"/>
                </a:lnTo>
                <a:cubicBezTo>
                  <a:pt x="7277671" y="764380"/>
                  <a:pt x="7245699" y="808083"/>
                  <a:pt x="7240170" y="816346"/>
                </a:cubicBezTo>
                <a:lnTo>
                  <a:pt x="7211938" y="889417"/>
                </a:lnTo>
                <a:cubicBezTo>
                  <a:pt x="7143471" y="969963"/>
                  <a:pt x="7144887" y="1005331"/>
                  <a:pt x="7130024" y="1063288"/>
                </a:cubicBezTo>
                <a:cubicBezTo>
                  <a:pt x="7136312" y="1111028"/>
                  <a:pt x="7140076" y="1110140"/>
                  <a:pt x="7126817" y="1157176"/>
                </a:cubicBezTo>
                <a:cubicBezTo>
                  <a:pt x="7124083" y="1192124"/>
                  <a:pt x="7124864" y="1197232"/>
                  <a:pt x="7109474" y="1210776"/>
                </a:cubicBezTo>
                <a:lnTo>
                  <a:pt x="7105443" y="1301993"/>
                </a:lnTo>
                <a:lnTo>
                  <a:pt x="7075215" y="1360879"/>
                </a:lnTo>
                <a:lnTo>
                  <a:pt x="7067477" y="1404045"/>
                </a:lnTo>
                <a:lnTo>
                  <a:pt x="7046803" y="1429568"/>
                </a:lnTo>
                <a:lnTo>
                  <a:pt x="7047831" y="1430305"/>
                </a:lnTo>
                <a:cubicBezTo>
                  <a:pt x="7049677" y="1432466"/>
                  <a:pt x="7037718" y="1459891"/>
                  <a:pt x="7035374" y="1463304"/>
                </a:cubicBezTo>
                <a:cubicBezTo>
                  <a:pt x="7032892" y="1477394"/>
                  <a:pt x="7036007" y="1501295"/>
                  <a:pt x="7032938" y="1514846"/>
                </a:cubicBezTo>
                <a:lnTo>
                  <a:pt x="7029397" y="1519731"/>
                </a:lnTo>
                <a:lnTo>
                  <a:pt x="7029620" y="1519929"/>
                </a:lnTo>
                <a:cubicBezTo>
                  <a:pt x="7029470" y="1521210"/>
                  <a:pt x="7032690" y="1543635"/>
                  <a:pt x="7030612" y="1546022"/>
                </a:cubicBezTo>
                <a:lnTo>
                  <a:pt x="7035010" y="1578752"/>
                </a:lnTo>
                <a:cubicBezTo>
                  <a:pt x="7029127" y="1605585"/>
                  <a:pt x="7049361" y="1622803"/>
                  <a:pt x="7026513" y="1647555"/>
                </a:cubicBezTo>
                <a:cubicBezTo>
                  <a:pt x="7021108" y="1672675"/>
                  <a:pt x="7026193" y="1694404"/>
                  <a:pt x="7013857" y="1715685"/>
                </a:cubicBezTo>
                <a:cubicBezTo>
                  <a:pt x="7019795" y="1724301"/>
                  <a:pt x="7021078" y="1732435"/>
                  <a:pt x="7007215" y="1740358"/>
                </a:cubicBezTo>
                <a:cubicBezTo>
                  <a:pt x="7005605" y="1763793"/>
                  <a:pt x="7021348" y="1769422"/>
                  <a:pt x="7004455" y="1784314"/>
                </a:cubicBezTo>
                <a:cubicBezTo>
                  <a:pt x="7028967" y="1797417"/>
                  <a:pt x="7018226" y="1798221"/>
                  <a:pt x="7008825" y="1804434"/>
                </a:cubicBezTo>
                <a:lnTo>
                  <a:pt x="7008048" y="1805316"/>
                </a:lnTo>
                <a:lnTo>
                  <a:pt x="7011573" y="1807109"/>
                </a:lnTo>
                <a:lnTo>
                  <a:pt x="7008900" y="1821003"/>
                </a:lnTo>
                <a:lnTo>
                  <a:pt x="7006523" y="1824832"/>
                </a:lnTo>
                <a:cubicBezTo>
                  <a:pt x="7005264" y="1827468"/>
                  <a:pt x="7004917" y="1829219"/>
                  <a:pt x="7005215" y="1830429"/>
                </a:cubicBezTo>
                <a:lnTo>
                  <a:pt x="7005505" y="1830569"/>
                </a:lnTo>
                <a:lnTo>
                  <a:pt x="7003643" y="1835810"/>
                </a:lnTo>
                <a:cubicBezTo>
                  <a:pt x="6999759" y="1844665"/>
                  <a:pt x="6995277" y="1853278"/>
                  <a:pt x="6990432" y="1861483"/>
                </a:cubicBezTo>
                <a:cubicBezTo>
                  <a:pt x="7002807" y="1866643"/>
                  <a:pt x="6989768" y="1884999"/>
                  <a:pt x="6997246" y="1892417"/>
                </a:cubicBezTo>
                <a:lnTo>
                  <a:pt x="7012242" y="1895114"/>
                </a:lnTo>
                <a:lnTo>
                  <a:pt x="7010080" y="1899379"/>
                </a:lnTo>
                <a:lnTo>
                  <a:pt x="7003451" y="1907867"/>
                </a:lnTo>
                <a:cubicBezTo>
                  <a:pt x="7002589" y="1909162"/>
                  <a:pt x="7002627" y="1909994"/>
                  <a:pt x="7004341" y="1910265"/>
                </a:cubicBezTo>
                <a:cubicBezTo>
                  <a:pt x="7003975" y="1914884"/>
                  <a:pt x="7000873" y="1930292"/>
                  <a:pt x="7001248" y="1935584"/>
                </a:cubicBezTo>
                <a:lnTo>
                  <a:pt x="7006599" y="1942021"/>
                </a:lnTo>
                <a:lnTo>
                  <a:pt x="6985020" y="1967551"/>
                </a:lnTo>
                <a:lnTo>
                  <a:pt x="6949577" y="2024270"/>
                </a:lnTo>
                <a:lnTo>
                  <a:pt x="6942508" y="2107942"/>
                </a:lnTo>
                <a:cubicBezTo>
                  <a:pt x="6912270" y="2138038"/>
                  <a:pt x="6933395" y="2159228"/>
                  <a:pt x="6933336" y="2193455"/>
                </a:cubicBezTo>
                <a:cubicBezTo>
                  <a:pt x="6924282" y="2220953"/>
                  <a:pt x="6933361" y="2224200"/>
                  <a:pt x="6927972" y="2260088"/>
                </a:cubicBezTo>
                <a:cubicBezTo>
                  <a:pt x="6923728" y="2275916"/>
                  <a:pt x="6917037" y="2285645"/>
                  <a:pt x="6909058" y="2296008"/>
                </a:cubicBezTo>
                <a:lnTo>
                  <a:pt x="6901810" y="2305564"/>
                </a:lnTo>
                <a:lnTo>
                  <a:pt x="6904482" y="2320214"/>
                </a:lnTo>
                <a:cubicBezTo>
                  <a:pt x="6902155" y="2355906"/>
                  <a:pt x="6895137" y="2394678"/>
                  <a:pt x="6891885" y="2417011"/>
                </a:cubicBezTo>
                <a:cubicBezTo>
                  <a:pt x="6880976" y="2426377"/>
                  <a:pt x="6897848" y="2456509"/>
                  <a:pt x="6884970" y="2454207"/>
                </a:cubicBezTo>
                <a:cubicBezTo>
                  <a:pt x="6890753" y="2464947"/>
                  <a:pt x="6887930" y="2476105"/>
                  <a:pt x="6882954" y="2487203"/>
                </a:cubicBezTo>
                <a:lnTo>
                  <a:pt x="6871484" y="2512282"/>
                </a:lnTo>
                <a:lnTo>
                  <a:pt x="6872496" y="2514318"/>
                </a:lnTo>
                <a:lnTo>
                  <a:pt x="6898111" y="2574334"/>
                </a:lnTo>
                <a:lnTo>
                  <a:pt x="6897017" y="2579877"/>
                </a:lnTo>
                <a:cubicBezTo>
                  <a:pt x="6896861" y="2585644"/>
                  <a:pt x="6897245" y="2603388"/>
                  <a:pt x="6897171" y="2608928"/>
                </a:cubicBezTo>
                <a:cubicBezTo>
                  <a:pt x="6896975" y="2610322"/>
                  <a:pt x="6896780" y="2611717"/>
                  <a:pt x="6896584" y="2613111"/>
                </a:cubicBezTo>
                <a:lnTo>
                  <a:pt x="6888164" y="2621996"/>
                </a:lnTo>
                <a:lnTo>
                  <a:pt x="6890652" y="2634265"/>
                </a:lnTo>
                <a:lnTo>
                  <a:pt x="6882034" y="2647237"/>
                </a:lnTo>
                <a:cubicBezTo>
                  <a:pt x="6884287" y="2648158"/>
                  <a:pt x="6886365" y="2649356"/>
                  <a:pt x="6888195" y="2650786"/>
                </a:cubicBezTo>
                <a:lnTo>
                  <a:pt x="6894052" y="2661993"/>
                </a:lnTo>
                <a:lnTo>
                  <a:pt x="6885953" y="2670949"/>
                </a:lnTo>
                <a:cubicBezTo>
                  <a:pt x="6898507" y="2672007"/>
                  <a:pt x="6883930" y="2681695"/>
                  <a:pt x="6880156" y="2690255"/>
                </a:cubicBezTo>
                <a:lnTo>
                  <a:pt x="6881009" y="2695683"/>
                </a:lnTo>
                <a:lnTo>
                  <a:pt x="6870001" y="2713964"/>
                </a:lnTo>
                <a:lnTo>
                  <a:pt x="6864441" y="2730175"/>
                </a:lnTo>
                <a:lnTo>
                  <a:pt x="6875107" y="2763497"/>
                </a:lnTo>
                <a:lnTo>
                  <a:pt x="6837349" y="3051539"/>
                </a:lnTo>
                <a:lnTo>
                  <a:pt x="6835698" y="3060333"/>
                </a:lnTo>
                <a:lnTo>
                  <a:pt x="6837785" y="3065434"/>
                </a:lnTo>
                <a:lnTo>
                  <a:pt x="6834476" y="3066836"/>
                </a:lnTo>
                <a:lnTo>
                  <a:pt x="6831096" y="3084834"/>
                </a:lnTo>
                <a:cubicBezTo>
                  <a:pt x="6831166" y="3088976"/>
                  <a:pt x="6831235" y="3093117"/>
                  <a:pt x="6831305" y="3097259"/>
                </a:cubicBezTo>
                <a:lnTo>
                  <a:pt x="6828050" y="3101053"/>
                </a:lnTo>
                <a:lnTo>
                  <a:pt x="6827093" y="3106151"/>
                </a:lnTo>
                <a:lnTo>
                  <a:pt x="6833251" y="3116747"/>
                </a:lnTo>
                <a:cubicBezTo>
                  <a:pt x="6834765" y="3127646"/>
                  <a:pt x="6821739" y="3134084"/>
                  <a:pt x="6825921" y="3151828"/>
                </a:cubicBezTo>
                <a:cubicBezTo>
                  <a:pt x="6833244" y="3163902"/>
                  <a:pt x="6834336" y="3171780"/>
                  <a:pt x="6825863" y="3180546"/>
                </a:cubicBezTo>
                <a:cubicBezTo>
                  <a:pt x="6861566" y="3236545"/>
                  <a:pt x="6826703" y="3210316"/>
                  <a:pt x="6839691" y="3258677"/>
                </a:cubicBezTo>
                <a:lnTo>
                  <a:pt x="6840898" y="3262610"/>
                </a:lnTo>
                <a:lnTo>
                  <a:pt x="6834652" y="3277179"/>
                </a:lnTo>
                <a:lnTo>
                  <a:pt x="6832324" y="3278130"/>
                </a:lnTo>
                <a:lnTo>
                  <a:pt x="6849750" y="3325671"/>
                </a:lnTo>
                <a:lnTo>
                  <a:pt x="6847551" y="3332072"/>
                </a:lnTo>
                <a:lnTo>
                  <a:pt x="6864685" y="3362948"/>
                </a:lnTo>
                <a:lnTo>
                  <a:pt x="6870457" y="3378959"/>
                </a:lnTo>
                <a:lnTo>
                  <a:pt x="6883738" y="3407057"/>
                </a:lnTo>
                <a:lnTo>
                  <a:pt x="6881948" y="3409825"/>
                </a:lnTo>
                <a:lnTo>
                  <a:pt x="6885647" y="3415218"/>
                </a:lnTo>
                <a:lnTo>
                  <a:pt x="6883908" y="3419880"/>
                </a:lnTo>
                <a:lnTo>
                  <a:pt x="6885903" y="3424545"/>
                </a:lnTo>
                <a:cubicBezTo>
                  <a:pt x="6886517" y="3433967"/>
                  <a:pt x="6886474" y="3466028"/>
                  <a:pt x="6887603" y="3476412"/>
                </a:cubicBezTo>
                <a:lnTo>
                  <a:pt x="6892664" y="3486850"/>
                </a:lnTo>
                <a:lnTo>
                  <a:pt x="6886319" y="3496391"/>
                </a:lnTo>
                <a:lnTo>
                  <a:pt x="6893119" y="3531201"/>
                </a:lnTo>
                <a:lnTo>
                  <a:pt x="6902876" y="3542019"/>
                </a:lnTo>
                <a:lnTo>
                  <a:pt x="6910520" y="3552249"/>
                </a:lnTo>
                <a:cubicBezTo>
                  <a:pt x="6910641" y="3552725"/>
                  <a:pt x="6910761" y="3553202"/>
                  <a:pt x="6910882" y="3553678"/>
                </a:cubicBezTo>
                <a:lnTo>
                  <a:pt x="6914489" y="3568021"/>
                </a:lnTo>
                <a:lnTo>
                  <a:pt x="6914914" y="3569719"/>
                </a:lnTo>
                <a:lnTo>
                  <a:pt x="6912342" y="3586412"/>
                </a:lnTo>
                <a:lnTo>
                  <a:pt x="6915338" y="3597336"/>
                </a:lnTo>
                <a:lnTo>
                  <a:pt x="6907234" y="3606007"/>
                </a:lnTo>
                <a:cubicBezTo>
                  <a:pt x="6907242" y="3617747"/>
                  <a:pt x="6907253" y="3629488"/>
                  <a:pt x="6907261" y="3641228"/>
                </a:cubicBezTo>
                <a:lnTo>
                  <a:pt x="6914828" y="3653088"/>
                </a:lnTo>
                <a:lnTo>
                  <a:pt x="6920416" y="3664114"/>
                </a:lnTo>
                <a:cubicBezTo>
                  <a:pt x="6920443" y="3664599"/>
                  <a:pt x="6920471" y="3665084"/>
                  <a:pt x="6920498" y="3665569"/>
                </a:cubicBezTo>
                <a:cubicBezTo>
                  <a:pt x="6920895" y="3672776"/>
                  <a:pt x="6919946" y="3688591"/>
                  <a:pt x="6922809" y="3707357"/>
                </a:cubicBezTo>
                <a:cubicBezTo>
                  <a:pt x="6923485" y="3724716"/>
                  <a:pt x="6941058" y="3760234"/>
                  <a:pt x="6937676" y="3778166"/>
                </a:cubicBezTo>
                <a:cubicBezTo>
                  <a:pt x="6964607" y="3845122"/>
                  <a:pt x="6948407" y="3821305"/>
                  <a:pt x="6958359" y="3878222"/>
                </a:cubicBezTo>
                <a:cubicBezTo>
                  <a:pt x="6984499" y="3905047"/>
                  <a:pt x="6948397" y="4015047"/>
                  <a:pt x="6953118" y="4048117"/>
                </a:cubicBezTo>
                <a:cubicBezTo>
                  <a:pt x="6904784" y="4192084"/>
                  <a:pt x="6919242" y="4158987"/>
                  <a:pt x="6913020" y="4219510"/>
                </a:cubicBezTo>
                <a:cubicBezTo>
                  <a:pt x="6927533" y="4280033"/>
                  <a:pt x="6888360" y="4345686"/>
                  <a:pt x="6915792" y="4411258"/>
                </a:cubicBezTo>
                <a:cubicBezTo>
                  <a:pt x="6913610" y="4437329"/>
                  <a:pt x="6906858" y="4473140"/>
                  <a:pt x="6907579" y="4488531"/>
                </a:cubicBezTo>
                <a:cubicBezTo>
                  <a:pt x="6907403" y="4505410"/>
                  <a:pt x="6907228" y="4522289"/>
                  <a:pt x="6907052" y="4539168"/>
                </a:cubicBezTo>
                <a:cubicBezTo>
                  <a:pt x="6895094" y="4567830"/>
                  <a:pt x="6887285" y="4588197"/>
                  <a:pt x="6891916" y="4625153"/>
                </a:cubicBezTo>
                <a:cubicBezTo>
                  <a:pt x="6900413" y="4662889"/>
                  <a:pt x="6888879" y="4679357"/>
                  <a:pt x="6882094" y="4733115"/>
                </a:cubicBezTo>
                <a:cubicBezTo>
                  <a:pt x="6891667" y="4752352"/>
                  <a:pt x="6878350" y="4832308"/>
                  <a:pt x="6860189" y="4844323"/>
                </a:cubicBezTo>
                <a:cubicBezTo>
                  <a:pt x="6856424" y="4857054"/>
                  <a:pt x="6863174" y="4871554"/>
                  <a:pt x="6843618" y="4877992"/>
                </a:cubicBezTo>
                <a:cubicBezTo>
                  <a:pt x="6820131" y="4888353"/>
                  <a:pt x="6857398" y="4931200"/>
                  <a:pt x="6829393" y="4925805"/>
                </a:cubicBezTo>
                <a:cubicBezTo>
                  <a:pt x="6854944" y="4956261"/>
                  <a:pt x="6805820" y="4982633"/>
                  <a:pt x="6794017" y="5009272"/>
                </a:cubicBezTo>
                <a:cubicBezTo>
                  <a:pt x="6796239" y="5034036"/>
                  <a:pt x="6791355" y="5053859"/>
                  <a:pt x="6786085" y="5111369"/>
                </a:cubicBezTo>
                <a:cubicBezTo>
                  <a:pt x="6796204" y="5141336"/>
                  <a:pt x="6760393" y="5161742"/>
                  <a:pt x="6799321" y="5210876"/>
                </a:cubicBezTo>
                <a:cubicBezTo>
                  <a:pt x="6795435" y="5212581"/>
                  <a:pt x="6800034" y="5227501"/>
                  <a:pt x="6803597" y="5269726"/>
                </a:cubicBezTo>
                <a:cubicBezTo>
                  <a:pt x="6807162" y="5311951"/>
                  <a:pt x="6813370" y="5400671"/>
                  <a:pt x="6820713" y="5464225"/>
                </a:cubicBezTo>
                <a:cubicBezTo>
                  <a:pt x="6824745" y="5536542"/>
                  <a:pt x="6813205" y="5517959"/>
                  <a:pt x="6824380" y="5594585"/>
                </a:cubicBezTo>
                <a:cubicBezTo>
                  <a:pt x="6822888" y="5619318"/>
                  <a:pt x="6797022" y="5647975"/>
                  <a:pt x="6806680" y="5667896"/>
                </a:cubicBezTo>
                <a:cubicBezTo>
                  <a:pt x="6799814" y="5696311"/>
                  <a:pt x="6798559" y="5738356"/>
                  <a:pt x="6791486" y="5769225"/>
                </a:cubicBezTo>
                <a:cubicBezTo>
                  <a:pt x="6791906" y="5787258"/>
                  <a:pt x="6792324" y="5805291"/>
                  <a:pt x="6792745" y="5823324"/>
                </a:cubicBezTo>
                <a:cubicBezTo>
                  <a:pt x="6789102" y="5853058"/>
                  <a:pt x="6788588" y="5838948"/>
                  <a:pt x="6789109" y="5862699"/>
                </a:cubicBezTo>
                <a:lnTo>
                  <a:pt x="6793675" y="5906467"/>
                </a:lnTo>
                <a:lnTo>
                  <a:pt x="6814548" y="5939847"/>
                </a:lnTo>
                <a:cubicBezTo>
                  <a:pt x="6821828" y="5955713"/>
                  <a:pt x="6797711" y="5940131"/>
                  <a:pt x="6809795" y="5973994"/>
                </a:cubicBezTo>
                <a:cubicBezTo>
                  <a:pt x="6784167" y="5997051"/>
                  <a:pt x="6806424" y="6032039"/>
                  <a:pt x="6810756" y="6089693"/>
                </a:cubicBezTo>
                <a:lnTo>
                  <a:pt x="6814601" y="6224938"/>
                </a:lnTo>
                <a:cubicBezTo>
                  <a:pt x="6811422" y="6270972"/>
                  <a:pt x="6831942" y="6317522"/>
                  <a:pt x="6840137" y="6370251"/>
                </a:cubicBezTo>
                <a:cubicBezTo>
                  <a:pt x="6848333" y="6422980"/>
                  <a:pt x="6862918" y="6490855"/>
                  <a:pt x="6863777" y="6541313"/>
                </a:cubicBezTo>
                <a:cubicBezTo>
                  <a:pt x="6862878" y="6576319"/>
                  <a:pt x="6854892" y="6591883"/>
                  <a:pt x="6868355" y="6640957"/>
                </a:cubicBezTo>
                <a:cubicBezTo>
                  <a:pt x="6880485" y="6669536"/>
                  <a:pt x="6875256" y="6675394"/>
                  <a:pt x="6881422" y="6705297"/>
                </a:cubicBezTo>
                <a:cubicBezTo>
                  <a:pt x="6880347" y="6727133"/>
                  <a:pt x="6890881" y="6732087"/>
                  <a:pt x="6894105" y="6759582"/>
                </a:cubicBezTo>
                <a:cubicBezTo>
                  <a:pt x="6878594" y="6796071"/>
                  <a:pt x="6874636" y="6769544"/>
                  <a:pt x="6892152" y="6817746"/>
                </a:cubicBezTo>
                <a:cubicBezTo>
                  <a:pt x="6883936" y="6828354"/>
                  <a:pt x="6887505" y="6836369"/>
                  <a:pt x="6895302" y="6843646"/>
                </a:cubicBezTo>
                <a:lnTo>
                  <a:pt x="6914368" y="6857998"/>
                </a:lnTo>
                <a:lnTo>
                  <a:pt x="7549620" y="6857998"/>
                </a:lnTo>
                <a:lnTo>
                  <a:pt x="7918980" y="6857998"/>
                </a:lnTo>
                <a:lnTo>
                  <a:pt x="7918980" y="6858000"/>
                </a:lnTo>
                <a:lnTo>
                  <a:pt x="7549620" y="6858000"/>
                </a:lnTo>
                <a:lnTo>
                  <a:pt x="6658851" y="6858000"/>
                </a:lnTo>
                <a:lnTo>
                  <a:pt x="2092387" y="6858000"/>
                </a:lnTo>
                <a:lnTo>
                  <a:pt x="1822980" y="6858000"/>
                </a:lnTo>
                <a:lnTo>
                  <a:pt x="727500" y="6858000"/>
                </a:lnTo>
                <a:lnTo>
                  <a:pt x="50445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999FF-2D61-6641-4FAE-DE4ED4133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610518"/>
            <a:ext cx="6036199" cy="5492170"/>
          </a:xfrm>
        </p:spPr>
        <p:txBody>
          <a:bodyPr>
            <a:noAutofit/>
          </a:bodyPr>
          <a:lstStyle/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NULL, --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ManagerID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will be mapped later (raw may contain nulls)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DATEADD(DAY, -1 * (ABS(CHECKSUM(n*29)) % 3650), '2025-01-01'),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n % 10 = 0 THEN DATEADD(DAY, -1 * (ABS(CHECKSUM(n*31)) % 365), '2025-01-01') ELSE NULL END,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n % 10 = 0 THEN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CASE (ABS(CHECKSUM(n*37)) % 3)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0 THEN 'Resignation'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1 THEN 'Retirement'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ELSE 'Termination'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END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ELSE NULL END,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n % 100 &lt; 2 THEN 1 ELSE 0 END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FROM #Numbers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WHERE n &lt;= 12000;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COMMIT;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70ACC9-6319-2408-9959-4A439BEF6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224" y="770925"/>
            <a:ext cx="3603662" cy="5316146"/>
          </a:xfrm>
          <a:prstGeom prst="rect">
            <a:avLst/>
          </a:prstGeom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5B1C0F75-E7F7-4B02-A77F-5EABD7CBD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4090" y="6128733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756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CF16F5-E0AF-4144-B7AF-BDDCDF8D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085843F-A255-4AE2-BD1C-10954E1A6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0"/>
            <a:ext cx="7918980" cy="6858000"/>
          </a:xfrm>
          <a:custGeom>
            <a:avLst/>
            <a:gdLst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91493 w 7918980"/>
              <a:gd name="connsiteY69" fmla="*/ 1969445 h 6858000"/>
              <a:gd name="connsiteX70" fmla="*/ 6949577 w 7918980"/>
              <a:gd name="connsiteY70" fmla="*/ 2024270 h 6858000"/>
              <a:gd name="connsiteX71" fmla="*/ 6942508 w 7918980"/>
              <a:gd name="connsiteY71" fmla="*/ 2107942 h 6858000"/>
              <a:gd name="connsiteX72" fmla="*/ 6933336 w 7918980"/>
              <a:gd name="connsiteY72" fmla="*/ 2193455 h 6858000"/>
              <a:gd name="connsiteX73" fmla="*/ 6927972 w 7918980"/>
              <a:gd name="connsiteY73" fmla="*/ 2260088 h 6858000"/>
              <a:gd name="connsiteX74" fmla="*/ 6909058 w 7918980"/>
              <a:gd name="connsiteY74" fmla="*/ 2296008 h 6858000"/>
              <a:gd name="connsiteX75" fmla="*/ 6901810 w 7918980"/>
              <a:gd name="connsiteY75" fmla="*/ 2305564 h 6858000"/>
              <a:gd name="connsiteX76" fmla="*/ 6904482 w 7918980"/>
              <a:gd name="connsiteY76" fmla="*/ 2320214 h 6858000"/>
              <a:gd name="connsiteX77" fmla="*/ 6891885 w 7918980"/>
              <a:gd name="connsiteY77" fmla="*/ 2417011 h 6858000"/>
              <a:gd name="connsiteX78" fmla="*/ 6884970 w 7918980"/>
              <a:gd name="connsiteY78" fmla="*/ 2454207 h 6858000"/>
              <a:gd name="connsiteX79" fmla="*/ 6882954 w 7918980"/>
              <a:gd name="connsiteY79" fmla="*/ 2487203 h 6858000"/>
              <a:gd name="connsiteX80" fmla="*/ 6871484 w 7918980"/>
              <a:gd name="connsiteY80" fmla="*/ 2512282 h 6858000"/>
              <a:gd name="connsiteX81" fmla="*/ 6872496 w 7918980"/>
              <a:gd name="connsiteY81" fmla="*/ 2514318 h 6858000"/>
              <a:gd name="connsiteX82" fmla="*/ 6898111 w 7918980"/>
              <a:gd name="connsiteY82" fmla="*/ 2574334 h 6858000"/>
              <a:gd name="connsiteX83" fmla="*/ 6897017 w 7918980"/>
              <a:gd name="connsiteY83" fmla="*/ 2579877 h 6858000"/>
              <a:gd name="connsiteX84" fmla="*/ 6897171 w 7918980"/>
              <a:gd name="connsiteY84" fmla="*/ 2608928 h 6858000"/>
              <a:gd name="connsiteX85" fmla="*/ 6896584 w 7918980"/>
              <a:gd name="connsiteY85" fmla="*/ 2613111 h 6858000"/>
              <a:gd name="connsiteX86" fmla="*/ 6888164 w 7918980"/>
              <a:gd name="connsiteY86" fmla="*/ 2621996 h 6858000"/>
              <a:gd name="connsiteX87" fmla="*/ 6890652 w 7918980"/>
              <a:gd name="connsiteY87" fmla="*/ 2634265 h 6858000"/>
              <a:gd name="connsiteX88" fmla="*/ 6882034 w 7918980"/>
              <a:gd name="connsiteY88" fmla="*/ 2647237 h 6858000"/>
              <a:gd name="connsiteX89" fmla="*/ 6888195 w 7918980"/>
              <a:gd name="connsiteY89" fmla="*/ 2650786 h 6858000"/>
              <a:gd name="connsiteX90" fmla="*/ 6894052 w 7918980"/>
              <a:gd name="connsiteY90" fmla="*/ 2661993 h 6858000"/>
              <a:gd name="connsiteX91" fmla="*/ 6885953 w 7918980"/>
              <a:gd name="connsiteY91" fmla="*/ 2670949 h 6858000"/>
              <a:gd name="connsiteX92" fmla="*/ 6880156 w 7918980"/>
              <a:gd name="connsiteY92" fmla="*/ 2690255 h 6858000"/>
              <a:gd name="connsiteX93" fmla="*/ 6881009 w 7918980"/>
              <a:gd name="connsiteY93" fmla="*/ 2695683 h 6858000"/>
              <a:gd name="connsiteX94" fmla="*/ 6870001 w 7918980"/>
              <a:gd name="connsiteY94" fmla="*/ 2713964 h 6858000"/>
              <a:gd name="connsiteX95" fmla="*/ 6864441 w 7918980"/>
              <a:gd name="connsiteY95" fmla="*/ 2730175 h 6858000"/>
              <a:gd name="connsiteX96" fmla="*/ 6875107 w 7918980"/>
              <a:gd name="connsiteY96" fmla="*/ 2763497 h 6858000"/>
              <a:gd name="connsiteX97" fmla="*/ 6837349 w 7918980"/>
              <a:gd name="connsiteY97" fmla="*/ 3051539 h 6858000"/>
              <a:gd name="connsiteX98" fmla="*/ 6835698 w 7918980"/>
              <a:gd name="connsiteY98" fmla="*/ 3060333 h 6858000"/>
              <a:gd name="connsiteX99" fmla="*/ 6837785 w 7918980"/>
              <a:gd name="connsiteY99" fmla="*/ 3065434 h 6858000"/>
              <a:gd name="connsiteX100" fmla="*/ 6834476 w 7918980"/>
              <a:gd name="connsiteY100" fmla="*/ 3066836 h 6858000"/>
              <a:gd name="connsiteX101" fmla="*/ 6831096 w 7918980"/>
              <a:gd name="connsiteY101" fmla="*/ 3084834 h 6858000"/>
              <a:gd name="connsiteX102" fmla="*/ 6831305 w 7918980"/>
              <a:gd name="connsiteY102" fmla="*/ 3097259 h 6858000"/>
              <a:gd name="connsiteX103" fmla="*/ 6828050 w 7918980"/>
              <a:gd name="connsiteY103" fmla="*/ 3101053 h 6858000"/>
              <a:gd name="connsiteX104" fmla="*/ 6827093 w 7918980"/>
              <a:gd name="connsiteY104" fmla="*/ 3106151 h 6858000"/>
              <a:gd name="connsiteX105" fmla="*/ 6833251 w 7918980"/>
              <a:gd name="connsiteY105" fmla="*/ 3116747 h 6858000"/>
              <a:gd name="connsiteX106" fmla="*/ 6825921 w 7918980"/>
              <a:gd name="connsiteY106" fmla="*/ 3151828 h 6858000"/>
              <a:gd name="connsiteX107" fmla="*/ 6825863 w 7918980"/>
              <a:gd name="connsiteY107" fmla="*/ 3180546 h 6858000"/>
              <a:gd name="connsiteX108" fmla="*/ 6839691 w 7918980"/>
              <a:gd name="connsiteY108" fmla="*/ 3258677 h 6858000"/>
              <a:gd name="connsiteX109" fmla="*/ 6840898 w 7918980"/>
              <a:gd name="connsiteY109" fmla="*/ 3262610 h 6858000"/>
              <a:gd name="connsiteX110" fmla="*/ 6834652 w 7918980"/>
              <a:gd name="connsiteY110" fmla="*/ 3277179 h 6858000"/>
              <a:gd name="connsiteX111" fmla="*/ 6832324 w 7918980"/>
              <a:gd name="connsiteY111" fmla="*/ 3278130 h 6858000"/>
              <a:gd name="connsiteX112" fmla="*/ 6849750 w 7918980"/>
              <a:gd name="connsiteY112" fmla="*/ 3325671 h 6858000"/>
              <a:gd name="connsiteX113" fmla="*/ 6847551 w 7918980"/>
              <a:gd name="connsiteY113" fmla="*/ 3332072 h 6858000"/>
              <a:gd name="connsiteX114" fmla="*/ 6864685 w 7918980"/>
              <a:gd name="connsiteY114" fmla="*/ 3362948 h 6858000"/>
              <a:gd name="connsiteX115" fmla="*/ 6870457 w 7918980"/>
              <a:gd name="connsiteY115" fmla="*/ 3378959 h 6858000"/>
              <a:gd name="connsiteX116" fmla="*/ 6883738 w 7918980"/>
              <a:gd name="connsiteY116" fmla="*/ 3407057 h 6858000"/>
              <a:gd name="connsiteX117" fmla="*/ 6881948 w 7918980"/>
              <a:gd name="connsiteY117" fmla="*/ 3409825 h 6858000"/>
              <a:gd name="connsiteX118" fmla="*/ 6885647 w 7918980"/>
              <a:gd name="connsiteY118" fmla="*/ 3415218 h 6858000"/>
              <a:gd name="connsiteX119" fmla="*/ 6883908 w 7918980"/>
              <a:gd name="connsiteY119" fmla="*/ 3419880 h 6858000"/>
              <a:gd name="connsiteX120" fmla="*/ 6885903 w 7918980"/>
              <a:gd name="connsiteY120" fmla="*/ 3424545 h 6858000"/>
              <a:gd name="connsiteX121" fmla="*/ 6887603 w 7918980"/>
              <a:gd name="connsiteY121" fmla="*/ 3476412 h 6858000"/>
              <a:gd name="connsiteX122" fmla="*/ 6892664 w 7918980"/>
              <a:gd name="connsiteY122" fmla="*/ 3486850 h 6858000"/>
              <a:gd name="connsiteX123" fmla="*/ 6886319 w 7918980"/>
              <a:gd name="connsiteY123" fmla="*/ 3496391 h 6858000"/>
              <a:gd name="connsiteX124" fmla="*/ 6893119 w 7918980"/>
              <a:gd name="connsiteY124" fmla="*/ 3531201 h 6858000"/>
              <a:gd name="connsiteX125" fmla="*/ 6902876 w 7918980"/>
              <a:gd name="connsiteY125" fmla="*/ 3542019 h 6858000"/>
              <a:gd name="connsiteX126" fmla="*/ 6910520 w 7918980"/>
              <a:gd name="connsiteY126" fmla="*/ 3552249 h 6858000"/>
              <a:gd name="connsiteX127" fmla="*/ 6910882 w 7918980"/>
              <a:gd name="connsiteY127" fmla="*/ 3553678 h 6858000"/>
              <a:gd name="connsiteX128" fmla="*/ 6914489 w 7918980"/>
              <a:gd name="connsiteY128" fmla="*/ 3568021 h 6858000"/>
              <a:gd name="connsiteX129" fmla="*/ 6914914 w 7918980"/>
              <a:gd name="connsiteY129" fmla="*/ 3569719 h 6858000"/>
              <a:gd name="connsiteX130" fmla="*/ 6912342 w 7918980"/>
              <a:gd name="connsiteY130" fmla="*/ 3586412 h 6858000"/>
              <a:gd name="connsiteX131" fmla="*/ 6915338 w 7918980"/>
              <a:gd name="connsiteY131" fmla="*/ 3597336 h 6858000"/>
              <a:gd name="connsiteX132" fmla="*/ 6907234 w 7918980"/>
              <a:gd name="connsiteY132" fmla="*/ 3606007 h 6858000"/>
              <a:gd name="connsiteX133" fmla="*/ 6907261 w 7918980"/>
              <a:gd name="connsiteY133" fmla="*/ 3641228 h 6858000"/>
              <a:gd name="connsiteX134" fmla="*/ 6914828 w 7918980"/>
              <a:gd name="connsiteY134" fmla="*/ 3653088 h 6858000"/>
              <a:gd name="connsiteX135" fmla="*/ 6920416 w 7918980"/>
              <a:gd name="connsiteY135" fmla="*/ 3664114 h 6858000"/>
              <a:gd name="connsiteX136" fmla="*/ 6920498 w 7918980"/>
              <a:gd name="connsiteY136" fmla="*/ 3665569 h 6858000"/>
              <a:gd name="connsiteX137" fmla="*/ 6922809 w 7918980"/>
              <a:gd name="connsiteY137" fmla="*/ 3707357 h 6858000"/>
              <a:gd name="connsiteX138" fmla="*/ 6937676 w 7918980"/>
              <a:gd name="connsiteY138" fmla="*/ 3778166 h 6858000"/>
              <a:gd name="connsiteX139" fmla="*/ 6958359 w 7918980"/>
              <a:gd name="connsiteY139" fmla="*/ 3878222 h 6858000"/>
              <a:gd name="connsiteX140" fmla="*/ 6953118 w 7918980"/>
              <a:gd name="connsiteY140" fmla="*/ 4048117 h 6858000"/>
              <a:gd name="connsiteX141" fmla="*/ 6913020 w 7918980"/>
              <a:gd name="connsiteY141" fmla="*/ 4219510 h 6858000"/>
              <a:gd name="connsiteX142" fmla="*/ 6915792 w 7918980"/>
              <a:gd name="connsiteY142" fmla="*/ 4411258 h 6858000"/>
              <a:gd name="connsiteX143" fmla="*/ 6907579 w 7918980"/>
              <a:gd name="connsiteY143" fmla="*/ 4488531 h 6858000"/>
              <a:gd name="connsiteX144" fmla="*/ 6907052 w 7918980"/>
              <a:gd name="connsiteY144" fmla="*/ 4539168 h 6858000"/>
              <a:gd name="connsiteX145" fmla="*/ 6891916 w 7918980"/>
              <a:gd name="connsiteY145" fmla="*/ 4625153 h 6858000"/>
              <a:gd name="connsiteX146" fmla="*/ 6882094 w 7918980"/>
              <a:gd name="connsiteY146" fmla="*/ 4733115 h 6858000"/>
              <a:gd name="connsiteX147" fmla="*/ 6860189 w 7918980"/>
              <a:gd name="connsiteY147" fmla="*/ 4844323 h 6858000"/>
              <a:gd name="connsiteX148" fmla="*/ 6843618 w 7918980"/>
              <a:gd name="connsiteY148" fmla="*/ 4877992 h 6858000"/>
              <a:gd name="connsiteX149" fmla="*/ 6829393 w 7918980"/>
              <a:gd name="connsiteY149" fmla="*/ 4925805 h 6858000"/>
              <a:gd name="connsiteX150" fmla="*/ 6794017 w 7918980"/>
              <a:gd name="connsiteY150" fmla="*/ 5009272 h 6858000"/>
              <a:gd name="connsiteX151" fmla="*/ 6786085 w 7918980"/>
              <a:gd name="connsiteY151" fmla="*/ 5111369 h 6858000"/>
              <a:gd name="connsiteX152" fmla="*/ 6799321 w 7918980"/>
              <a:gd name="connsiteY152" fmla="*/ 5210876 h 6858000"/>
              <a:gd name="connsiteX153" fmla="*/ 6803597 w 7918980"/>
              <a:gd name="connsiteY153" fmla="*/ 5269726 h 6858000"/>
              <a:gd name="connsiteX154" fmla="*/ 6820713 w 7918980"/>
              <a:gd name="connsiteY154" fmla="*/ 5464225 h 6858000"/>
              <a:gd name="connsiteX155" fmla="*/ 6824380 w 7918980"/>
              <a:gd name="connsiteY155" fmla="*/ 5594585 h 6858000"/>
              <a:gd name="connsiteX156" fmla="*/ 6806680 w 7918980"/>
              <a:gd name="connsiteY156" fmla="*/ 5667896 h 6858000"/>
              <a:gd name="connsiteX157" fmla="*/ 6791486 w 7918980"/>
              <a:gd name="connsiteY157" fmla="*/ 5769225 h 6858000"/>
              <a:gd name="connsiteX158" fmla="*/ 6792745 w 7918980"/>
              <a:gd name="connsiteY158" fmla="*/ 5823324 h 6858000"/>
              <a:gd name="connsiteX159" fmla="*/ 6789109 w 7918980"/>
              <a:gd name="connsiteY159" fmla="*/ 5862699 h 6858000"/>
              <a:gd name="connsiteX160" fmla="*/ 6793675 w 7918980"/>
              <a:gd name="connsiteY160" fmla="*/ 5906467 h 6858000"/>
              <a:gd name="connsiteX161" fmla="*/ 6814548 w 7918980"/>
              <a:gd name="connsiteY161" fmla="*/ 5939847 h 6858000"/>
              <a:gd name="connsiteX162" fmla="*/ 6809795 w 7918980"/>
              <a:gd name="connsiteY162" fmla="*/ 5973994 h 6858000"/>
              <a:gd name="connsiteX163" fmla="*/ 6810756 w 7918980"/>
              <a:gd name="connsiteY163" fmla="*/ 6089693 h 6858000"/>
              <a:gd name="connsiteX164" fmla="*/ 6814601 w 7918980"/>
              <a:gd name="connsiteY164" fmla="*/ 6224938 h 6858000"/>
              <a:gd name="connsiteX165" fmla="*/ 6840137 w 7918980"/>
              <a:gd name="connsiteY165" fmla="*/ 6370251 h 6858000"/>
              <a:gd name="connsiteX166" fmla="*/ 6863777 w 7918980"/>
              <a:gd name="connsiteY166" fmla="*/ 6541313 h 6858000"/>
              <a:gd name="connsiteX167" fmla="*/ 6868355 w 7918980"/>
              <a:gd name="connsiteY167" fmla="*/ 6640957 h 6858000"/>
              <a:gd name="connsiteX168" fmla="*/ 6881422 w 7918980"/>
              <a:gd name="connsiteY168" fmla="*/ 6705297 h 6858000"/>
              <a:gd name="connsiteX169" fmla="*/ 6894105 w 7918980"/>
              <a:gd name="connsiteY169" fmla="*/ 6759582 h 6858000"/>
              <a:gd name="connsiteX170" fmla="*/ 6892152 w 7918980"/>
              <a:gd name="connsiteY170" fmla="*/ 6817746 h 6858000"/>
              <a:gd name="connsiteX171" fmla="*/ 6895302 w 7918980"/>
              <a:gd name="connsiteY171" fmla="*/ 6843646 h 6858000"/>
              <a:gd name="connsiteX172" fmla="*/ 6914368 w 7918980"/>
              <a:gd name="connsiteY172" fmla="*/ 6857998 h 6858000"/>
              <a:gd name="connsiteX173" fmla="*/ 7549620 w 7918980"/>
              <a:gd name="connsiteY173" fmla="*/ 6857998 h 6858000"/>
              <a:gd name="connsiteX174" fmla="*/ 7918980 w 7918980"/>
              <a:gd name="connsiteY174" fmla="*/ 6857998 h 6858000"/>
              <a:gd name="connsiteX175" fmla="*/ 7918980 w 7918980"/>
              <a:gd name="connsiteY175" fmla="*/ 6858000 h 6858000"/>
              <a:gd name="connsiteX176" fmla="*/ 7549620 w 7918980"/>
              <a:gd name="connsiteY176" fmla="*/ 6858000 h 6858000"/>
              <a:gd name="connsiteX177" fmla="*/ 6658851 w 7918980"/>
              <a:gd name="connsiteY177" fmla="*/ 6858000 h 6858000"/>
              <a:gd name="connsiteX178" fmla="*/ 2092387 w 7918980"/>
              <a:gd name="connsiteY178" fmla="*/ 6858000 h 6858000"/>
              <a:gd name="connsiteX179" fmla="*/ 1822980 w 7918980"/>
              <a:gd name="connsiteY179" fmla="*/ 6858000 h 6858000"/>
              <a:gd name="connsiteX180" fmla="*/ 727500 w 7918980"/>
              <a:gd name="connsiteY180" fmla="*/ 6858000 h 6858000"/>
              <a:gd name="connsiteX181" fmla="*/ 504457 w 7918980"/>
              <a:gd name="connsiteY181" fmla="*/ 6858000 h 6858000"/>
              <a:gd name="connsiteX182" fmla="*/ 0 w 7918980"/>
              <a:gd name="connsiteY182" fmla="*/ 685800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49577 w 7918980"/>
              <a:gd name="connsiteY69" fmla="*/ 2024270 h 6858000"/>
              <a:gd name="connsiteX70" fmla="*/ 6942508 w 7918980"/>
              <a:gd name="connsiteY70" fmla="*/ 2107942 h 6858000"/>
              <a:gd name="connsiteX71" fmla="*/ 6933336 w 7918980"/>
              <a:gd name="connsiteY71" fmla="*/ 2193455 h 6858000"/>
              <a:gd name="connsiteX72" fmla="*/ 6927972 w 7918980"/>
              <a:gd name="connsiteY72" fmla="*/ 2260088 h 6858000"/>
              <a:gd name="connsiteX73" fmla="*/ 6909058 w 7918980"/>
              <a:gd name="connsiteY73" fmla="*/ 2296008 h 6858000"/>
              <a:gd name="connsiteX74" fmla="*/ 6901810 w 7918980"/>
              <a:gd name="connsiteY74" fmla="*/ 2305564 h 6858000"/>
              <a:gd name="connsiteX75" fmla="*/ 6904482 w 7918980"/>
              <a:gd name="connsiteY75" fmla="*/ 2320214 h 6858000"/>
              <a:gd name="connsiteX76" fmla="*/ 6891885 w 7918980"/>
              <a:gd name="connsiteY76" fmla="*/ 2417011 h 6858000"/>
              <a:gd name="connsiteX77" fmla="*/ 6884970 w 7918980"/>
              <a:gd name="connsiteY77" fmla="*/ 2454207 h 6858000"/>
              <a:gd name="connsiteX78" fmla="*/ 6882954 w 7918980"/>
              <a:gd name="connsiteY78" fmla="*/ 2487203 h 6858000"/>
              <a:gd name="connsiteX79" fmla="*/ 6871484 w 7918980"/>
              <a:gd name="connsiteY79" fmla="*/ 2512282 h 6858000"/>
              <a:gd name="connsiteX80" fmla="*/ 6872496 w 7918980"/>
              <a:gd name="connsiteY80" fmla="*/ 2514318 h 6858000"/>
              <a:gd name="connsiteX81" fmla="*/ 6898111 w 7918980"/>
              <a:gd name="connsiteY81" fmla="*/ 2574334 h 6858000"/>
              <a:gd name="connsiteX82" fmla="*/ 6897017 w 7918980"/>
              <a:gd name="connsiteY82" fmla="*/ 2579877 h 6858000"/>
              <a:gd name="connsiteX83" fmla="*/ 6897171 w 7918980"/>
              <a:gd name="connsiteY83" fmla="*/ 2608928 h 6858000"/>
              <a:gd name="connsiteX84" fmla="*/ 6896584 w 7918980"/>
              <a:gd name="connsiteY84" fmla="*/ 2613111 h 6858000"/>
              <a:gd name="connsiteX85" fmla="*/ 6888164 w 7918980"/>
              <a:gd name="connsiteY85" fmla="*/ 2621996 h 6858000"/>
              <a:gd name="connsiteX86" fmla="*/ 6890652 w 7918980"/>
              <a:gd name="connsiteY86" fmla="*/ 2634265 h 6858000"/>
              <a:gd name="connsiteX87" fmla="*/ 6882034 w 7918980"/>
              <a:gd name="connsiteY87" fmla="*/ 2647237 h 6858000"/>
              <a:gd name="connsiteX88" fmla="*/ 6888195 w 7918980"/>
              <a:gd name="connsiteY88" fmla="*/ 2650786 h 6858000"/>
              <a:gd name="connsiteX89" fmla="*/ 6894052 w 7918980"/>
              <a:gd name="connsiteY89" fmla="*/ 2661993 h 6858000"/>
              <a:gd name="connsiteX90" fmla="*/ 6885953 w 7918980"/>
              <a:gd name="connsiteY90" fmla="*/ 2670949 h 6858000"/>
              <a:gd name="connsiteX91" fmla="*/ 6880156 w 7918980"/>
              <a:gd name="connsiteY91" fmla="*/ 2690255 h 6858000"/>
              <a:gd name="connsiteX92" fmla="*/ 6881009 w 7918980"/>
              <a:gd name="connsiteY92" fmla="*/ 2695683 h 6858000"/>
              <a:gd name="connsiteX93" fmla="*/ 6870001 w 7918980"/>
              <a:gd name="connsiteY93" fmla="*/ 2713964 h 6858000"/>
              <a:gd name="connsiteX94" fmla="*/ 6864441 w 7918980"/>
              <a:gd name="connsiteY94" fmla="*/ 2730175 h 6858000"/>
              <a:gd name="connsiteX95" fmla="*/ 6875107 w 7918980"/>
              <a:gd name="connsiteY95" fmla="*/ 2763497 h 6858000"/>
              <a:gd name="connsiteX96" fmla="*/ 6837349 w 7918980"/>
              <a:gd name="connsiteY96" fmla="*/ 3051539 h 6858000"/>
              <a:gd name="connsiteX97" fmla="*/ 6835698 w 7918980"/>
              <a:gd name="connsiteY97" fmla="*/ 3060333 h 6858000"/>
              <a:gd name="connsiteX98" fmla="*/ 6837785 w 7918980"/>
              <a:gd name="connsiteY98" fmla="*/ 3065434 h 6858000"/>
              <a:gd name="connsiteX99" fmla="*/ 6834476 w 7918980"/>
              <a:gd name="connsiteY99" fmla="*/ 3066836 h 6858000"/>
              <a:gd name="connsiteX100" fmla="*/ 6831096 w 7918980"/>
              <a:gd name="connsiteY100" fmla="*/ 3084834 h 6858000"/>
              <a:gd name="connsiteX101" fmla="*/ 6831305 w 7918980"/>
              <a:gd name="connsiteY101" fmla="*/ 3097259 h 6858000"/>
              <a:gd name="connsiteX102" fmla="*/ 6828050 w 7918980"/>
              <a:gd name="connsiteY102" fmla="*/ 3101053 h 6858000"/>
              <a:gd name="connsiteX103" fmla="*/ 6827093 w 7918980"/>
              <a:gd name="connsiteY103" fmla="*/ 3106151 h 6858000"/>
              <a:gd name="connsiteX104" fmla="*/ 6833251 w 7918980"/>
              <a:gd name="connsiteY104" fmla="*/ 3116747 h 6858000"/>
              <a:gd name="connsiteX105" fmla="*/ 6825921 w 7918980"/>
              <a:gd name="connsiteY105" fmla="*/ 3151828 h 6858000"/>
              <a:gd name="connsiteX106" fmla="*/ 6825863 w 7918980"/>
              <a:gd name="connsiteY106" fmla="*/ 3180546 h 6858000"/>
              <a:gd name="connsiteX107" fmla="*/ 6839691 w 7918980"/>
              <a:gd name="connsiteY107" fmla="*/ 3258677 h 6858000"/>
              <a:gd name="connsiteX108" fmla="*/ 6840898 w 7918980"/>
              <a:gd name="connsiteY108" fmla="*/ 3262610 h 6858000"/>
              <a:gd name="connsiteX109" fmla="*/ 6834652 w 7918980"/>
              <a:gd name="connsiteY109" fmla="*/ 3277179 h 6858000"/>
              <a:gd name="connsiteX110" fmla="*/ 6832324 w 7918980"/>
              <a:gd name="connsiteY110" fmla="*/ 3278130 h 6858000"/>
              <a:gd name="connsiteX111" fmla="*/ 6849750 w 7918980"/>
              <a:gd name="connsiteY111" fmla="*/ 3325671 h 6858000"/>
              <a:gd name="connsiteX112" fmla="*/ 6847551 w 7918980"/>
              <a:gd name="connsiteY112" fmla="*/ 3332072 h 6858000"/>
              <a:gd name="connsiteX113" fmla="*/ 6864685 w 7918980"/>
              <a:gd name="connsiteY113" fmla="*/ 3362948 h 6858000"/>
              <a:gd name="connsiteX114" fmla="*/ 6870457 w 7918980"/>
              <a:gd name="connsiteY114" fmla="*/ 3378959 h 6858000"/>
              <a:gd name="connsiteX115" fmla="*/ 6883738 w 7918980"/>
              <a:gd name="connsiteY115" fmla="*/ 3407057 h 6858000"/>
              <a:gd name="connsiteX116" fmla="*/ 6881948 w 7918980"/>
              <a:gd name="connsiteY116" fmla="*/ 3409825 h 6858000"/>
              <a:gd name="connsiteX117" fmla="*/ 6885647 w 7918980"/>
              <a:gd name="connsiteY117" fmla="*/ 3415218 h 6858000"/>
              <a:gd name="connsiteX118" fmla="*/ 6883908 w 7918980"/>
              <a:gd name="connsiteY118" fmla="*/ 3419880 h 6858000"/>
              <a:gd name="connsiteX119" fmla="*/ 6885903 w 7918980"/>
              <a:gd name="connsiteY119" fmla="*/ 3424545 h 6858000"/>
              <a:gd name="connsiteX120" fmla="*/ 6887603 w 7918980"/>
              <a:gd name="connsiteY120" fmla="*/ 3476412 h 6858000"/>
              <a:gd name="connsiteX121" fmla="*/ 6892664 w 7918980"/>
              <a:gd name="connsiteY121" fmla="*/ 3486850 h 6858000"/>
              <a:gd name="connsiteX122" fmla="*/ 6886319 w 7918980"/>
              <a:gd name="connsiteY122" fmla="*/ 3496391 h 6858000"/>
              <a:gd name="connsiteX123" fmla="*/ 6893119 w 7918980"/>
              <a:gd name="connsiteY123" fmla="*/ 3531201 h 6858000"/>
              <a:gd name="connsiteX124" fmla="*/ 6902876 w 7918980"/>
              <a:gd name="connsiteY124" fmla="*/ 3542019 h 6858000"/>
              <a:gd name="connsiteX125" fmla="*/ 6910520 w 7918980"/>
              <a:gd name="connsiteY125" fmla="*/ 3552249 h 6858000"/>
              <a:gd name="connsiteX126" fmla="*/ 6910882 w 7918980"/>
              <a:gd name="connsiteY126" fmla="*/ 3553678 h 6858000"/>
              <a:gd name="connsiteX127" fmla="*/ 6914489 w 7918980"/>
              <a:gd name="connsiteY127" fmla="*/ 3568021 h 6858000"/>
              <a:gd name="connsiteX128" fmla="*/ 6914914 w 7918980"/>
              <a:gd name="connsiteY128" fmla="*/ 3569719 h 6858000"/>
              <a:gd name="connsiteX129" fmla="*/ 6912342 w 7918980"/>
              <a:gd name="connsiteY129" fmla="*/ 3586412 h 6858000"/>
              <a:gd name="connsiteX130" fmla="*/ 6915338 w 7918980"/>
              <a:gd name="connsiteY130" fmla="*/ 3597336 h 6858000"/>
              <a:gd name="connsiteX131" fmla="*/ 6907234 w 7918980"/>
              <a:gd name="connsiteY131" fmla="*/ 3606007 h 6858000"/>
              <a:gd name="connsiteX132" fmla="*/ 6907261 w 7918980"/>
              <a:gd name="connsiteY132" fmla="*/ 3641228 h 6858000"/>
              <a:gd name="connsiteX133" fmla="*/ 6914828 w 7918980"/>
              <a:gd name="connsiteY133" fmla="*/ 3653088 h 6858000"/>
              <a:gd name="connsiteX134" fmla="*/ 6920416 w 7918980"/>
              <a:gd name="connsiteY134" fmla="*/ 3664114 h 6858000"/>
              <a:gd name="connsiteX135" fmla="*/ 6920498 w 7918980"/>
              <a:gd name="connsiteY135" fmla="*/ 3665569 h 6858000"/>
              <a:gd name="connsiteX136" fmla="*/ 6922809 w 7918980"/>
              <a:gd name="connsiteY136" fmla="*/ 3707357 h 6858000"/>
              <a:gd name="connsiteX137" fmla="*/ 6937676 w 7918980"/>
              <a:gd name="connsiteY137" fmla="*/ 3778166 h 6858000"/>
              <a:gd name="connsiteX138" fmla="*/ 6958359 w 7918980"/>
              <a:gd name="connsiteY138" fmla="*/ 3878222 h 6858000"/>
              <a:gd name="connsiteX139" fmla="*/ 6953118 w 7918980"/>
              <a:gd name="connsiteY139" fmla="*/ 4048117 h 6858000"/>
              <a:gd name="connsiteX140" fmla="*/ 6913020 w 7918980"/>
              <a:gd name="connsiteY140" fmla="*/ 4219510 h 6858000"/>
              <a:gd name="connsiteX141" fmla="*/ 6915792 w 7918980"/>
              <a:gd name="connsiteY141" fmla="*/ 4411258 h 6858000"/>
              <a:gd name="connsiteX142" fmla="*/ 6907579 w 7918980"/>
              <a:gd name="connsiteY142" fmla="*/ 4488531 h 6858000"/>
              <a:gd name="connsiteX143" fmla="*/ 6907052 w 7918980"/>
              <a:gd name="connsiteY143" fmla="*/ 4539168 h 6858000"/>
              <a:gd name="connsiteX144" fmla="*/ 6891916 w 7918980"/>
              <a:gd name="connsiteY144" fmla="*/ 4625153 h 6858000"/>
              <a:gd name="connsiteX145" fmla="*/ 6882094 w 7918980"/>
              <a:gd name="connsiteY145" fmla="*/ 4733115 h 6858000"/>
              <a:gd name="connsiteX146" fmla="*/ 6860189 w 7918980"/>
              <a:gd name="connsiteY146" fmla="*/ 4844323 h 6858000"/>
              <a:gd name="connsiteX147" fmla="*/ 6843618 w 7918980"/>
              <a:gd name="connsiteY147" fmla="*/ 4877992 h 6858000"/>
              <a:gd name="connsiteX148" fmla="*/ 6829393 w 7918980"/>
              <a:gd name="connsiteY148" fmla="*/ 4925805 h 6858000"/>
              <a:gd name="connsiteX149" fmla="*/ 6794017 w 7918980"/>
              <a:gd name="connsiteY149" fmla="*/ 5009272 h 6858000"/>
              <a:gd name="connsiteX150" fmla="*/ 6786085 w 7918980"/>
              <a:gd name="connsiteY150" fmla="*/ 5111369 h 6858000"/>
              <a:gd name="connsiteX151" fmla="*/ 6799321 w 7918980"/>
              <a:gd name="connsiteY151" fmla="*/ 5210876 h 6858000"/>
              <a:gd name="connsiteX152" fmla="*/ 6803597 w 7918980"/>
              <a:gd name="connsiteY152" fmla="*/ 5269726 h 6858000"/>
              <a:gd name="connsiteX153" fmla="*/ 6820713 w 7918980"/>
              <a:gd name="connsiteY153" fmla="*/ 5464225 h 6858000"/>
              <a:gd name="connsiteX154" fmla="*/ 6824380 w 7918980"/>
              <a:gd name="connsiteY154" fmla="*/ 5594585 h 6858000"/>
              <a:gd name="connsiteX155" fmla="*/ 6806680 w 7918980"/>
              <a:gd name="connsiteY155" fmla="*/ 5667896 h 6858000"/>
              <a:gd name="connsiteX156" fmla="*/ 6791486 w 7918980"/>
              <a:gd name="connsiteY156" fmla="*/ 5769225 h 6858000"/>
              <a:gd name="connsiteX157" fmla="*/ 6792745 w 7918980"/>
              <a:gd name="connsiteY157" fmla="*/ 5823324 h 6858000"/>
              <a:gd name="connsiteX158" fmla="*/ 6789109 w 7918980"/>
              <a:gd name="connsiteY158" fmla="*/ 5862699 h 6858000"/>
              <a:gd name="connsiteX159" fmla="*/ 6793675 w 7918980"/>
              <a:gd name="connsiteY159" fmla="*/ 5906467 h 6858000"/>
              <a:gd name="connsiteX160" fmla="*/ 6814548 w 7918980"/>
              <a:gd name="connsiteY160" fmla="*/ 5939847 h 6858000"/>
              <a:gd name="connsiteX161" fmla="*/ 6809795 w 7918980"/>
              <a:gd name="connsiteY161" fmla="*/ 5973994 h 6858000"/>
              <a:gd name="connsiteX162" fmla="*/ 6810756 w 7918980"/>
              <a:gd name="connsiteY162" fmla="*/ 6089693 h 6858000"/>
              <a:gd name="connsiteX163" fmla="*/ 6814601 w 7918980"/>
              <a:gd name="connsiteY163" fmla="*/ 6224938 h 6858000"/>
              <a:gd name="connsiteX164" fmla="*/ 6840137 w 7918980"/>
              <a:gd name="connsiteY164" fmla="*/ 6370251 h 6858000"/>
              <a:gd name="connsiteX165" fmla="*/ 6863777 w 7918980"/>
              <a:gd name="connsiteY165" fmla="*/ 6541313 h 6858000"/>
              <a:gd name="connsiteX166" fmla="*/ 6868355 w 7918980"/>
              <a:gd name="connsiteY166" fmla="*/ 6640957 h 6858000"/>
              <a:gd name="connsiteX167" fmla="*/ 6881422 w 7918980"/>
              <a:gd name="connsiteY167" fmla="*/ 6705297 h 6858000"/>
              <a:gd name="connsiteX168" fmla="*/ 6894105 w 7918980"/>
              <a:gd name="connsiteY168" fmla="*/ 6759582 h 6858000"/>
              <a:gd name="connsiteX169" fmla="*/ 6892152 w 7918980"/>
              <a:gd name="connsiteY169" fmla="*/ 6817746 h 6858000"/>
              <a:gd name="connsiteX170" fmla="*/ 6895302 w 7918980"/>
              <a:gd name="connsiteY170" fmla="*/ 6843646 h 6858000"/>
              <a:gd name="connsiteX171" fmla="*/ 6914368 w 7918980"/>
              <a:gd name="connsiteY171" fmla="*/ 6857998 h 6858000"/>
              <a:gd name="connsiteX172" fmla="*/ 7549620 w 7918980"/>
              <a:gd name="connsiteY172" fmla="*/ 6857998 h 6858000"/>
              <a:gd name="connsiteX173" fmla="*/ 7918980 w 7918980"/>
              <a:gd name="connsiteY173" fmla="*/ 6857998 h 6858000"/>
              <a:gd name="connsiteX174" fmla="*/ 7918980 w 7918980"/>
              <a:gd name="connsiteY174" fmla="*/ 6858000 h 6858000"/>
              <a:gd name="connsiteX175" fmla="*/ 7549620 w 7918980"/>
              <a:gd name="connsiteY175" fmla="*/ 6858000 h 6858000"/>
              <a:gd name="connsiteX176" fmla="*/ 6658851 w 7918980"/>
              <a:gd name="connsiteY176" fmla="*/ 6858000 h 6858000"/>
              <a:gd name="connsiteX177" fmla="*/ 2092387 w 7918980"/>
              <a:gd name="connsiteY177" fmla="*/ 6858000 h 6858000"/>
              <a:gd name="connsiteX178" fmla="*/ 1822980 w 7918980"/>
              <a:gd name="connsiteY178" fmla="*/ 6858000 h 6858000"/>
              <a:gd name="connsiteX179" fmla="*/ 727500 w 7918980"/>
              <a:gd name="connsiteY179" fmla="*/ 6858000 h 6858000"/>
              <a:gd name="connsiteX180" fmla="*/ 504457 w 7918980"/>
              <a:gd name="connsiteY180" fmla="*/ 6858000 h 6858000"/>
              <a:gd name="connsiteX181" fmla="*/ 0 w 7918980"/>
              <a:gd name="connsiteY181" fmla="*/ 6858000 h 6858000"/>
              <a:gd name="connsiteX182" fmla="*/ 0 w 7918980"/>
              <a:gd name="connsiteY182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6985020 w 7918980"/>
              <a:gd name="connsiteY67" fmla="*/ 1967551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7918980" h="6858000">
                <a:moveTo>
                  <a:pt x="0" y="0"/>
                </a:moveTo>
                <a:lnTo>
                  <a:pt x="504457" y="0"/>
                </a:lnTo>
                <a:lnTo>
                  <a:pt x="727500" y="0"/>
                </a:lnTo>
                <a:lnTo>
                  <a:pt x="1822980" y="0"/>
                </a:lnTo>
                <a:lnTo>
                  <a:pt x="2092387" y="0"/>
                </a:lnTo>
                <a:lnTo>
                  <a:pt x="7076514" y="0"/>
                </a:lnTo>
                <a:lnTo>
                  <a:pt x="7264525" y="0"/>
                </a:lnTo>
                <a:lnTo>
                  <a:pt x="7390497" y="0"/>
                </a:lnTo>
                <a:lnTo>
                  <a:pt x="7389918" y="1705"/>
                </a:lnTo>
                <a:cubicBezTo>
                  <a:pt x="7386106" y="8440"/>
                  <a:pt x="7381092" y="13784"/>
                  <a:pt x="7374574" y="17287"/>
                </a:cubicBezTo>
                <a:cubicBezTo>
                  <a:pt x="7385344" y="82036"/>
                  <a:pt x="7333329" y="69804"/>
                  <a:pt x="7368621" y="130336"/>
                </a:cubicBezTo>
                <a:cubicBezTo>
                  <a:pt x="7349933" y="117589"/>
                  <a:pt x="7359958" y="162458"/>
                  <a:pt x="7361269" y="187093"/>
                </a:cubicBezTo>
                <a:cubicBezTo>
                  <a:pt x="7359185" y="226511"/>
                  <a:pt x="7368702" y="205530"/>
                  <a:pt x="7368770" y="265704"/>
                </a:cubicBezTo>
                <a:cubicBezTo>
                  <a:pt x="7365276" y="317533"/>
                  <a:pt x="7366793" y="325288"/>
                  <a:pt x="7365293" y="354566"/>
                </a:cubicBezTo>
                <a:lnTo>
                  <a:pt x="7347106" y="472000"/>
                </a:lnTo>
                <a:lnTo>
                  <a:pt x="7345150" y="473782"/>
                </a:lnTo>
                <a:cubicBezTo>
                  <a:pt x="7340827" y="482008"/>
                  <a:pt x="7341662" y="487340"/>
                  <a:pt x="7344778" y="491380"/>
                </a:cubicBezTo>
                <a:lnTo>
                  <a:pt x="7359399" y="531675"/>
                </a:lnTo>
                <a:lnTo>
                  <a:pt x="7356415" y="536015"/>
                </a:lnTo>
                <a:lnTo>
                  <a:pt x="7361068" y="572092"/>
                </a:lnTo>
                <a:lnTo>
                  <a:pt x="7359041" y="572511"/>
                </a:lnTo>
                <a:cubicBezTo>
                  <a:pt x="7354591" y="574271"/>
                  <a:pt x="7351509" y="577121"/>
                  <a:pt x="7351198" y="582332"/>
                </a:cubicBezTo>
                <a:cubicBezTo>
                  <a:pt x="7320982" y="573171"/>
                  <a:pt x="7339242" y="585107"/>
                  <a:pt x="7340991" y="601285"/>
                </a:cubicBezTo>
                <a:cubicBezTo>
                  <a:pt x="7331818" y="617831"/>
                  <a:pt x="7303664" y="666964"/>
                  <a:pt x="7296154" y="681608"/>
                </a:cubicBezTo>
                <a:cubicBezTo>
                  <a:pt x="7296082" y="684122"/>
                  <a:pt x="7296013" y="686637"/>
                  <a:pt x="7295943" y="689151"/>
                </a:cubicBezTo>
                <a:lnTo>
                  <a:pt x="7295465" y="689289"/>
                </a:lnTo>
                <a:cubicBezTo>
                  <a:pt x="7294414" y="690905"/>
                  <a:pt x="7293966" y="693376"/>
                  <a:pt x="7294306" y="697222"/>
                </a:cubicBezTo>
                <a:cubicBezTo>
                  <a:pt x="7294586" y="703992"/>
                  <a:pt x="7294864" y="710761"/>
                  <a:pt x="7295144" y="717531"/>
                </a:cubicBezTo>
                <a:lnTo>
                  <a:pt x="7291871" y="722494"/>
                </a:lnTo>
                <a:lnTo>
                  <a:pt x="7286061" y="724368"/>
                </a:lnTo>
                <a:lnTo>
                  <a:pt x="7269961" y="752692"/>
                </a:lnTo>
                <a:cubicBezTo>
                  <a:pt x="7277671" y="764380"/>
                  <a:pt x="7245699" y="808083"/>
                  <a:pt x="7240170" y="816346"/>
                </a:cubicBezTo>
                <a:lnTo>
                  <a:pt x="7211938" y="889417"/>
                </a:lnTo>
                <a:cubicBezTo>
                  <a:pt x="7143471" y="969963"/>
                  <a:pt x="7144887" y="1005331"/>
                  <a:pt x="7130024" y="1063288"/>
                </a:cubicBezTo>
                <a:cubicBezTo>
                  <a:pt x="7136312" y="1111028"/>
                  <a:pt x="7140076" y="1110140"/>
                  <a:pt x="7126817" y="1157176"/>
                </a:cubicBezTo>
                <a:cubicBezTo>
                  <a:pt x="7124083" y="1192124"/>
                  <a:pt x="7124864" y="1197232"/>
                  <a:pt x="7109474" y="1210776"/>
                </a:cubicBezTo>
                <a:lnTo>
                  <a:pt x="7105443" y="1301993"/>
                </a:lnTo>
                <a:lnTo>
                  <a:pt x="7075215" y="1360879"/>
                </a:lnTo>
                <a:lnTo>
                  <a:pt x="7067477" y="1404045"/>
                </a:lnTo>
                <a:lnTo>
                  <a:pt x="7046803" y="1429568"/>
                </a:lnTo>
                <a:lnTo>
                  <a:pt x="7047831" y="1430305"/>
                </a:lnTo>
                <a:cubicBezTo>
                  <a:pt x="7049677" y="1432466"/>
                  <a:pt x="7037718" y="1459891"/>
                  <a:pt x="7035374" y="1463304"/>
                </a:cubicBezTo>
                <a:cubicBezTo>
                  <a:pt x="7032892" y="1477394"/>
                  <a:pt x="7036007" y="1501295"/>
                  <a:pt x="7032938" y="1514846"/>
                </a:cubicBezTo>
                <a:lnTo>
                  <a:pt x="7029397" y="1519731"/>
                </a:lnTo>
                <a:lnTo>
                  <a:pt x="7029620" y="1519929"/>
                </a:lnTo>
                <a:cubicBezTo>
                  <a:pt x="7029470" y="1521210"/>
                  <a:pt x="7032690" y="1543635"/>
                  <a:pt x="7030612" y="1546022"/>
                </a:cubicBezTo>
                <a:lnTo>
                  <a:pt x="7035010" y="1578752"/>
                </a:lnTo>
                <a:cubicBezTo>
                  <a:pt x="7029127" y="1605585"/>
                  <a:pt x="7049361" y="1622803"/>
                  <a:pt x="7026513" y="1647555"/>
                </a:cubicBezTo>
                <a:cubicBezTo>
                  <a:pt x="7021108" y="1672675"/>
                  <a:pt x="7026193" y="1694404"/>
                  <a:pt x="7013857" y="1715685"/>
                </a:cubicBezTo>
                <a:cubicBezTo>
                  <a:pt x="7019795" y="1724301"/>
                  <a:pt x="7021078" y="1732435"/>
                  <a:pt x="7007215" y="1740358"/>
                </a:cubicBezTo>
                <a:cubicBezTo>
                  <a:pt x="7005605" y="1763793"/>
                  <a:pt x="7021348" y="1769422"/>
                  <a:pt x="7004455" y="1784314"/>
                </a:cubicBezTo>
                <a:cubicBezTo>
                  <a:pt x="7028967" y="1797417"/>
                  <a:pt x="7018226" y="1798221"/>
                  <a:pt x="7008825" y="1804434"/>
                </a:cubicBezTo>
                <a:lnTo>
                  <a:pt x="7008048" y="1805316"/>
                </a:lnTo>
                <a:lnTo>
                  <a:pt x="7011573" y="1807109"/>
                </a:lnTo>
                <a:lnTo>
                  <a:pt x="7008900" y="1821003"/>
                </a:lnTo>
                <a:lnTo>
                  <a:pt x="7006523" y="1824832"/>
                </a:lnTo>
                <a:cubicBezTo>
                  <a:pt x="7005264" y="1827468"/>
                  <a:pt x="7004917" y="1829219"/>
                  <a:pt x="7005215" y="1830429"/>
                </a:cubicBezTo>
                <a:lnTo>
                  <a:pt x="7005505" y="1830569"/>
                </a:lnTo>
                <a:lnTo>
                  <a:pt x="7003643" y="1835810"/>
                </a:lnTo>
                <a:cubicBezTo>
                  <a:pt x="6999759" y="1844665"/>
                  <a:pt x="6995277" y="1853278"/>
                  <a:pt x="6990432" y="1861483"/>
                </a:cubicBezTo>
                <a:cubicBezTo>
                  <a:pt x="7002807" y="1866643"/>
                  <a:pt x="6989768" y="1884999"/>
                  <a:pt x="6997246" y="1892417"/>
                </a:cubicBezTo>
                <a:lnTo>
                  <a:pt x="7012242" y="1895114"/>
                </a:lnTo>
                <a:lnTo>
                  <a:pt x="7010080" y="1899379"/>
                </a:lnTo>
                <a:lnTo>
                  <a:pt x="7003451" y="1907867"/>
                </a:lnTo>
                <a:cubicBezTo>
                  <a:pt x="7002589" y="1909162"/>
                  <a:pt x="7002627" y="1909994"/>
                  <a:pt x="7004341" y="1910265"/>
                </a:cubicBezTo>
                <a:cubicBezTo>
                  <a:pt x="7003975" y="1914884"/>
                  <a:pt x="7000873" y="1930292"/>
                  <a:pt x="7001248" y="1935584"/>
                </a:cubicBezTo>
                <a:lnTo>
                  <a:pt x="7006599" y="1942021"/>
                </a:lnTo>
                <a:lnTo>
                  <a:pt x="6985020" y="1967551"/>
                </a:lnTo>
                <a:lnTo>
                  <a:pt x="6949577" y="2024270"/>
                </a:lnTo>
                <a:lnTo>
                  <a:pt x="6942508" y="2107942"/>
                </a:lnTo>
                <a:cubicBezTo>
                  <a:pt x="6912270" y="2138038"/>
                  <a:pt x="6933395" y="2159228"/>
                  <a:pt x="6933336" y="2193455"/>
                </a:cubicBezTo>
                <a:cubicBezTo>
                  <a:pt x="6924282" y="2220953"/>
                  <a:pt x="6933361" y="2224200"/>
                  <a:pt x="6927972" y="2260088"/>
                </a:cubicBezTo>
                <a:cubicBezTo>
                  <a:pt x="6923728" y="2275916"/>
                  <a:pt x="6917037" y="2285645"/>
                  <a:pt x="6909058" y="2296008"/>
                </a:cubicBezTo>
                <a:lnTo>
                  <a:pt x="6901810" y="2305564"/>
                </a:lnTo>
                <a:lnTo>
                  <a:pt x="6904482" y="2320214"/>
                </a:lnTo>
                <a:cubicBezTo>
                  <a:pt x="6902155" y="2355906"/>
                  <a:pt x="6895137" y="2394678"/>
                  <a:pt x="6891885" y="2417011"/>
                </a:cubicBezTo>
                <a:cubicBezTo>
                  <a:pt x="6880976" y="2426377"/>
                  <a:pt x="6897848" y="2456509"/>
                  <a:pt x="6884970" y="2454207"/>
                </a:cubicBezTo>
                <a:cubicBezTo>
                  <a:pt x="6890753" y="2464947"/>
                  <a:pt x="6887930" y="2476105"/>
                  <a:pt x="6882954" y="2487203"/>
                </a:cubicBezTo>
                <a:lnTo>
                  <a:pt x="6871484" y="2512282"/>
                </a:lnTo>
                <a:lnTo>
                  <a:pt x="6872496" y="2514318"/>
                </a:lnTo>
                <a:lnTo>
                  <a:pt x="6898111" y="2574334"/>
                </a:lnTo>
                <a:lnTo>
                  <a:pt x="6897017" y="2579877"/>
                </a:lnTo>
                <a:cubicBezTo>
                  <a:pt x="6896861" y="2585644"/>
                  <a:pt x="6897245" y="2603388"/>
                  <a:pt x="6897171" y="2608928"/>
                </a:cubicBezTo>
                <a:cubicBezTo>
                  <a:pt x="6896975" y="2610322"/>
                  <a:pt x="6896780" y="2611717"/>
                  <a:pt x="6896584" y="2613111"/>
                </a:cubicBezTo>
                <a:lnTo>
                  <a:pt x="6888164" y="2621996"/>
                </a:lnTo>
                <a:lnTo>
                  <a:pt x="6890652" y="2634265"/>
                </a:lnTo>
                <a:lnTo>
                  <a:pt x="6882034" y="2647237"/>
                </a:lnTo>
                <a:cubicBezTo>
                  <a:pt x="6884287" y="2648158"/>
                  <a:pt x="6886365" y="2649356"/>
                  <a:pt x="6888195" y="2650786"/>
                </a:cubicBezTo>
                <a:lnTo>
                  <a:pt x="6894052" y="2661993"/>
                </a:lnTo>
                <a:lnTo>
                  <a:pt x="6885953" y="2670949"/>
                </a:lnTo>
                <a:cubicBezTo>
                  <a:pt x="6898507" y="2672007"/>
                  <a:pt x="6883930" y="2681695"/>
                  <a:pt x="6880156" y="2690255"/>
                </a:cubicBezTo>
                <a:lnTo>
                  <a:pt x="6881009" y="2695683"/>
                </a:lnTo>
                <a:lnTo>
                  <a:pt x="6870001" y="2713964"/>
                </a:lnTo>
                <a:lnTo>
                  <a:pt x="6864441" y="2730175"/>
                </a:lnTo>
                <a:lnTo>
                  <a:pt x="6875107" y="2763497"/>
                </a:lnTo>
                <a:lnTo>
                  <a:pt x="6837349" y="3051539"/>
                </a:lnTo>
                <a:lnTo>
                  <a:pt x="6835698" y="3060333"/>
                </a:lnTo>
                <a:lnTo>
                  <a:pt x="6837785" y="3065434"/>
                </a:lnTo>
                <a:lnTo>
                  <a:pt x="6834476" y="3066836"/>
                </a:lnTo>
                <a:lnTo>
                  <a:pt x="6831096" y="3084834"/>
                </a:lnTo>
                <a:cubicBezTo>
                  <a:pt x="6831166" y="3088976"/>
                  <a:pt x="6831235" y="3093117"/>
                  <a:pt x="6831305" y="3097259"/>
                </a:cubicBezTo>
                <a:lnTo>
                  <a:pt x="6828050" y="3101053"/>
                </a:lnTo>
                <a:lnTo>
                  <a:pt x="6827093" y="3106151"/>
                </a:lnTo>
                <a:lnTo>
                  <a:pt x="6833251" y="3116747"/>
                </a:lnTo>
                <a:cubicBezTo>
                  <a:pt x="6834765" y="3127646"/>
                  <a:pt x="6821739" y="3134084"/>
                  <a:pt x="6825921" y="3151828"/>
                </a:cubicBezTo>
                <a:cubicBezTo>
                  <a:pt x="6833244" y="3163902"/>
                  <a:pt x="6834336" y="3171780"/>
                  <a:pt x="6825863" y="3180546"/>
                </a:cubicBezTo>
                <a:cubicBezTo>
                  <a:pt x="6861566" y="3236545"/>
                  <a:pt x="6826703" y="3210316"/>
                  <a:pt x="6839691" y="3258677"/>
                </a:cubicBezTo>
                <a:lnTo>
                  <a:pt x="6840898" y="3262610"/>
                </a:lnTo>
                <a:lnTo>
                  <a:pt x="6834652" y="3277179"/>
                </a:lnTo>
                <a:lnTo>
                  <a:pt x="6832324" y="3278130"/>
                </a:lnTo>
                <a:lnTo>
                  <a:pt x="6849750" y="3325671"/>
                </a:lnTo>
                <a:lnTo>
                  <a:pt x="6847551" y="3332072"/>
                </a:lnTo>
                <a:lnTo>
                  <a:pt x="6864685" y="3362948"/>
                </a:lnTo>
                <a:lnTo>
                  <a:pt x="6870457" y="3378959"/>
                </a:lnTo>
                <a:lnTo>
                  <a:pt x="6883738" y="3407057"/>
                </a:lnTo>
                <a:lnTo>
                  <a:pt x="6881948" y="3409825"/>
                </a:lnTo>
                <a:lnTo>
                  <a:pt x="6885647" y="3415218"/>
                </a:lnTo>
                <a:lnTo>
                  <a:pt x="6883908" y="3419880"/>
                </a:lnTo>
                <a:lnTo>
                  <a:pt x="6885903" y="3424545"/>
                </a:lnTo>
                <a:cubicBezTo>
                  <a:pt x="6886517" y="3433967"/>
                  <a:pt x="6886474" y="3466028"/>
                  <a:pt x="6887603" y="3476412"/>
                </a:cubicBezTo>
                <a:lnTo>
                  <a:pt x="6892664" y="3486850"/>
                </a:lnTo>
                <a:lnTo>
                  <a:pt x="6886319" y="3496391"/>
                </a:lnTo>
                <a:lnTo>
                  <a:pt x="6893119" y="3531201"/>
                </a:lnTo>
                <a:lnTo>
                  <a:pt x="6902876" y="3542019"/>
                </a:lnTo>
                <a:lnTo>
                  <a:pt x="6910520" y="3552249"/>
                </a:lnTo>
                <a:cubicBezTo>
                  <a:pt x="6910641" y="3552725"/>
                  <a:pt x="6910761" y="3553202"/>
                  <a:pt x="6910882" y="3553678"/>
                </a:cubicBezTo>
                <a:lnTo>
                  <a:pt x="6914489" y="3568021"/>
                </a:lnTo>
                <a:lnTo>
                  <a:pt x="6914914" y="3569719"/>
                </a:lnTo>
                <a:lnTo>
                  <a:pt x="6912342" y="3586412"/>
                </a:lnTo>
                <a:lnTo>
                  <a:pt x="6915338" y="3597336"/>
                </a:lnTo>
                <a:lnTo>
                  <a:pt x="6907234" y="3606007"/>
                </a:lnTo>
                <a:cubicBezTo>
                  <a:pt x="6907242" y="3617747"/>
                  <a:pt x="6907253" y="3629488"/>
                  <a:pt x="6907261" y="3641228"/>
                </a:cubicBezTo>
                <a:lnTo>
                  <a:pt x="6914828" y="3653088"/>
                </a:lnTo>
                <a:lnTo>
                  <a:pt x="6920416" y="3664114"/>
                </a:lnTo>
                <a:cubicBezTo>
                  <a:pt x="6920443" y="3664599"/>
                  <a:pt x="6920471" y="3665084"/>
                  <a:pt x="6920498" y="3665569"/>
                </a:cubicBezTo>
                <a:cubicBezTo>
                  <a:pt x="6920895" y="3672776"/>
                  <a:pt x="6919946" y="3688591"/>
                  <a:pt x="6922809" y="3707357"/>
                </a:cubicBezTo>
                <a:cubicBezTo>
                  <a:pt x="6923485" y="3724716"/>
                  <a:pt x="6941058" y="3760234"/>
                  <a:pt x="6937676" y="3778166"/>
                </a:cubicBezTo>
                <a:cubicBezTo>
                  <a:pt x="6964607" y="3845122"/>
                  <a:pt x="6948407" y="3821305"/>
                  <a:pt x="6958359" y="3878222"/>
                </a:cubicBezTo>
                <a:cubicBezTo>
                  <a:pt x="6984499" y="3905047"/>
                  <a:pt x="6948397" y="4015047"/>
                  <a:pt x="6953118" y="4048117"/>
                </a:cubicBezTo>
                <a:cubicBezTo>
                  <a:pt x="6904784" y="4192084"/>
                  <a:pt x="6919242" y="4158987"/>
                  <a:pt x="6913020" y="4219510"/>
                </a:cubicBezTo>
                <a:cubicBezTo>
                  <a:pt x="6927533" y="4280033"/>
                  <a:pt x="6888360" y="4345686"/>
                  <a:pt x="6915792" y="4411258"/>
                </a:cubicBezTo>
                <a:cubicBezTo>
                  <a:pt x="6913610" y="4437329"/>
                  <a:pt x="6906858" y="4473140"/>
                  <a:pt x="6907579" y="4488531"/>
                </a:cubicBezTo>
                <a:cubicBezTo>
                  <a:pt x="6907403" y="4505410"/>
                  <a:pt x="6907228" y="4522289"/>
                  <a:pt x="6907052" y="4539168"/>
                </a:cubicBezTo>
                <a:cubicBezTo>
                  <a:pt x="6895094" y="4567830"/>
                  <a:pt x="6887285" y="4588197"/>
                  <a:pt x="6891916" y="4625153"/>
                </a:cubicBezTo>
                <a:cubicBezTo>
                  <a:pt x="6900413" y="4662889"/>
                  <a:pt x="6888879" y="4679357"/>
                  <a:pt x="6882094" y="4733115"/>
                </a:cubicBezTo>
                <a:cubicBezTo>
                  <a:pt x="6891667" y="4752352"/>
                  <a:pt x="6878350" y="4832308"/>
                  <a:pt x="6860189" y="4844323"/>
                </a:cubicBezTo>
                <a:cubicBezTo>
                  <a:pt x="6856424" y="4857054"/>
                  <a:pt x="6863174" y="4871554"/>
                  <a:pt x="6843618" y="4877992"/>
                </a:cubicBezTo>
                <a:cubicBezTo>
                  <a:pt x="6820131" y="4888353"/>
                  <a:pt x="6857398" y="4931200"/>
                  <a:pt x="6829393" y="4925805"/>
                </a:cubicBezTo>
                <a:cubicBezTo>
                  <a:pt x="6854944" y="4956261"/>
                  <a:pt x="6805820" y="4982633"/>
                  <a:pt x="6794017" y="5009272"/>
                </a:cubicBezTo>
                <a:cubicBezTo>
                  <a:pt x="6796239" y="5034036"/>
                  <a:pt x="6791355" y="5053859"/>
                  <a:pt x="6786085" y="5111369"/>
                </a:cubicBezTo>
                <a:cubicBezTo>
                  <a:pt x="6796204" y="5141336"/>
                  <a:pt x="6760393" y="5161742"/>
                  <a:pt x="6799321" y="5210876"/>
                </a:cubicBezTo>
                <a:cubicBezTo>
                  <a:pt x="6795435" y="5212581"/>
                  <a:pt x="6800034" y="5227501"/>
                  <a:pt x="6803597" y="5269726"/>
                </a:cubicBezTo>
                <a:cubicBezTo>
                  <a:pt x="6807162" y="5311951"/>
                  <a:pt x="6813370" y="5400671"/>
                  <a:pt x="6820713" y="5464225"/>
                </a:cubicBezTo>
                <a:cubicBezTo>
                  <a:pt x="6824745" y="5536542"/>
                  <a:pt x="6813205" y="5517959"/>
                  <a:pt x="6824380" y="5594585"/>
                </a:cubicBezTo>
                <a:cubicBezTo>
                  <a:pt x="6822888" y="5619318"/>
                  <a:pt x="6797022" y="5647975"/>
                  <a:pt x="6806680" y="5667896"/>
                </a:cubicBezTo>
                <a:cubicBezTo>
                  <a:pt x="6799814" y="5696311"/>
                  <a:pt x="6798559" y="5738356"/>
                  <a:pt x="6791486" y="5769225"/>
                </a:cubicBezTo>
                <a:cubicBezTo>
                  <a:pt x="6791906" y="5787258"/>
                  <a:pt x="6792324" y="5805291"/>
                  <a:pt x="6792745" y="5823324"/>
                </a:cubicBezTo>
                <a:cubicBezTo>
                  <a:pt x="6789102" y="5853058"/>
                  <a:pt x="6788588" y="5838948"/>
                  <a:pt x="6789109" y="5862699"/>
                </a:cubicBezTo>
                <a:lnTo>
                  <a:pt x="6793675" y="5906467"/>
                </a:lnTo>
                <a:lnTo>
                  <a:pt x="6814548" y="5939847"/>
                </a:lnTo>
                <a:cubicBezTo>
                  <a:pt x="6821828" y="5955713"/>
                  <a:pt x="6797711" y="5940131"/>
                  <a:pt x="6809795" y="5973994"/>
                </a:cubicBezTo>
                <a:cubicBezTo>
                  <a:pt x="6784167" y="5997051"/>
                  <a:pt x="6806424" y="6032039"/>
                  <a:pt x="6810756" y="6089693"/>
                </a:cubicBezTo>
                <a:lnTo>
                  <a:pt x="6814601" y="6224938"/>
                </a:lnTo>
                <a:cubicBezTo>
                  <a:pt x="6811422" y="6270972"/>
                  <a:pt x="6831942" y="6317522"/>
                  <a:pt x="6840137" y="6370251"/>
                </a:cubicBezTo>
                <a:cubicBezTo>
                  <a:pt x="6848333" y="6422980"/>
                  <a:pt x="6862918" y="6490855"/>
                  <a:pt x="6863777" y="6541313"/>
                </a:cubicBezTo>
                <a:cubicBezTo>
                  <a:pt x="6862878" y="6576319"/>
                  <a:pt x="6854892" y="6591883"/>
                  <a:pt x="6868355" y="6640957"/>
                </a:cubicBezTo>
                <a:cubicBezTo>
                  <a:pt x="6880485" y="6669536"/>
                  <a:pt x="6875256" y="6675394"/>
                  <a:pt x="6881422" y="6705297"/>
                </a:cubicBezTo>
                <a:cubicBezTo>
                  <a:pt x="6880347" y="6727133"/>
                  <a:pt x="6890881" y="6732087"/>
                  <a:pt x="6894105" y="6759582"/>
                </a:cubicBezTo>
                <a:cubicBezTo>
                  <a:pt x="6878594" y="6796071"/>
                  <a:pt x="6874636" y="6769544"/>
                  <a:pt x="6892152" y="6817746"/>
                </a:cubicBezTo>
                <a:cubicBezTo>
                  <a:pt x="6883936" y="6828354"/>
                  <a:pt x="6887505" y="6836369"/>
                  <a:pt x="6895302" y="6843646"/>
                </a:cubicBezTo>
                <a:lnTo>
                  <a:pt x="6914368" y="6857998"/>
                </a:lnTo>
                <a:lnTo>
                  <a:pt x="7549620" y="6857998"/>
                </a:lnTo>
                <a:lnTo>
                  <a:pt x="7918980" y="6857998"/>
                </a:lnTo>
                <a:lnTo>
                  <a:pt x="7918980" y="6858000"/>
                </a:lnTo>
                <a:lnTo>
                  <a:pt x="7549620" y="6858000"/>
                </a:lnTo>
                <a:lnTo>
                  <a:pt x="6658851" y="6858000"/>
                </a:lnTo>
                <a:lnTo>
                  <a:pt x="2092387" y="6858000"/>
                </a:lnTo>
                <a:lnTo>
                  <a:pt x="1822980" y="6858000"/>
                </a:lnTo>
                <a:lnTo>
                  <a:pt x="727500" y="6858000"/>
                </a:lnTo>
                <a:lnTo>
                  <a:pt x="50445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87FF-C444-A8DF-4787-53BED9B46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67148"/>
            <a:ext cx="5977205" cy="5935539"/>
          </a:xfrm>
        </p:spPr>
        <p:txBody>
          <a:bodyPr>
            <a:normAutofit fontScale="85000" lnSpcReduction="10000"/>
          </a:bodyPr>
          <a:lstStyle/>
          <a:p>
            <a:endParaRPr lang="en-AU" sz="1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-- EMPLOYEE EVENTS (40,000)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BEGIN TRAN;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bronze.EmployeeEvent</a:t>
            </a:r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EmployeeID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EventDate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RoleID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LocationID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EmploymentTypeID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ManagerID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EventReason</a:t>
            </a:r>
            <a:endParaRPr lang="en-US" sz="1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pt-BR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(ABS(CHECKSUM(n*41)) % 12000),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ABS(CHECKSUM(n*43)) % 6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0 THEN 'Hire'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1 THEN 'Transfer'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2 THEN 'Promotion'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3 THEN '</a:t>
            </a:r>
            <a:r>
              <a:rPr lang="en-AU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RoleChange</a:t>
            </a:r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4 THEN '</a:t>
            </a:r>
            <a:r>
              <a:rPr lang="en-AU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LocationChange</a:t>
            </a:r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'Termination'</a:t>
            </a:r>
          </a:p>
          <a:p>
            <a:r>
              <a:rPr lang="en-AU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END,</a:t>
            </a:r>
          </a:p>
          <a:p>
            <a:endParaRPr lang="en-AU" sz="5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443216-A58B-D1D2-AA97-9D89BF5F4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224" y="770925"/>
            <a:ext cx="3603662" cy="5316146"/>
          </a:xfrm>
          <a:prstGeom prst="rect">
            <a:avLst/>
          </a:prstGeom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5B1C0F75-E7F7-4B02-A77F-5EABD7CBD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4090" y="6128733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712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DCFE2E-DB04-764A-45BD-9D7057821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EDCB-E734-DA5E-E79E-430694B3C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4890" y="865239"/>
            <a:ext cx="5778910" cy="5311724"/>
          </a:xfrm>
        </p:spPr>
        <p:txBody>
          <a:bodyPr>
            <a:normAutofit/>
          </a:bodyPr>
          <a:lstStyle/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DATEADD(DAY, -1 * (ABS(CHECKSUM(n*47)) % 3650), '2025-01-01'),</a:t>
            </a:r>
          </a:p>
          <a:p>
            <a:r>
              <a:rPr lang="pt-BR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(ABS(CHECKSUM(n*53)) % 10),</a:t>
            </a:r>
          </a:p>
          <a:p>
            <a:r>
              <a:rPr lang="pt-BR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(ABS(CHECKSUM(n*59)) % 40),</a:t>
            </a:r>
          </a:p>
          <a:p>
            <a:r>
              <a:rPr lang="pt-BR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(ABS(CHECKSUM(n*61)) % 8),</a:t>
            </a:r>
          </a:p>
          <a:p>
            <a:r>
              <a:rPr lang="pt-BR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(ABS(CHECKSUM(n*67)) % 3),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NULL,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ABS(CHECKSUM(n*71)) % 4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0 THEN 'New hire'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1 THEN 'Promotion to senior'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2 THEN 'Transfer to new team'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'Voluntary resignation'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FROM #Numbers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WHERE n &lt;= 40000;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COMMIT;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3789534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BB7C33-813F-4375-A94A-59B0CBE25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511293"/>
            <a:ext cx="384059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2149-6B36-A7E7-56A9-83B2DCCD7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2606" y="609600"/>
            <a:ext cx="6231194" cy="5567363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ABSENCES (120,000)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BEGIN TRAN;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bronze.Absence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StartDate,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AbsenceType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pt-B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1 + (ABS(CHECKSUM(n*73)) % 12000),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DATEADD(DAY, -1 * (ABS(CHECKSUM(n*79)) % 3650), '2025-01-01'),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DATEADD(DAY, -1 * (ABS(CHECKSUM(n*79)) % 3650) + 1 + (ABS(CHECKSUM(n*83)) % 10), '2025-01-01'),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ABS(CHECKSUM(n*89)) % 3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0 THEN 'Sick leave'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1 THEN 'Vacation'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'Parental leave'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#Numbers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n &lt;= 120000;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COMMIT;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DROP TABLE #Numbers;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707258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156AF-785F-2493-6631-CB8DCFD6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2" y="1095152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A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Bronze Layer (DML): Validation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209B2-09AE-0B91-EB3D-DB30FA9D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613" y="2447337"/>
            <a:ext cx="4773616" cy="3171970"/>
          </a:xfrm>
        </p:spPr>
        <p:txBody>
          <a:bodyPr anchor="t">
            <a:normAutofit fontScale="92500" lnSpcReduction="20000"/>
          </a:bodyPr>
          <a:lstStyle/>
          <a:p>
            <a:r>
              <a:rPr lang="en-AU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Validation</a:t>
            </a:r>
          </a:p>
          <a:p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AS DeptCount FROM bronze.Department;</a:t>
            </a:r>
          </a:p>
          <a:p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AS RoleCount FROM bronze.Role;</a:t>
            </a:r>
          </a:p>
          <a:p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AS LocationCount FROM bronze.Location;</a:t>
            </a:r>
          </a:p>
          <a:p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AS EmpTypeCount FROM bronze.EmploymentType;</a:t>
            </a:r>
          </a:p>
          <a:p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AS EmployeeCount FROM bronze.Employee;</a:t>
            </a:r>
          </a:p>
          <a:p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AS EventCount FROM bronze.EmployeeEvent;</a:t>
            </a:r>
          </a:p>
          <a:p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AS AbsenceCount FROM bronze.Absence;</a:t>
            </a:r>
          </a:p>
          <a:p>
            <a:r>
              <a:rPr lang="en-AU" sz="130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3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280B7-DC0B-724B-A8E1-A556DBAD6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157" y="685799"/>
            <a:ext cx="18382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51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CB02E-7F28-B047-6169-A8D5A2AC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2500">
                <a:solidFill>
                  <a:srgbClr val="FFFFFF"/>
                </a:solidFill>
              </a:rPr>
              <a:t>Silver Layer</a:t>
            </a:r>
            <a:br>
              <a:rPr lang="en-AU" sz="2500">
                <a:solidFill>
                  <a:srgbClr val="FFFFFF"/>
                </a:solidFill>
              </a:rPr>
            </a:br>
            <a:r>
              <a:rPr lang="en-AU" sz="2500">
                <a:solidFill>
                  <a:srgbClr val="FFFFFF"/>
                </a:solidFill>
              </a:rPr>
              <a:t>DDL: Creating tables for Department, Role, Location, EmploymentType, Employee, EmployeeEvent, Absence, DataQualityLog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1EAC-2806-F5BC-7C48-A36421E94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USE TeamProject_EmployeeRetention;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SET NOCOUNT ON;</a:t>
            </a:r>
          </a:p>
          <a:p>
            <a:endParaRPr lang="en-AU" sz="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-- Drop Silver tables in dependency order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IF OBJECT_ID('silver.Absence','U')        IS NOT NULL DROP TABLE silver.Absence;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IF OBJECT_ID('silver.EmployeeEvent','U')  IS NOT NULL DROP TABLE silver.EmployeeEvent;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IF OBJECT_ID('silver.Employee','U')       IS NOT NULL DROP TABLE silver.Employee;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IF OBJECT_ID('silver.EmploymentType','U') IS NOT NULL DROP TABLE silver.EmploymentType;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IF OBJECT_ID('silver.Role','U')           IS NOT NULL DROP TABLE silver.Role;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IF OBJECT_ID('silver.Department','U')     IS NOT NULL DROP TABLE silver.Department;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IF OBJECT_ID('silver.Location','U')       IS NOT NULL DROP TABLE silver.Location;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800"/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-- Create Silver schema if not exists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CREATE SCHEMA silver;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260574-B66A-3600-07BB-6F6BADBA0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768101"/>
            <a:ext cx="3615776" cy="533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62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84B6E-D169-985F-4FD1-AF51225C0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3" y="511293"/>
            <a:ext cx="3840838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26D9-086F-E096-E4CB-816FDD628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097" y="757084"/>
            <a:ext cx="6142703" cy="5419879"/>
          </a:xfrm>
        </p:spPr>
        <p:txBody>
          <a:bodyPr>
            <a:normAutofit fontScale="92500"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Silver: Department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silver.Department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INT IDENTITY(1,1) NOT NULL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PK_silver_Department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NVARCHAR(20) 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NVARCHAR(100)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UQ_silver_Department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UNIQUE 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Silver: Role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silver.Role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INT IDENTITY(1,1) NOT NULL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PK_silver_Role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NVARCHAR(20) 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NVARCHAR(100) NOT NULL,</a:t>
            </a:r>
          </a:p>
          <a:p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fr-FR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UQ_silver_Role</a:t>
            </a:r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UNIQUE (</a:t>
            </a:r>
            <a:r>
              <a:rPr lang="fr-FR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RoleCode</a:t>
            </a:r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FK_silver_Role_Department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Silver: Location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silver.Location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IDENTITY(1,1) NOT NULL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PK_silver_Location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NVARCHAR(20) 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NVARCHAR(100)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Region        NVARCHAR(50)  NOT NULL,</a:t>
            </a:r>
          </a:p>
          <a:p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fr-FR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UQ_silver_Location</a:t>
            </a:r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UNIQUE (</a:t>
            </a:r>
            <a:r>
              <a:rPr lang="fr-FR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347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EC67B-347F-14B8-A93F-A04FA6777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3" y="511293"/>
            <a:ext cx="3840838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2AF0-C577-ECBF-FB0E-7919B3696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923" y="511292"/>
            <a:ext cx="6816220" cy="6194307"/>
          </a:xfrm>
        </p:spPr>
        <p:txBody>
          <a:bodyPr>
            <a:normAutofit fontScale="92500" lnSpcReduction="10000"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Silver: Employment Type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silver.EmploymentType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INT IDENTITY(1,1) NOT NULL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PK_silver_EmploymentType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NVARCHAR(10) 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NVARCHAR(50) 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UQ_silver_EmploymentType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UNIQUE 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Silver: Employee (deduped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INT IDENTITY(1,1) NOT NULL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PK_silver_Employee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NVARCHAR(25)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FirstName        NVARCHAR(100)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LastName         NVARCHAR(100)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BirthDate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Gender           CHAR(1)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INT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DATE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DATE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TerminationReason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NVARCHAR(100)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UQ_silver_Employee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UNIQUE 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FK_silver_Employee_Department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FK_silver_Employee_Role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FK_silver_Employee_Location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silver.Location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FK_silver_Employee_EmpType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silver.EmploymentType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FK_silver_Employee_Manager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77664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F96DD-048C-EAFA-6EA3-A413C8BE7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09" y="2084438"/>
            <a:ext cx="2794827" cy="446017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369FE-013C-9D3F-0C06-0B77846A0AC5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3667432" y="13597"/>
            <a:ext cx="9079338" cy="346218"/>
          </a:xfrm>
        </p:spPr>
        <p:txBody>
          <a:bodyPr>
            <a:noAutofit/>
          </a:bodyPr>
          <a:lstStyle/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-- Silver: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EmployeeEvent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(transactional) – keep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BronzeEventID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for stable mapping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silver.EmployeeEvent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IDENTITY(1,1) NOT NULL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PK_silver_EmployeeEvent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BronzeEventID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INT NOT NULL,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NVARCHAR(20) 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EventDate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DATE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INT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INT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INT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EventReason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NVARCHAR(100) NULL,</a:t>
            </a:r>
          </a:p>
          <a:p>
            <a:r>
              <a:rPr lang="fr-FR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fr-FR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UQ_silver_Event</a:t>
            </a:r>
            <a:r>
              <a:rPr lang="fr-FR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UNIQUE (</a:t>
            </a:r>
            <a:r>
              <a:rPr lang="fr-FR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BronzeEventID</a:t>
            </a:r>
            <a:r>
              <a:rPr lang="fr-FR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FK_silver_Event_Employee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FOREIGN KEY 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REFERENCES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FK_silver_Event_Department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FOREIGN KEY 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    REFERENCES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silver.Department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FK_silver_Event_Role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FOREIGN KEY 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  REFERENCES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silver.Role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FK_silver_Event_Location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FOREIGN KEY 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REFERENCES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silver.Location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FK_silver_Event_EmpType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FOREIGN KEY 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silver.EmploymentType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FK_silver_Event_Manager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FOREIGN KEY 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REFERENCES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6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-- Silver: Absence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silver.Absence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AbsenceKey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IDENTITY(1,1) NOT NULL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PK_silver_Absence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INT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StartDate    DATE NOT NULL,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DATE NOT NULL,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AbsenceType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NVARCHAR(50) NOT NULL,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DaysAbsent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AS (DATEDIFF(DAY, StartDate,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+ 1) PERSISTED,</a:t>
            </a:r>
          </a:p>
          <a:p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FK_silver_Absence_Employee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6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600" dirty="0"/>
          </a:p>
          <a:p>
            <a:endParaRPr lang="en-AU" sz="600" dirty="0"/>
          </a:p>
        </p:txBody>
      </p:sp>
    </p:spTree>
    <p:extLst>
      <p:ext uri="{BB962C8B-B14F-4D97-AF65-F5344CB8AC3E}">
        <p14:creationId xmlns:p14="http://schemas.microsoft.com/office/powerpoint/2010/main" val="1204318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C6735-7863-C77D-FFE7-CEDEFABC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0" lang="en-AU" sz="2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Silver Layer</a:t>
            </a:r>
            <a:br>
              <a:rPr kumimoji="0" lang="en-AU" sz="2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AU" sz="2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DML: Inserting tables for Department, Role, Location, EmploymentType, Employee, EmployeeEvent, Absence, DataQualityLog </a:t>
            </a:r>
            <a:endParaRPr lang="en-AU" sz="2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F8CA8-EE76-840D-F1F7-29F09BD73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-- 1) Departments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INSERT INTO silver.Department (DepartmentCode, DepartmentName)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SELECT DISTINCT DepartmentCode,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CONCAT(UPPER(LEFT(LTRIM(RTRIM(DepartmentName)),1)), LOWER(SUBSTRING(LTRIM(RTRIM(DepartmentName)),2,200)))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bronze.Department;</a:t>
            </a:r>
          </a:p>
          <a:p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 Mapping table for Department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IF OBJECT_ID('tempdb..#DeptMap') IS NOT NULL DROP TABLE #DeptMap;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SELECT b.DepartmentID, s.DepartmentKey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INTO #DeptMap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bronze.Department b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JOIN silver.Department s ON s.DepartmentCode = b.DepartmentCode;</a:t>
            </a:r>
          </a:p>
          <a:p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3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4941F-30FD-98BD-BD2D-B2A5117D9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768101"/>
            <a:ext cx="3615776" cy="533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6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F9A05-A983-DD2D-E56F-68CA7484D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b="342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471D-C4C5-0678-33D5-A739C674F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110" y="324465"/>
            <a:ext cx="6455422" cy="5895360"/>
          </a:xfrm>
        </p:spPr>
        <p:txBody>
          <a:bodyPr>
            <a:normAutofit lnSpcReduction="10000"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-- 2) Roles (standardise casing)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dm.DepartmentKey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b.RoleCode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CONCAT(UPPER(LEFT(LTRIM(RTRIM(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b.RoleName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)),1)), LOWER(SUBSTRING(LTRIM(RTRIM(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b.RoleName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)),2,200)))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bronze.Role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#DeptMap dm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dm.DepartmentID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b.DepartmentID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tempdb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..#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RoleMap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 IS NOT NULL DROP TABLE #RoleMap;</a:t>
            </a:r>
          </a:p>
          <a:p>
            <a:r>
              <a:rPr lang="nl-NL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nl-NL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b.RoleID</a:t>
            </a:r>
            <a:r>
              <a:rPr lang="nl-NL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nl-NL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s.RoleKey</a:t>
            </a:r>
            <a:endParaRPr lang="nl-NL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INTO #RoleMap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bronze.Role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silver.Role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s ON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s.RoleCode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b.RoleCode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-- 3) Locations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silver.Location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Region)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DISTINCT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CONCAT(UPPER(LEFT(LTRIM(RTRIM(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)),1)), LOWER(SUBSTRING(LTRIM(RTRIM(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)),2,200)))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Region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bronze.Location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tempdb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..#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LocMap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 IS NOT NULL DROP TABLE #LocMap;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b.LocationID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s.LocationKey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INTO #LocMap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bronze.Location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</a:t>
            </a:r>
          </a:p>
          <a:p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</a:t>
            </a:r>
            <a:r>
              <a:rPr lang="fr-FR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silver.Location</a:t>
            </a:r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s ON </a:t>
            </a:r>
            <a:r>
              <a:rPr lang="fr-FR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s.LocationCode</a:t>
            </a:r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fr-FR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b.LocationCode</a:t>
            </a:r>
            <a:r>
              <a:rPr lang="fr-FR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597483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DEAF0-DEA8-0D47-71C1-244DD61FA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b="342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59CF-559A-D3AA-9124-B84B07218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 lnSpcReduction="10000"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-- 4) Employment types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silver.EmploymentType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SELECT DISTINCT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CONCAT(UPPER(LEFT(LTRIM(RTRIM(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)),1)), LOWER(SUBSTRING(LTRIM(RTRIM(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)),2,200)))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bronze.EmploymentType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tempdb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..#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EmpTypeMap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') IS NOT NULL DROP TABLE #EmpTypeMap;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b.EmploymentTypeID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s.EmploymentTypeKey</a:t>
            </a:r>
            <a:endParaRPr lang="en-US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INTO #EmpTypeMap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bronze.EmploymentType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b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JOIN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silver.EmploymentType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s ON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s.EmploymentTypeCode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b.EmploymentTypeCode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300"/>
          </a:p>
        </p:txBody>
      </p:sp>
    </p:spTree>
    <p:extLst>
      <p:ext uri="{BB962C8B-B14F-4D97-AF65-F5344CB8AC3E}">
        <p14:creationId xmlns:p14="http://schemas.microsoft.com/office/powerpoint/2010/main" val="904337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1FFB9-4312-A260-062F-99767025A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b="342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4CE1D-3DE8-FACA-63E1-23ECB15A6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110" y="550606"/>
            <a:ext cx="7010400" cy="6154994"/>
          </a:xfrm>
        </p:spPr>
        <p:txBody>
          <a:bodyPr>
            <a:normAutofit/>
          </a:bodyPr>
          <a:lstStyle/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-- 5) Employees (dedupe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 map manager later)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;WITH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Src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b.EmployeeID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b.EmployeeCode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b.FirstName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b.LastName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b.BirthDate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b.Gender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b.DepartmentID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b.RoleID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b.LocationID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b.EmploymentTypeID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b.ManagerID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b.HireDate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CASE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IS NULL THEN NULL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DATEDIFF(DAY,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b.HireDate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&lt; 0 THEN NULL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ELSE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b.TerminationDate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END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CleanTerminationDate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b.TerminationReason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ROW_NUMBER() OVER (PARTITION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b.EmployeeID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rn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4124016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721C8-5011-D76D-D72C-CCF258D44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b="342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01674-6BB2-DB13-7578-D0EA3A693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591" y="275304"/>
            <a:ext cx="6805839" cy="6508954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FirstName, LastName,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BirthDate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Gender,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TerminationReason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s.EmployeeCode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CONCAT(UPPER(LEFT(LTRIM(RTRIM(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s.FirstName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)),1)), LOWER(SUBSTRING(LTRIM(RTRIM(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s.FirstName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)),2,200))) AS FirstName,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CONCAT(UPPER(LEFT(LTRIM(RTRIM(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s.LastName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)),1)), LOWER(SUBSTRING(LTRIM(RTRIM(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s.LastName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)),2,200)))  AS LastName,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s.BirthDate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s.Gender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dm.DepartmentKey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rm.RoleKey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lm.LocationKey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em.EmploymentTypeKey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NULL, --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mapped after insertion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s.HireDate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s.CleanTerminationDate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s.TerminationReason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Src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#DeptMap   dm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dm.DepartmentID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s.DepartmentID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#RoleMap   rm ON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rm.RoleID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=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s.RoleID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#LocMap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lm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lm.LocationID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s.LocationID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#EmpTypeMap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em.EmploymentTypeID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s.EmploymentTypeID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s.rn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1;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655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F0F25-72FC-E52C-F3D0-35801CD47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b="342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C7D72-4708-06AB-2BE7-BD674DD3A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29" y="407987"/>
            <a:ext cx="6440501" cy="6258284"/>
          </a:xfrm>
        </p:spPr>
        <p:txBody>
          <a:bodyPr>
            <a:normAutofit/>
          </a:bodyPr>
          <a:lstStyle/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Build employee mapping after insertion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tempdb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..#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EmpMap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 IS NOT NULL DROP TABLE #EmpMap;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b.EmployeeID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s.EmployeeKey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INTO #EmpMap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s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Update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using mapping (use cascade to self reference)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UPDATE 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SET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emgr.EmployeeKey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s.EmployeeCode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LEFT JOIN #EmpMap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emgr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emgr.EmployeeID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b.ManagerID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DQ log: invalid termination dates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dq.DataQualityLog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TableName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CheckName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CheckResult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ErrorCount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'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'Termination date &gt;= Hire date',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'Logged (Silver nulls invalid termination)',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COUNT(*)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IS NOT NULL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AND DATEDIFF(DAY,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&lt; 0;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425425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23955-8F58-55D8-14CE-B34D590EE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b="342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F6330-71B5-4857-09F5-D67048555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98090"/>
            <a:ext cx="6366932" cy="5521735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-- 6) Employee events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silver.EmployeeEvent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BronzeEventID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EventReason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be.EmployeeEventID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em.EmployeeKey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CONCAT(UPPER(LEFT(LTRIM(RTRIM(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be.EventType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)),1)), LOWER(SUBSTRING(LTRIM(RTRIM(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be.EventType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)),2,200)))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be.EventDate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dm.DepartmentKey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rm.RoleKey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lm.LocationKey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emt.EmploymentTypeKey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emgr.EmployeeKey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be.EventReason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bronze.EmployeeEvent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#EmpMap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em.EmployeeID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be.EmployeeID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#DeptMap dm 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dm.DepartmentID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be.DepartmentID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l-NL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#RoleMap </a:t>
            </a:r>
            <a:r>
              <a:rPr lang="nl-NL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rm</a:t>
            </a:r>
            <a:r>
              <a:rPr lang="nl-NL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ON </a:t>
            </a:r>
            <a:r>
              <a:rPr lang="nl-NL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rm.RoleID</a:t>
            </a:r>
            <a:r>
              <a:rPr lang="nl-NL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= </a:t>
            </a:r>
            <a:r>
              <a:rPr lang="nl-NL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be.RoleID</a:t>
            </a:r>
            <a:endParaRPr lang="nl-NL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#LocMap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lm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lm.LocationID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be.LocationID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#EmpTypeMap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emt.EmploymentTypeID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be.EmploymentTypeID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LEFT JOIN #EmpMap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emgr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emgr.EmployeeID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be.ManagerID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410561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3027E-8E79-BF91-0550-EDC163B2C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b="342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363C-116C-C67D-39E1-C86B5824B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090" y="560439"/>
            <a:ext cx="6278442" cy="5659386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-- 7) Absence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silver.Absence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StartDate,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AbsenceType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em.EmployeeKey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ba.StartDate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ba.EndDate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ba.StartDate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THEN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ba.StartDate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ba.EndDate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CONCAT(UPPER(LEFT(LTRIM(RTRIM(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ba.AbsenceType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)),1)), LOWER(SUBSTRING(LTRIM(RTRIM(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ba.AbsenceType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)),2,200)))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AbsenceType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bronze.Absence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#EmpMap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em.EmployeeID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ba.EmployeeID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DQ log: absence end date &gt;= start date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dq.DataQualityLog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TableName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CheckName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CheckResult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ErrorCount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'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bronze.Absence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'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&gt;= StartDate',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COUNT(*) = 0 THEN 'Pass' ELSE 'Fail (fixed in Silver by swapping)' END,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COUNT(*)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bronze.Absence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&lt; StartDate;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841292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56EC0-B0D9-E7B1-0949-AC330179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kumimoji="0" lang="en-AU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Silver Layer (DML)</a:t>
            </a:r>
            <a:r>
              <a:rPr lang="en-AU">
                <a:latin typeface="Aptos Display" panose="02110004020202020204"/>
              </a:rPr>
              <a:t>: Validation Checks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E3AD2-0F01-6822-17D1-443DEDF16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3" y="1549451"/>
            <a:ext cx="4555700" cy="831745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B89C87-6E14-5C7C-CE29-0239F1FF0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3" y="3526029"/>
            <a:ext cx="1852938" cy="273329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5DA78-9D32-B12F-DBEC-207FA8646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 fontScale="92500" lnSpcReduction="10000"/>
          </a:bodyPr>
          <a:lstStyle/>
          <a:p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 Validation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SELECT (SELECT COUNT(*)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silver.Department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DeptCount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(SELECT COUNT(*)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silver.Role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      AS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RoleCount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(SELECT COUNT(*)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silver.Location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  AS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LocationCount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(SELECT COUNT(*)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silver.EmploymentType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EmpTypeCount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(SELECT COUNT(*)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  AS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EmployeeCount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(SELECT COUNT(*)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silver.EmployeeEvent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EventCount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(SELECT COUNT(*)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silver.Absence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   AS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AbsenceCount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SELECT TOP (5) * FROM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dq.DataQualityLog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ORDER BY RunDTTM DESC;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30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77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CBEEB-6B57-ACA6-BB1A-E7EAFF28D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2500">
                <a:solidFill>
                  <a:srgbClr val="FFFFFF"/>
                </a:solidFill>
              </a:rPr>
              <a:t>Golden Layer </a:t>
            </a:r>
            <a:br>
              <a:rPr lang="en-AU" sz="2500">
                <a:solidFill>
                  <a:srgbClr val="FFFFFF"/>
                </a:solidFill>
              </a:rPr>
            </a:br>
            <a:r>
              <a:rPr kumimoji="0" lang="en-AU" sz="2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DDL: Inserting tables for DimDate, DimRole, DimLocation, DimEmploymentType, DimEmployee, FactEmployeeEvent, FactAbsence, DataQualityLog</a:t>
            </a:r>
            <a:endParaRPr lang="en-AU" sz="2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3F16-B49D-4FD6-1E8E-952296253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1" y="88490"/>
            <a:ext cx="3472220" cy="6107037"/>
          </a:xfrm>
        </p:spPr>
        <p:txBody>
          <a:bodyPr anchor="ctr">
            <a:noAutofit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USE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TeamProject_EmployeeRetention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SET NOCOUNT ON;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-- Drop facts first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FactAbsence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      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gold.FactAbsence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FactEmployeeEvents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gold.FactEmployeeEvents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FactEmployeeSnapshot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gold.FactEmployeeSnapshot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-- Drop dimensions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DimEmploymentType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gold.DimEmploymentType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DimLocation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      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gold.DimLocation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DimRole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          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gold.DimRole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DimDepartment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    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DimEmployee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      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OBJECT_ID('gold.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DimDate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','U')            IS NOT NULL DROP TABLE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--Creating gold,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and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etl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schema (if not exists)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gold;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SCHEMA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etl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7A63D-E618-81AD-9872-DB1C3C317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147" y="473654"/>
            <a:ext cx="3596485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39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E610-B270-CAD4-6D9A-F0B17C3CC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5729" y="983226"/>
            <a:ext cx="5828071" cy="5193737"/>
          </a:xfrm>
        </p:spPr>
        <p:txBody>
          <a:bodyPr>
            <a:normAutofit/>
          </a:bodyPr>
          <a:lstStyle/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-- Dimensions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NOT NULL CONSTRAINT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PK_gold_DimDate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[Date]     DATE NOT NULL,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[Day]      INT  NOT NULL,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[Month]    INT  NOT NULL,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MonthName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NVARCHAR(20) NOT NULL,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[Quarter]  INT  NOT NULL,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[Year]     INT  NOT NULL,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IsWeekend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BIT  NOT NULL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INT NOT NULL CONSTRAINT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PK_gold_DimDepartment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DepartmentCode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NVARCHAR(20) NOT NULL,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NVARCHAR(100) NOT NULL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66F71-7DE2-3B25-DAD8-2BDE5C89A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82" y="467714"/>
            <a:ext cx="3596485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51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F1D6-9891-285B-0B9B-52656A6EC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03" y="688258"/>
            <a:ext cx="5896897" cy="5488705"/>
          </a:xfrm>
        </p:spPr>
        <p:txBody>
          <a:bodyPr>
            <a:normAutofit lnSpcReduction="10000"/>
          </a:bodyPr>
          <a:lstStyle/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gold.DimRole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NOT NULL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PK_gold_DimRole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INT NOT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RoleCode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NVARCHAR(20) NOT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RoleName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NVARCHAR(100) NOT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FK_gold_DimRole_Department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gold.DimLocation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NOT NULL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PK_gold_DimLocation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NVARCHAR(20) NOT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NVARCHAR(100) NOT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Region        NVARCHAR(50) NOT NULL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gold.DimEmploymentType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INT NOT NULL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PK_gold_DimEmploymentType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NVARCHAR(10) NOT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NVARCHAR(50) NOT NULL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2522CE-B7D1-8707-C944-9A0F8950C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43" y="467714"/>
            <a:ext cx="3596485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047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4865-A476-F0B0-9B6C-7E0BAC700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394" y="796413"/>
            <a:ext cx="5808406" cy="5380550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INT NOT NULL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PK_gold_DimEmployee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NVARCHAR(25)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FirstName         NVARCHAR(100)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LastName          NVARCHAR(100)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BirthDate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DATE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Gender            CHAR(1)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DATE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DATE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TerminationReason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NVARCHAR(100)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FK_gold_DimEmp_Department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FK_gold_DimEmp_Role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FK_gold_DimEmp_Location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gold.DimLocation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FK_gold_DimEmp_EmpType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gold.DimEmploymentType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FK_gold_DimEmp_Manager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700" dirty="0"/>
          </a:p>
          <a:p>
            <a:endParaRPr lang="en-AU" sz="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A4220D-95B3-3DD7-2EB4-CF757CED7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43" y="467714"/>
            <a:ext cx="3596485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64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8955-A0EC-D54A-F1B8-195FDB2EE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4853" y="589935"/>
            <a:ext cx="7275870" cy="5587028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Facts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gold.FactEmployeeSnapshot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SnapshotID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BIGINT IDENTITY(1,1) NOT NULL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PK_gold_FactEmpSnapshot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INT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TenureMonths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INT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ActiveFlag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BIT NOT NULL,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TerminatedFlag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BIT NOT NULL,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FK_gold_FS_Emp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FK_gold_FS_Dept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FK_gold_FS_Role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gold.DimRole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FK_gold_FS_Loc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gold.DimLocation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FK_gold_FS_EmpType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gold.DimEmploymentType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FK_gold_FS_Manager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FK_gold_FS_Date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   REFERENCES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AD8AEF-1D3B-F7CD-9224-7C474DCAF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43" y="467714"/>
            <a:ext cx="3596485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666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53E5-44EB-BB80-5380-1FAF16126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503" y="747252"/>
            <a:ext cx="6811297" cy="5429711"/>
          </a:xfrm>
        </p:spPr>
        <p:txBody>
          <a:bodyPr>
            <a:normAutofit fontScale="92500" lnSpcReduction="10000"/>
          </a:bodyPr>
          <a:lstStyle/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gold.FactEmployeeEvents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INT NOT NULL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PK_gold_FactEmployeeEvents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NOT NULL,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NOT NULL,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INT NOT NULL,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INT NOT NULL,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INT NOT NULL,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INT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NVARCHAR(20)  NOT NULL,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EventReason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NVARCHAR(100) NULL,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FK_gold_FE_Emp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FK_gold_FE_Date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  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FK_gold_FE_Dept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FK_gold_FE_Role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  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gold.DimRole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FK_gold_FE_Loc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gold.DimLocation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FK_gold_FE_EmpType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gold.DimEmploymentType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FK_gold_FE_Manager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         REFERENCES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4228B1-4A76-47D0-BB11-DC5D8BE69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43" y="467714"/>
            <a:ext cx="3596485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505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0ACEF-FF19-B0D5-0A86-36FEE9B5B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7A7F-9924-D7F8-AA28-3A08DB2D8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gold.FactAbsence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AbsenceKey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INT NOT NULL CONSTRAINT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PK_gold_FactAbsence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PRIMARY KEY,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INT NOT NULL,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StartDateKey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INT NOT NULL,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EndDateKey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INT NOT NULL,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DaysAbsent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INT NOT NULL,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AbsenceType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NVARCHAR(50) NOT NULL,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FK_gold_FA_Emp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FOREIGN KEY 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  REFERENCES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FK_gold_FA_Start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FOREIGN KEY 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StartDateKey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FK_gold_FA_End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FOREIGN KEY 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EndDateKey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   REFERENCES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/>
          </a:p>
        </p:txBody>
      </p:sp>
    </p:spTree>
    <p:extLst>
      <p:ext uri="{BB962C8B-B14F-4D97-AF65-F5344CB8AC3E}">
        <p14:creationId xmlns:p14="http://schemas.microsoft.com/office/powerpoint/2010/main" val="1007853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B092B-B363-425A-414A-1B91FAE81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Golden Layer </a:t>
            </a:r>
            <a:b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DML: Inserting tables for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DimDate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,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DimRole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,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DimLocation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,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DimEmploymentType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,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DimEmployee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,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FactEmployeeEvent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,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FactAbsence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, </a:t>
            </a:r>
            <a:r>
              <a:rPr kumimoji="0" lang="en-AU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DataQualityLog</a:t>
            </a:r>
            <a:endParaRPr lang="en-AU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0D6D4-8FDF-67C9-F1B3-D0BE660C5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9744-ECAE-B0EE-7372-095531CB5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 lnSpcReduction="10000"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DimDepartment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DepartmentCode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DepartmentCode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silver.Department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DimRole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gold.DimRole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RoleCode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RoleName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RoleCode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RoleName</a:t>
            </a:r>
            <a:endParaRPr lang="en-US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silver.Role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DimLocation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gold.DimLocation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Region)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LocationCode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LocationName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Region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silver.Location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DimEmploymentType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gold.DimEmploymentType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EmploymentTypeCode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EmploymentTypeName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silver.EmploymentType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19088525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244A7-783C-3995-93D3-9BC6EF729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79705-4BF0-249E-41A6-060B9CA9B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2" y="707923"/>
            <a:ext cx="6339348" cy="5469040"/>
          </a:xfrm>
        </p:spPr>
        <p:txBody>
          <a:bodyPr>
            <a:normAutofit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DimEmployee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EmployeeCode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FirstName, LastName,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BirthDate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Gender,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TerminationReason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e.EmployeeKey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e.EmployeeCode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e.FirstName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e.LastName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e.BirthDate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e.Gender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e.DepartmentKey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e.RoleKey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e.LocationKey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e.EmploymentTypeKey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e.ManagerKey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e.HireDate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e.TerminationDate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e.TerminationReason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e;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10689795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A41050-3205-A5F6-3C64-7E8A25DAE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7E61E-61D8-DBB0-E609-891B59256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116" y="698090"/>
            <a:ext cx="6319684" cy="5478873"/>
          </a:xfrm>
        </p:spPr>
        <p:txBody>
          <a:bodyPr>
            <a:normAutofit/>
          </a:bodyPr>
          <a:lstStyle/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DimDate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from hires, terminations, events and absences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;WITH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AllDates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CAST(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date)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UNION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CAST(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date)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IS NOT NULL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UNION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silver.EmployeeEvent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UNION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StartDate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silver.Absence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UNION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silver.Absence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[Date], [Day], [Month],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[Quarter], [Year],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IsWeekend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CONVERT(INT, FORMAT(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,'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yyyyMMdd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'))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DAY(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[Day],    MONTH(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[Month],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DATENAME(MONTH,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DATEPART(QUARTER,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[Quarter],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YEAR(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[Year],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DATEPART(WEEKDAY,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IN (1,7) THEN 1 ELSE 0 END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IsWeekend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AllDates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GROUP BY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DateVal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10994971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6582C-D2BA-4A5D-90DF-00B5784F3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FE584-C17D-C83B-F573-40DE8CEF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1" y="599768"/>
            <a:ext cx="6300019" cy="5577195"/>
          </a:xfrm>
        </p:spPr>
        <p:txBody>
          <a:bodyPr>
            <a:normAutofit/>
          </a:bodyPr>
          <a:lstStyle/>
          <a:p>
            <a:r>
              <a:rPr lang="en-US" sz="700" dirty="0">
                <a:highlight>
                  <a:srgbClr val="FFFFFF"/>
                </a:highlight>
              </a:rPr>
              <a:t>-- Populate all months between first hire and 2 years after last termination (run this query after initial load, and can be scheduled to run periodically to keep </a:t>
            </a:r>
            <a:r>
              <a:rPr lang="en-US" sz="700" dirty="0" err="1">
                <a:highlight>
                  <a:srgbClr val="FFFFFF"/>
                </a:highlight>
              </a:rPr>
              <a:t>DimDate</a:t>
            </a:r>
            <a:r>
              <a:rPr lang="en-US" sz="700" dirty="0">
                <a:highlight>
                  <a:srgbClr val="FFFFFF"/>
                </a:highlight>
              </a:rPr>
              <a:t> up to date)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DECLARE @MinHire DATE = (SELECT MIN(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HireDate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DECLARE @MaxEnd  DATE = (SELECT DATEADD(YEAR,2, MAX(ISNULL(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TerminationDate,GETDATE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())))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;WITH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MonthSeries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@MinHire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UNION ALL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DATEADD(MONTH,1,MonthStart)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MonthSeries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&lt; @MaxEnd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,[Date],[Day],[Month],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,[Quarter],[Year],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IsWeekend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CONVERT(INT, FORMAT(EOMONTH(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),'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yyyyMMdd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EOMONTH(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DAY(EOMONTH(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MONTH(EOMONTH(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DATENAME(MONTH, EOMONTH(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DATEPART(QUARTER, EOMONTH(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YEAR(EOMONTH(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DATEPART(WEEKDAY, EOMONTH(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 IN (1,7) THEN 1 ELSE 0 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MonthSeries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NOT EXISTS (SELECT 1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d WHERE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d.DateKey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CONVERT(INT, FORMAT(EOMONTH(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MonthStart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),'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yyyyMMdd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')))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OPTION (MAXRECURSION 0);</a:t>
            </a: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992600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D55492-B696-F85F-B9A7-1FDD1362C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2F2E-DE2A-FF53-08E2-3A50CDBFF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942" y="855406"/>
            <a:ext cx="6250858" cy="5321557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/* =========================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LOAD GOLD FACTS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========================= */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FactEmployeeEvents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gold.FactEmployeeEvents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EventReason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se.EventKey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se.EmployeeKey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CONVERT(INT, FORMAT(se.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EventDate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,'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yyyyMMdd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'))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se.RoleKey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se.LocationKey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se.EmploymentTypeKey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se.ManagerKey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se.EventType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se.EventReason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silver.EmployeeEvent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se;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22096126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4E474-98E8-6D9A-DC35-33CB8A904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6366-156D-1594-6F57-532480DD5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FactAbsence</a:t>
            </a:r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gold.FactAbsence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AbsenceKey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StartDateKey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EndDateKey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DaysAbsent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AbsenceType</a:t>
            </a:r>
            <a:endParaRPr lang="en-US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sa.AbsenceKey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sa.EmployeeKey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CONVERT(INT, FORMAT(sa.StartDate,'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yyyyMMdd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')) AS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StartDateKey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CONVERT(INT, FORMAT(sa.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,'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yyyyMMdd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'))   AS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EndDateKey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sa.DaysAbsent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sa.AbsenceType</a:t>
            </a:r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silver.Absence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sa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300"/>
          </a:p>
        </p:txBody>
      </p:sp>
    </p:spTree>
    <p:extLst>
      <p:ext uri="{BB962C8B-B14F-4D97-AF65-F5344CB8AC3E}">
        <p14:creationId xmlns:p14="http://schemas.microsoft.com/office/powerpoint/2010/main" val="54850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252BE-C3E6-23EB-964D-5A25FDB60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B4849-29A4-5675-D043-FC0594C8B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123" y="973394"/>
            <a:ext cx="6378677" cy="5203569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FactEmployeeSnapshot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Generate snapshots per month between hire date and termination date (or current date)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DECLARE @MaxSnapshotDate DATE = (SELECT MAX([Date]) FROM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;WITH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EmployeeDates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e.EmployeeKey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e.DepartmentKey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e.RoleKey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e.LocationKey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e.EmploymentTypeKey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e.ManagerKey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e.HireDate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--FIX: include this column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ISNULL(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e.TerminationDate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@MaxSnapshotDate)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EndDate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silver.Employee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Numbers AS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TOP (240) ROW_NUMBER() OVER (ORDER BY (SELECT NULL)) - 1 AS 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sys.all_objects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gold.FactEmployeeSnapshot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DepartmentKey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RoleKey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LocationKey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EmploymentTypeKey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ManagerKey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TenureMonths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ActiveFlag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TerminatedFlag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18501613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4A260-B298-DE54-B25E-E099AE7EB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1" y="511293"/>
            <a:ext cx="344048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7DCE-092F-3D2D-5C00-522B4D74B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090" y="884903"/>
            <a:ext cx="6083710" cy="5292060"/>
          </a:xfrm>
        </p:spPr>
        <p:txBody>
          <a:bodyPr>
            <a:normAutofit/>
          </a:bodyPr>
          <a:lstStyle/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ed.EmployeeKey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ed.DepartmentKey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ed.RoleKey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ed.LocationKey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ed.EmploymentTypeKey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ed.ManagerKey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CONVERT(INT, FORMAT(EOMONTH(DATEADD(MONTH, n,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ed.HireDate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)),'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yyyyMMdd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')) AS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DateKey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DATEDIFF(MONTH,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ed.HireDate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 DATEADD(MONTH, n,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ed.HireDate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)) AS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TenureMonths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DATEADD(MONTH, n,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ed.HireDate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 &lt;=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ed.EndDate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THEN 1 ELSE 0 END AS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ActiveFlag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--CASE WHEN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ed.TerminationDate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IS NOT NULL AND DATEADD(MONTH, n,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ed.HireDate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 &gt;=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ed.TerminationDate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THEN 1 ELSE 0 END AS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TerminatedFlag</a:t>
            </a:r>
            <a:endParaRPr lang="en-US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WHEN DATEADD(MONTH, n,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ed.HireDate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 &gt;=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ed.EndDate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THEN 1 ELSE 0 END AS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TerminatedFlag</a:t>
            </a:r>
            <a:endParaRPr lang="en-US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EmployeeDates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ed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CROSS JOIN Numbers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WHERE DATEADD(MONTH, n,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ed.HireDate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) &lt;=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ed.EndDate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22095199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DFA5-688D-D37B-35D5-4F1ADBA1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0" lang="en-AU" sz="1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Golden Layer </a:t>
            </a:r>
            <a:br>
              <a:rPr kumimoji="0" lang="en-AU" sz="1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AU" sz="1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DQL: Validating tables for DimEmployeeCount, FactSnapshotRows, FactEventRows, FactAbsenceRows, DimDateCount,DimDepartmentCount, DimRoleCount, DimRoleCount, DimLocationCount, DimEmploymentTypeCount</a:t>
            </a:r>
            <a:endParaRPr lang="en-AU" sz="19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8127F-4BD4-71B3-9699-3E0ACACE2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-- Validation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DimEmployeeCount FROM gold.DimEmployee;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FactSnapshotRows FROM gold.FactEmployeeSnapshot;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FactEventRows FROM gold.FactEmployeeEvents;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FactAbsenceRows FROM gold.FactAbsence;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DimDateCount FROM gold.DimDate;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DimDepartmentCount FROM gold.DimDepartment;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DimRoleCount FROM gold.DimRole;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DimLocationCount FROM gold.DimLocation;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SELECT COUNT(*) AS DimEmploymentTypeCount FROM gold.DimEmploymentType;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BA599D-2803-5AE1-6A1D-8A0F0EA77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536" y="473654"/>
            <a:ext cx="2585707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693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1BCD-D9F1-E1EF-6DED-C34DC920E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845574"/>
            <a:ext cx="5867767" cy="5331389"/>
          </a:xfrm>
        </p:spPr>
        <p:txBody>
          <a:bodyPr>
            <a:normAutofit/>
          </a:bodyPr>
          <a:lstStyle/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-- Now save these tables as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csvs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for use in Power BI and other tools that will connect to the gold layer without direct SQL access.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-- You can use SQL Server Management Studio's export feature or write queries to output the data in CSV format.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gold.DimEmployee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gold.FactEmployeeSnapshot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gold.FactEmployeeEvents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gold.FactAbsence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gold.DimDate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gold.DimDepartment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gold.DimRole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gold.DimLocation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gold.DimEmploymentType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21647-0DC8-1193-1CF6-C9F458B8B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9" r="20631" b="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31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477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7727</Words>
  <Application>Microsoft Office PowerPoint</Application>
  <PresentationFormat>Widescreen</PresentationFormat>
  <Paragraphs>963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Cascadia Mono</vt:lpstr>
      <vt:lpstr>Office Theme</vt:lpstr>
      <vt:lpstr>Employee Retention SQL Group Project (Medallion Architecture)</vt:lpstr>
      <vt:lpstr>Requirements </vt:lpstr>
      <vt:lpstr>Content </vt:lpstr>
      <vt:lpstr>Setup Database and Schemas Part 1 </vt:lpstr>
      <vt:lpstr>Setup Database and Schemas Part 2</vt:lpstr>
      <vt:lpstr>Bronze Layer Part 1</vt:lpstr>
      <vt:lpstr>Bronze Layer Part 2</vt:lpstr>
      <vt:lpstr>Bronze Layer DDL: Creating tables for Department, Role, Location, EmploymentType, Employee, EmployeeEvent, Absence, DataQualityLog </vt:lpstr>
      <vt:lpstr>PowerPoint Presentation</vt:lpstr>
      <vt:lpstr>PowerPoint Presentation</vt:lpstr>
      <vt:lpstr>PowerPoint Presentation</vt:lpstr>
      <vt:lpstr>PowerPoint Presentation</vt:lpstr>
      <vt:lpstr>Bronze Layer (DDL): Validation Check</vt:lpstr>
      <vt:lpstr>Bronze Layer DML: Inserting tables for Department, Role, Location, EmploymentType, Employee, EmployeeEvent, Absence, DataQualityLog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Bronze Layer (DML): Validation Check</vt:lpstr>
      <vt:lpstr>Silver Layer DDL: Creating tables for Department, Role, Location, EmploymentType, Employee, EmployeeEvent, Absence, DataQualityLog </vt:lpstr>
      <vt:lpstr>PowerPoint Presentation</vt:lpstr>
      <vt:lpstr>PowerPoint Presentation</vt:lpstr>
      <vt:lpstr>PowerPoint Presentation</vt:lpstr>
      <vt:lpstr>Silver Layer DML: Inserting tables for Department, Role, Location, EmploymentType, Employee, EmployeeEvent, Absence, DataQualityLog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Silver Layer (DML): Validation Checks</vt:lpstr>
      <vt:lpstr>Golden Layer  DDL: Inserting tables for DimDate, DimRole, DimLocation, DimEmploymentType, DimEmployee, FactEmployeeEvent, FactAbsence, DataQualityLog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Golden Layer  DML: Inserting tables for DimDate, DimRole, DimLocation, DimEmploymentType, DimEmployee, FactEmployeeEvent, FactAbsence, DataQualityLog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Golden Layer  DQL: Validating tables for DimEmployeeCount, FactSnapshotRows, FactEventRows, FactAbsenceRows, DimDateCount,DimDepartmentCount, DimRoleCount, DimRoleCount, DimLocationCount, DimEmploymentTypeCount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31</cp:revision>
  <dcterms:created xsi:type="dcterms:W3CDTF">2026-03-19T18:19:15Z</dcterms:created>
  <dcterms:modified xsi:type="dcterms:W3CDTF">2026-03-19T23:00:44Z</dcterms:modified>
</cp:coreProperties>
</file>