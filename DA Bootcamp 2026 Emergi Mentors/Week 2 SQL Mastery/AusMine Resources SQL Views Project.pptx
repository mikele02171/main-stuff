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hyperlink" Target="https://github.com/Mikele02171/Main-Stuff/tree/main/DA%20Bootcamp%202026%20Emergi%20Mentors/Week%202%20SQL%20Mastery/Module%204%20Advanced%20SQL%20and%20Enterprise%20Analytics/AusMine_Resources_Mining_Operations_Analytics" TargetMode="External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hyperlink" Target="https://github.com/Mikele02171/Main-Stuff/tree/main/DA%20Bootcamp%202026%20Emergi%20Mentors/Week%202%20SQL%20Mastery/Module%204%20Advanced%20SQL%20and%20Enterprise%20Analytics/AusMine_Resources_Mining_Operations_Analytics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EADC8-57D0-42AB-9186-7EC204963A9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3C33F76-3D70-4B11-80F0-84B084E1D71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AU" sz="1200" dirty="0"/>
            <a:t>Install and Download SQL Server Express (2022,or 2025 (much preferred)) from Microsoft</a:t>
          </a:r>
          <a:endParaRPr lang="en-US" sz="1200" dirty="0"/>
        </a:p>
      </dgm:t>
    </dgm:pt>
    <dgm:pt modelId="{839A3900-C8D4-43B0-BB2E-7F6DDBEBCE51}" type="parTrans" cxnId="{AC39D355-2FAB-4206-87B3-094B888393A8}">
      <dgm:prSet/>
      <dgm:spPr/>
      <dgm:t>
        <a:bodyPr/>
        <a:lstStyle/>
        <a:p>
          <a:endParaRPr lang="en-US"/>
        </a:p>
      </dgm:t>
    </dgm:pt>
    <dgm:pt modelId="{C4062C67-7DA8-4541-82B0-22989C32C653}" type="sibTrans" cxnId="{AC39D355-2FAB-4206-87B3-094B888393A8}">
      <dgm:prSet/>
      <dgm:spPr/>
      <dgm:t>
        <a:bodyPr/>
        <a:lstStyle/>
        <a:p>
          <a:endParaRPr lang="en-US"/>
        </a:p>
      </dgm:t>
    </dgm:pt>
    <dgm:pt modelId="{34F193AB-67D7-4756-9D40-78E054E96E52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b="1" dirty="0">
              <a:solidFill>
                <a:schemeClr val="tx1"/>
              </a:solidFill>
            </a:rPr>
            <a:t>Files and sources from my repository: </a:t>
          </a:r>
          <a:endParaRPr lang="en-US" b="1" dirty="0">
            <a:solidFill>
              <a:schemeClr val="tx1"/>
            </a:solidFill>
          </a:endParaRPr>
        </a:p>
      </dgm:t>
    </dgm:pt>
    <dgm:pt modelId="{C3A83794-7937-4FAF-B048-8CFA05527798}" type="parTrans" cxnId="{BB4912AE-61CB-45F9-9D0B-58D570550D59}">
      <dgm:prSet/>
      <dgm:spPr/>
      <dgm:t>
        <a:bodyPr/>
        <a:lstStyle/>
        <a:p>
          <a:endParaRPr lang="en-US"/>
        </a:p>
      </dgm:t>
    </dgm:pt>
    <dgm:pt modelId="{EED8082F-719D-4844-AD66-AD823CF67E89}" type="sibTrans" cxnId="{BB4912AE-61CB-45F9-9D0B-58D570550D59}">
      <dgm:prSet/>
      <dgm:spPr/>
      <dgm:t>
        <a:bodyPr/>
        <a:lstStyle/>
        <a:p>
          <a:endParaRPr lang="en-US"/>
        </a:p>
      </dgm:t>
    </dgm:pt>
    <dgm:pt modelId="{26AEFD03-D657-4F3C-8BB9-5541B90D4C9A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dirty="0">
              <a:hlinkClick xmlns:r="http://schemas.openxmlformats.org/officeDocument/2006/relationships" r:id="rId1"/>
            </a:rPr>
            <a:t>Main-Stuff/DA Bootcamp 2026 </a:t>
          </a:r>
          <a:r>
            <a:rPr lang="en-AU" dirty="0" err="1">
              <a:hlinkClick xmlns:r="http://schemas.openxmlformats.org/officeDocument/2006/relationships" r:id="rId1"/>
            </a:rPr>
            <a:t>Emergi</a:t>
          </a:r>
          <a:r>
            <a:rPr lang="en-AU" dirty="0">
              <a:hlinkClick xmlns:r="http://schemas.openxmlformats.org/officeDocument/2006/relationships" r:id="rId1"/>
            </a:rPr>
            <a:t> Mentors/Week 2 SQL Mastery/Module 4 Advanced SQL and Enterprise Analytics/</a:t>
          </a:r>
          <a:r>
            <a:rPr lang="en-AU" dirty="0" err="1">
              <a:hlinkClick xmlns:r="http://schemas.openxmlformats.org/officeDocument/2006/relationships" r:id="rId1"/>
            </a:rPr>
            <a:t>AusMine_Resources_Mining_Operations_Analytics</a:t>
          </a:r>
          <a:r>
            <a:rPr lang="en-AU" dirty="0">
              <a:hlinkClick xmlns:r="http://schemas.openxmlformats.org/officeDocument/2006/relationships" r:id="rId1"/>
            </a:rPr>
            <a:t> at main · Mikele02171/Main-Stuff</a:t>
          </a:r>
          <a:endParaRPr lang="en-US" dirty="0">
            <a:solidFill>
              <a:schemeClr val="tx1"/>
            </a:solidFill>
          </a:endParaRPr>
        </a:p>
      </dgm:t>
    </dgm:pt>
    <dgm:pt modelId="{F1E8CA12-9666-477A-B62C-8659BD03BDBC}" type="parTrans" cxnId="{3AB66282-8B89-4FBA-99BF-F5CF6F28EAE1}">
      <dgm:prSet/>
      <dgm:spPr/>
      <dgm:t>
        <a:bodyPr/>
        <a:lstStyle/>
        <a:p>
          <a:endParaRPr lang="en-US"/>
        </a:p>
      </dgm:t>
    </dgm:pt>
    <dgm:pt modelId="{8AD2409D-B376-4978-B40B-4CF167CBDD6E}" type="sibTrans" cxnId="{3AB66282-8B89-4FBA-99BF-F5CF6F28EAE1}">
      <dgm:prSet/>
      <dgm:spPr/>
      <dgm:t>
        <a:bodyPr/>
        <a:lstStyle/>
        <a:p>
          <a:endParaRPr lang="en-US"/>
        </a:p>
      </dgm:t>
    </dgm:pt>
    <dgm:pt modelId="{AAC4A40C-362E-4E72-A993-A059AA1EDD31}" type="pres">
      <dgm:prSet presAssocID="{575EADC8-57D0-42AB-9186-7EC204963A93}" presName="root" presStyleCnt="0">
        <dgm:presLayoutVars>
          <dgm:dir/>
          <dgm:resizeHandles val="exact"/>
        </dgm:presLayoutVars>
      </dgm:prSet>
      <dgm:spPr/>
    </dgm:pt>
    <dgm:pt modelId="{B4D5E328-5B52-4ABC-8892-A52C8F1AF75A}" type="pres">
      <dgm:prSet presAssocID="{43C33F76-3D70-4B11-80F0-84B084E1D71A}" presName="compNode" presStyleCnt="0"/>
      <dgm:spPr/>
    </dgm:pt>
    <dgm:pt modelId="{87596383-4D59-43A0-92D3-987C569AA954}" type="pres">
      <dgm:prSet presAssocID="{43C33F76-3D70-4B11-80F0-84B084E1D71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7D0FCC5B-185C-4BCC-80EC-612CFEC186D5}" type="pres">
      <dgm:prSet presAssocID="{43C33F76-3D70-4B11-80F0-84B084E1D71A}" presName="spaceRect" presStyleCnt="0"/>
      <dgm:spPr/>
    </dgm:pt>
    <dgm:pt modelId="{84DFB61A-4F72-4364-B3B3-583C6D92CDFC}" type="pres">
      <dgm:prSet presAssocID="{43C33F76-3D70-4B11-80F0-84B084E1D71A}" presName="textRect" presStyleLbl="revTx" presStyleIdx="0" presStyleCnt="3">
        <dgm:presLayoutVars>
          <dgm:chMax val="1"/>
          <dgm:chPref val="1"/>
        </dgm:presLayoutVars>
      </dgm:prSet>
      <dgm:spPr/>
    </dgm:pt>
    <dgm:pt modelId="{59E9F9DD-BFB2-43DC-9853-0F87EA4BA5C6}" type="pres">
      <dgm:prSet presAssocID="{C4062C67-7DA8-4541-82B0-22989C32C653}" presName="sibTrans" presStyleCnt="0"/>
      <dgm:spPr/>
    </dgm:pt>
    <dgm:pt modelId="{7097866B-E68E-45A9-A65D-AEEAF165D75E}" type="pres">
      <dgm:prSet presAssocID="{34F193AB-67D7-4756-9D40-78E054E96E52}" presName="compNode" presStyleCnt="0"/>
      <dgm:spPr/>
    </dgm:pt>
    <dgm:pt modelId="{76D98688-242E-4601-92F7-014494BED513}" type="pres">
      <dgm:prSet presAssocID="{34F193AB-67D7-4756-9D40-78E054E96E5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4E9EF951-DA63-4BA4-B97E-B8009527DE25}" type="pres">
      <dgm:prSet presAssocID="{34F193AB-67D7-4756-9D40-78E054E96E52}" presName="spaceRect" presStyleCnt="0"/>
      <dgm:spPr/>
    </dgm:pt>
    <dgm:pt modelId="{052CAD20-4F30-4FD5-8282-32F820B38E6A}" type="pres">
      <dgm:prSet presAssocID="{34F193AB-67D7-4756-9D40-78E054E96E52}" presName="textRect" presStyleLbl="revTx" presStyleIdx="1" presStyleCnt="3">
        <dgm:presLayoutVars>
          <dgm:chMax val="1"/>
          <dgm:chPref val="1"/>
        </dgm:presLayoutVars>
      </dgm:prSet>
      <dgm:spPr/>
    </dgm:pt>
    <dgm:pt modelId="{7D3534FE-8BFE-4B79-9DD0-F46710AFAC7F}" type="pres">
      <dgm:prSet presAssocID="{EED8082F-719D-4844-AD66-AD823CF67E89}" presName="sibTrans" presStyleCnt="0"/>
      <dgm:spPr/>
    </dgm:pt>
    <dgm:pt modelId="{285DA802-079C-4257-9DD8-4433516C6FB2}" type="pres">
      <dgm:prSet presAssocID="{26AEFD03-D657-4F3C-8BB9-5541B90D4C9A}" presName="compNode" presStyleCnt="0"/>
      <dgm:spPr/>
    </dgm:pt>
    <dgm:pt modelId="{91FC0951-73EA-4668-B2BE-91930015E203}" type="pres">
      <dgm:prSet presAssocID="{26AEFD03-D657-4F3C-8BB9-5541B90D4C9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796D212-B9F3-45B1-B907-59C7CD80DC57}" type="pres">
      <dgm:prSet presAssocID="{26AEFD03-D657-4F3C-8BB9-5541B90D4C9A}" presName="spaceRect" presStyleCnt="0"/>
      <dgm:spPr/>
    </dgm:pt>
    <dgm:pt modelId="{E905FAB9-80AA-4185-8D1A-98CE80BAFBFD}" type="pres">
      <dgm:prSet presAssocID="{26AEFD03-D657-4F3C-8BB9-5541B90D4C9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7221C1F-D6B2-4E15-8709-7074467265CE}" type="presOf" srcId="{26AEFD03-D657-4F3C-8BB9-5541B90D4C9A}" destId="{E905FAB9-80AA-4185-8D1A-98CE80BAFBFD}" srcOrd="0" destOrd="0" presId="urn:microsoft.com/office/officeart/2018/2/layout/IconLabelList"/>
    <dgm:cxn modelId="{A130652C-3A1D-4071-B234-E4B159C183CD}" type="presOf" srcId="{575EADC8-57D0-42AB-9186-7EC204963A93}" destId="{AAC4A40C-362E-4E72-A993-A059AA1EDD31}" srcOrd="0" destOrd="0" presId="urn:microsoft.com/office/officeart/2018/2/layout/IconLabelList"/>
    <dgm:cxn modelId="{A39BE636-54F2-4329-A3E5-DE8324576181}" type="presOf" srcId="{43C33F76-3D70-4B11-80F0-84B084E1D71A}" destId="{84DFB61A-4F72-4364-B3B3-583C6D92CDFC}" srcOrd="0" destOrd="0" presId="urn:microsoft.com/office/officeart/2018/2/layout/IconLabelList"/>
    <dgm:cxn modelId="{AC39D355-2FAB-4206-87B3-094B888393A8}" srcId="{575EADC8-57D0-42AB-9186-7EC204963A93}" destId="{43C33F76-3D70-4B11-80F0-84B084E1D71A}" srcOrd="0" destOrd="0" parTransId="{839A3900-C8D4-43B0-BB2E-7F6DDBEBCE51}" sibTransId="{C4062C67-7DA8-4541-82B0-22989C32C653}"/>
    <dgm:cxn modelId="{3AB66282-8B89-4FBA-99BF-F5CF6F28EAE1}" srcId="{575EADC8-57D0-42AB-9186-7EC204963A93}" destId="{26AEFD03-D657-4F3C-8BB9-5541B90D4C9A}" srcOrd="2" destOrd="0" parTransId="{F1E8CA12-9666-477A-B62C-8659BD03BDBC}" sibTransId="{8AD2409D-B376-4978-B40B-4CF167CBDD6E}"/>
    <dgm:cxn modelId="{BB4912AE-61CB-45F9-9D0B-58D570550D59}" srcId="{575EADC8-57D0-42AB-9186-7EC204963A93}" destId="{34F193AB-67D7-4756-9D40-78E054E96E52}" srcOrd="1" destOrd="0" parTransId="{C3A83794-7937-4FAF-B048-8CFA05527798}" sibTransId="{EED8082F-719D-4844-AD66-AD823CF67E89}"/>
    <dgm:cxn modelId="{09C610D6-0F49-4AB1-9DDE-83709F3974CF}" type="presOf" srcId="{34F193AB-67D7-4756-9D40-78E054E96E52}" destId="{052CAD20-4F30-4FD5-8282-32F820B38E6A}" srcOrd="0" destOrd="0" presId="urn:microsoft.com/office/officeart/2018/2/layout/IconLabelList"/>
    <dgm:cxn modelId="{39C0E52A-2771-40F6-9C04-CBD1ACC5BC24}" type="presParOf" srcId="{AAC4A40C-362E-4E72-A993-A059AA1EDD31}" destId="{B4D5E328-5B52-4ABC-8892-A52C8F1AF75A}" srcOrd="0" destOrd="0" presId="urn:microsoft.com/office/officeart/2018/2/layout/IconLabelList"/>
    <dgm:cxn modelId="{F79D7638-7ED3-4BCF-9F58-5B9D5BB273AE}" type="presParOf" srcId="{B4D5E328-5B52-4ABC-8892-A52C8F1AF75A}" destId="{87596383-4D59-43A0-92D3-987C569AA954}" srcOrd="0" destOrd="0" presId="urn:microsoft.com/office/officeart/2018/2/layout/IconLabelList"/>
    <dgm:cxn modelId="{3FF77B18-18A7-4EDE-9903-75641D50EF47}" type="presParOf" srcId="{B4D5E328-5B52-4ABC-8892-A52C8F1AF75A}" destId="{7D0FCC5B-185C-4BCC-80EC-612CFEC186D5}" srcOrd="1" destOrd="0" presId="urn:microsoft.com/office/officeart/2018/2/layout/IconLabelList"/>
    <dgm:cxn modelId="{42D9F4E8-AC6F-4900-A534-E5520DB33CDD}" type="presParOf" srcId="{B4D5E328-5B52-4ABC-8892-A52C8F1AF75A}" destId="{84DFB61A-4F72-4364-B3B3-583C6D92CDFC}" srcOrd="2" destOrd="0" presId="urn:microsoft.com/office/officeart/2018/2/layout/IconLabelList"/>
    <dgm:cxn modelId="{B5103F05-2081-4552-8F78-24F394F7E956}" type="presParOf" srcId="{AAC4A40C-362E-4E72-A993-A059AA1EDD31}" destId="{59E9F9DD-BFB2-43DC-9853-0F87EA4BA5C6}" srcOrd="1" destOrd="0" presId="urn:microsoft.com/office/officeart/2018/2/layout/IconLabelList"/>
    <dgm:cxn modelId="{1EEE698F-A0FF-4EAE-944F-49FE00F5AEEF}" type="presParOf" srcId="{AAC4A40C-362E-4E72-A993-A059AA1EDD31}" destId="{7097866B-E68E-45A9-A65D-AEEAF165D75E}" srcOrd="2" destOrd="0" presId="urn:microsoft.com/office/officeart/2018/2/layout/IconLabelList"/>
    <dgm:cxn modelId="{9F1F574D-E383-48AF-A6FF-C40AD56A3478}" type="presParOf" srcId="{7097866B-E68E-45A9-A65D-AEEAF165D75E}" destId="{76D98688-242E-4601-92F7-014494BED513}" srcOrd="0" destOrd="0" presId="urn:microsoft.com/office/officeart/2018/2/layout/IconLabelList"/>
    <dgm:cxn modelId="{CE68AA40-973E-48A2-A0D8-E71C079E27B6}" type="presParOf" srcId="{7097866B-E68E-45A9-A65D-AEEAF165D75E}" destId="{4E9EF951-DA63-4BA4-B97E-B8009527DE25}" srcOrd="1" destOrd="0" presId="urn:microsoft.com/office/officeart/2018/2/layout/IconLabelList"/>
    <dgm:cxn modelId="{61DF6713-D727-4862-808C-6BA996D932C8}" type="presParOf" srcId="{7097866B-E68E-45A9-A65D-AEEAF165D75E}" destId="{052CAD20-4F30-4FD5-8282-32F820B38E6A}" srcOrd="2" destOrd="0" presId="urn:microsoft.com/office/officeart/2018/2/layout/IconLabelList"/>
    <dgm:cxn modelId="{F0F9FFDA-6C01-4020-B527-31B4DECE2939}" type="presParOf" srcId="{AAC4A40C-362E-4E72-A993-A059AA1EDD31}" destId="{7D3534FE-8BFE-4B79-9DD0-F46710AFAC7F}" srcOrd="3" destOrd="0" presId="urn:microsoft.com/office/officeart/2018/2/layout/IconLabelList"/>
    <dgm:cxn modelId="{2A5AD0F0-6B40-49C6-AFC6-096795D9FB65}" type="presParOf" srcId="{AAC4A40C-362E-4E72-A993-A059AA1EDD31}" destId="{285DA802-079C-4257-9DD8-4433516C6FB2}" srcOrd="4" destOrd="0" presId="urn:microsoft.com/office/officeart/2018/2/layout/IconLabelList"/>
    <dgm:cxn modelId="{18CFC281-7DD4-4567-8496-1F9D20138969}" type="presParOf" srcId="{285DA802-079C-4257-9DD8-4433516C6FB2}" destId="{91FC0951-73EA-4668-B2BE-91930015E203}" srcOrd="0" destOrd="0" presId="urn:microsoft.com/office/officeart/2018/2/layout/IconLabelList"/>
    <dgm:cxn modelId="{F147CA45-7A5A-4046-A31E-1D45E1F58570}" type="presParOf" srcId="{285DA802-079C-4257-9DD8-4433516C6FB2}" destId="{6796D212-B9F3-45B1-B907-59C7CD80DC57}" srcOrd="1" destOrd="0" presId="urn:microsoft.com/office/officeart/2018/2/layout/IconLabelList"/>
    <dgm:cxn modelId="{76623304-9043-491E-B8C7-E09C0F65E04F}" type="presParOf" srcId="{285DA802-079C-4257-9DD8-4433516C6FB2}" destId="{E905FAB9-80AA-4185-8D1A-98CE80BAFBF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B5D6ED-5DC2-4FB3-AF6F-FA1B2FF10ADE}" type="doc">
      <dgm:prSet loTypeId="urn:microsoft.com/office/officeart/2005/8/layout/default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124BCA3-8FD0-45E6-A2ED-3565854C5BA7}">
      <dgm:prSet/>
      <dgm:spPr/>
      <dgm:t>
        <a:bodyPr/>
        <a:lstStyle/>
        <a:p>
          <a:r>
            <a:rPr lang="en-AU"/>
            <a:t>Create database for AusMine Resources</a:t>
          </a:r>
          <a:endParaRPr lang="en-US"/>
        </a:p>
      </dgm:t>
    </dgm:pt>
    <dgm:pt modelId="{FFD0E621-4981-47F7-8CC8-A1481D831321}" type="parTrans" cxnId="{7BC3449E-4C47-4112-8384-D535BFB1FB51}">
      <dgm:prSet/>
      <dgm:spPr/>
      <dgm:t>
        <a:bodyPr/>
        <a:lstStyle/>
        <a:p>
          <a:endParaRPr lang="en-US"/>
        </a:p>
      </dgm:t>
    </dgm:pt>
    <dgm:pt modelId="{11116DD9-4069-4ABD-BE60-7F8F3AACA2ED}" type="sibTrans" cxnId="{7BC3449E-4C47-4112-8384-D535BFB1FB51}">
      <dgm:prSet/>
      <dgm:spPr/>
      <dgm:t>
        <a:bodyPr/>
        <a:lstStyle/>
        <a:p>
          <a:endParaRPr lang="en-US"/>
        </a:p>
      </dgm:t>
    </dgm:pt>
    <dgm:pt modelId="{9FD7FA96-CA9E-4A78-8AA5-DA2CC8B3D4FF}">
      <dgm:prSet/>
      <dgm:spPr/>
      <dgm:t>
        <a:bodyPr/>
        <a:lstStyle/>
        <a:p>
          <a:r>
            <a:rPr lang="en-AU" dirty="0"/>
            <a:t>DDL: Create tables for sites, employees</a:t>
          </a:r>
          <a:endParaRPr lang="en-US" dirty="0"/>
        </a:p>
      </dgm:t>
    </dgm:pt>
    <dgm:pt modelId="{CA6E8A6B-74C3-4E16-A141-14D6686C4BC3}" type="parTrans" cxnId="{CC5C460E-BD66-493F-86D3-3851446E9352}">
      <dgm:prSet/>
      <dgm:spPr/>
      <dgm:t>
        <a:bodyPr/>
        <a:lstStyle/>
        <a:p>
          <a:endParaRPr lang="en-US"/>
        </a:p>
      </dgm:t>
    </dgm:pt>
    <dgm:pt modelId="{9BE9DC42-2C1D-4FB3-BC5C-E84E8C0659D1}" type="sibTrans" cxnId="{CC5C460E-BD66-493F-86D3-3851446E9352}">
      <dgm:prSet/>
      <dgm:spPr/>
      <dgm:t>
        <a:bodyPr/>
        <a:lstStyle/>
        <a:p>
          <a:endParaRPr lang="en-US"/>
        </a:p>
      </dgm:t>
    </dgm:pt>
    <dgm:pt modelId="{6770D6F5-CC85-45C9-8861-251254E3F6DA}">
      <dgm:prSet/>
      <dgm:spPr/>
      <dgm:t>
        <a:bodyPr/>
        <a:lstStyle/>
        <a:p>
          <a:r>
            <a:rPr lang="en-AU" dirty="0"/>
            <a:t>DDL: Create tables for equipment, production</a:t>
          </a:r>
          <a:endParaRPr lang="en-US" dirty="0"/>
        </a:p>
      </dgm:t>
    </dgm:pt>
    <dgm:pt modelId="{93FE194B-11A6-42BF-B659-95658FBD8A3E}" type="parTrans" cxnId="{F081553D-EB83-4457-B519-CD453E6162F7}">
      <dgm:prSet/>
      <dgm:spPr/>
      <dgm:t>
        <a:bodyPr/>
        <a:lstStyle/>
        <a:p>
          <a:endParaRPr lang="en-US"/>
        </a:p>
      </dgm:t>
    </dgm:pt>
    <dgm:pt modelId="{3E147852-3D5C-4092-9171-6FBBE3556796}" type="sibTrans" cxnId="{F081553D-EB83-4457-B519-CD453E6162F7}">
      <dgm:prSet/>
      <dgm:spPr/>
      <dgm:t>
        <a:bodyPr/>
        <a:lstStyle/>
        <a:p>
          <a:endParaRPr lang="en-US"/>
        </a:p>
      </dgm:t>
    </dgm:pt>
    <dgm:pt modelId="{5FA0DC45-6DA8-44BC-899B-794DACD91C95}">
      <dgm:prSet/>
      <dgm:spPr/>
      <dgm:t>
        <a:bodyPr/>
        <a:lstStyle/>
        <a:p>
          <a:r>
            <a:rPr lang="en-AU" dirty="0"/>
            <a:t>DDL: Create safety incidents, Operations costs </a:t>
          </a:r>
          <a:endParaRPr lang="en-US" dirty="0"/>
        </a:p>
      </dgm:t>
    </dgm:pt>
    <dgm:pt modelId="{061C3D6F-AB02-4E96-B709-0A5BF5D7D720}" type="parTrans" cxnId="{0E23DDC0-4C1D-4C24-BA97-57D6119C40CC}">
      <dgm:prSet/>
      <dgm:spPr/>
      <dgm:t>
        <a:bodyPr/>
        <a:lstStyle/>
        <a:p>
          <a:endParaRPr lang="en-US"/>
        </a:p>
      </dgm:t>
    </dgm:pt>
    <dgm:pt modelId="{2EC01D6A-3EF8-4DFC-8377-638E30E25E96}" type="sibTrans" cxnId="{0E23DDC0-4C1D-4C24-BA97-57D6119C40CC}">
      <dgm:prSet/>
      <dgm:spPr/>
      <dgm:t>
        <a:bodyPr/>
        <a:lstStyle/>
        <a:p>
          <a:endParaRPr lang="en-US"/>
        </a:p>
      </dgm:t>
    </dgm:pt>
    <dgm:pt modelId="{4A906F04-4EA5-4442-9484-2CC21A92122C}">
      <dgm:prSet/>
      <dgm:spPr/>
      <dgm:t>
        <a:bodyPr/>
        <a:lstStyle/>
        <a:p>
          <a:r>
            <a:rPr lang="en-AU" dirty="0"/>
            <a:t>DDL: Create indexes for performance </a:t>
          </a:r>
          <a:endParaRPr lang="en-US" dirty="0"/>
        </a:p>
      </dgm:t>
    </dgm:pt>
    <dgm:pt modelId="{7DC39CDF-3C55-4CEE-A922-6B7AAA289147}" type="parTrans" cxnId="{9093ACE2-57D6-4322-8285-01598C24BB5D}">
      <dgm:prSet/>
      <dgm:spPr/>
      <dgm:t>
        <a:bodyPr/>
        <a:lstStyle/>
        <a:p>
          <a:endParaRPr lang="en-US"/>
        </a:p>
      </dgm:t>
    </dgm:pt>
    <dgm:pt modelId="{60726315-8CE4-4B35-8066-C5B903F46B9B}" type="sibTrans" cxnId="{9093ACE2-57D6-4322-8285-01598C24BB5D}">
      <dgm:prSet/>
      <dgm:spPr/>
      <dgm:t>
        <a:bodyPr/>
        <a:lstStyle/>
        <a:p>
          <a:endParaRPr lang="en-US"/>
        </a:p>
      </dgm:t>
    </dgm:pt>
    <dgm:pt modelId="{CCC95022-E833-4A23-8364-5FB9BC8218FB}">
      <dgm:prSet/>
      <dgm:spPr/>
      <dgm:t>
        <a:bodyPr/>
        <a:lstStyle/>
        <a:p>
          <a:r>
            <a:rPr lang="en-AU" dirty="0"/>
            <a:t>DML: Inserting values into sites, Employees, Equipment, Production, Safety Incidents, Operations costs </a:t>
          </a:r>
          <a:endParaRPr lang="en-US" dirty="0"/>
        </a:p>
      </dgm:t>
    </dgm:pt>
    <dgm:pt modelId="{EB023853-20F3-41B4-A245-8070D8344872}" type="parTrans" cxnId="{FED9B583-D17B-41FC-8F4B-34AFBFF88A1C}">
      <dgm:prSet/>
      <dgm:spPr/>
      <dgm:t>
        <a:bodyPr/>
        <a:lstStyle/>
        <a:p>
          <a:endParaRPr lang="en-US"/>
        </a:p>
      </dgm:t>
    </dgm:pt>
    <dgm:pt modelId="{6C1886A7-0A3A-44C3-9B2C-E88DC53E3929}" type="sibTrans" cxnId="{FED9B583-D17B-41FC-8F4B-34AFBFF88A1C}">
      <dgm:prSet/>
      <dgm:spPr/>
      <dgm:t>
        <a:bodyPr/>
        <a:lstStyle/>
        <a:p>
          <a:endParaRPr lang="en-US"/>
        </a:p>
      </dgm:t>
    </dgm:pt>
    <dgm:pt modelId="{2C3246B8-A48E-40BE-87D1-AB9994D5B666}">
      <dgm:prSet/>
      <dgm:spPr/>
      <dgm:t>
        <a:bodyPr/>
        <a:lstStyle/>
        <a:p>
          <a:r>
            <a:rPr lang="en-AU" dirty="0"/>
            <a:t>DQL: Validation Check</a:t>
          </a:r>
          <a:endParaRPr lang="en-US" dirty="0"/>
        </a:p>
      </dgm:t>
    </dgm:pt>
    <dgm:pt modelId="{FA2C4370-B458-4594-A18F-746FBF403315}" type="parTrans" cxnId="{1E6B4A6E-7BD5-44EC-8150-7B7AB5782B5E}">
      <dgm:prSet/>
      <dgm:spPr/>
      <dgm:t>
        <a:bodyPr/>
        <a:lstStyle/>
        <a:p>
          <a:endParaRPr lang="en-US"/>
        </a:p>
      </dgm:t>
    </dgm:pt>
    <dgm:pt modelId="{FBABB26E-40C0-45E5-A9A9-1C7E27238A70}" type="sibTrans" cxnId="{1E6B4A6E-7BD5-44EC-8150-7B7AB5782B5E}">
      <dgm:prSet/>
      <dgm:spPr/>
      <dgm:t>
        <a:bodyPr/>
        <a:lstStyle/>
        <a:p>
          <a:endParaRPr lang="en-US"/>
        </a:p>
      </dgm:t>
    </dgm:pt>
    <dgm:pt modelId="{82BE1774-6E31-4722-B6FC-676C8E0B7217}">
      <dgm:prSet/>
      <dgm:spPr/>
      <dgm:t>
        <a:bodyPr/>
        <a:lstStyle/>
        <a:p>
          <a:r>
            <a:rPr lang="en-AU" dirty="0"/>
            <a:t>DQL: Site Performance </a:t>
          </a:r>
          <a:endParaRPr lang="en-US" dirty="0"/>
        </a:p>
      </dgm:t>
    </dgm:pt>
    <dgm:pt modelId="{AB9F9508-E3CB-439B-996A-4757EAFE9AD3}" type="parTrans" cxnId="{F3124C97-2C81-4890-BC3C-23E5CC8AB2B2}">
      <dgm:prSet/>
      <dgm:spPr/>
      <dgm:t>
        <a:bodyPr/>
        <a:lstStyle/>
        <a:p>
          <a:endParaRPr lang="en-US"/>
        </a:p>
      </dgm:t>
    </dgm:pt>
    <dgm:pt modelId="{5687AF8C-4AE3-4D6C-8D2A-4E1667D743DB}" type="sibTrans" cxnId="{F3124C97-2C81-4890-BC3C-23E5CC8AB2B2}">
      <dgm:prSet/>
      <dgm:spPr/>
      <dgm:t>
        <a:bodyPr/>
        <a:lstStyle/>
        <a:p>
          <a:endParaRPr lang="en-US"/>
        </a:p>
      </dgm:t>
    </dgm:pt>
    <dgm:pt modelId="{40CFC8F9-1626-44A1-9C9E-089321778C35}">
      <dgm:prSet/>
      <dgm:spPr/>
      <dgm:t>
        <a:bodyPr/>
        <a:lstStyle/>
        <a:p>
          <a:r>
            <a:rPr lang="en-AU" dirty="0"/>
            <a:t>DQL: View for Active Sites</a:t>
          </a:r>
          <a:endParaRPr lang="en-US" dirty="0"/>
        </a:p>
      </dgm:t>
    </dgm:pt>
    <dgm:pt modelId="{8C7E2649-0E7A-486D-B74F-CC1C1F824F78}" type="parTrans" cxnId="{F03D9C98-45D7-4958-BF58-7CDE47B5707E}">
      <dgm:prSet/>
      <dgm:spPr/>
      <dgm:t>
        <a:bodyPr/>
        <a:lstStyle/>
        <a:p>
          <a:endParaRPr lang="en-US"/>
        </a:p>
      </dgm:t>
    </dgm:pt>
    <dgm:pt modelId="{74D6526D-4ADD-483E-9C4B-4695A3D9878B}" type="sibTrans" cxnId="{F03D9C98-45D7-4958-BF58-7CDE47B5707E}">
      <dgm:prSet/>
      <dgm:spPr/>
      <dgm:t>
        <a:bodyPr/>
        <a:lstStyle/>
        <a:p>
          <a:endParaRPr lang="en-US"/>
        </a:p>
      </dgm:t>
    </dgm:pt>
    <dgm:pt modelId="{5A2341AD-B20F-4180-A8FB-B6A6C3F1DED4}">
      <dgm:prSet/>
      <dgm:spPr/>
      <dgm:t>
        <a:bodyPr/>
        <a:lstStyle/>
        <a:p>
          <a:r>
            <a:rPr lang="en-AU" dirty="0"/>
            <a:t>DQL: Security View, hiding salary data</a:t>
          </a:r>
          <a:endParaRPr lang="en-US" dirty="0"/>
        </a:p>
      </dgm:t>
    </dgm:pt>
    <dgm:pt modelId="{503C9C8D-B511-4655-AE1F-67F0F7BC47B7}" type="parTrans" cxnId="{4EFD36AB-BEA3-4BA7-89B4-87419841692F}">
      <dgm:prSet/>
      <dgm:spPr/>
      <dgm:t>
        <a:bodyPr/>
        <a:lstStyle/>
        <a:p>
          <a:endParaRPr lang="en-US"/>
        </a:p>
      </dgm:t>
    </dgm:pt>
    <dgm:pt modelId="{BE81D16E-75F4-45A6-B91A-7B4647E3854B}" type="sibTrans" cxnId="{4EFD36AB-BEA3-4BA7-89B4-87419841692F}">
      <dgm:prSet/>
      <dgm:spPr/>
      <dgm:t>
        <a:bodyPr/>
        <a:lstStyle/>
        <a:p>
          <a:endParaRPr lang="en-US"/>
        </a:p>
      </dgm:t>
    </dgm:pt>
    <dgm:pt modelId="{77A25105-EF28-4757-B50A-FB2772C2C845}">
      <dgm:prSet/>
      <dgm:spPr/>
      <dgm:t>
        <a:bodyPr/>
        <a:lstStyle/>
        <a:p>
          <a:r>
            <a:rPr lang="en-AU" dirty="0"/>
            <a:t>DQL: Complex View for </a:t>
          </a:r>
          <a:r>
            <a:rPr lang="en-AU" dirty="0" err="1"/>
            <a:t>SitePerformanceDashboard</a:t>
          </a:r>
          <a:endParaRPr lang="en-US" dirty="0"/>
        </a:p>
      </dgm:t>
    </dgm:pt>
    <dgm:pt modelId="{AB842F15-A68B-4925-850C-D146544FC419}" type="parTrans" cxnId="{44EB91BC-96FA-40D6-81E1-9D4652436E82}">
      <dgm:prSet/>
      <dgm:spPr/>
      <dgm:t>
        <a:bodyPr/>
        <a:lstStyle/>
        <a:p>
          <a:endParaRPr lang="en-US"/>
        </a:p>
      </dgm:t>
    </dgm:pt>
    <dgm:pt modelId="{428434C1-0F02-405E-A494-0EBAEB0B6A06}" type="sibTrans" cxnId="{44EB91BC-96FA-40D6-81E1-9D4652436E82}">
      <dgm:prSet/>
      <dgm:spPr/>
      <dgm:t>
        <a:bodyPr/>
        <a:lstStyle/>
        <a:p>
          <a:endParaRPr lang="en-US"/>
        </a:p>
      </dgm:t>
    </dgm:pt>
    <dgm:pt modelId="{F80B0972-135B-46E5-8683-90DD5786C6D7}">
      <dgm:prSet/>
      <dgm:spPr/>
      <dgm:t>
        <a:bodyPr/>
        <a:lstStyle/>
        <a:p>
          <a:r>
            <a:rPr lang="en-AU" dirty="0"/>
            <a:t>DQL: Parameterized Queries on Views on Production Analysis</a:t>
          </a:r>
          <a:endParaRPr lang="en-US" dirty="0"/>
        </a:p>
      </dgm:t>
    </dgm:pt>
    <dgm:pt modelId="{A704D6C2-EE64-4561-9C4A-A14C9BAA4CD9}" type="parTrans" cxnId="{45364F03-38C0-4D9B-A8CC-6E64EA0631BB}">
      <dgm:prSet/>
      <dgm:spPr/>
      <dgm:t>
        <a:bodyPr/>
        <a:lstStyle/>
        <a:p>
          <a:endParaRPr lang="en-US"/>
        </a:p>
      </dgm:t>
    </dgm:pt>
    <dgm:pt modelId="{E13BA930-BE1E-4048-8C17-075733840540}" type="sibTrans" cxnId="{45364F03-38C0-4D9B-A8CC-6E64EA0631BB}">
      <dgm:prSet/>
      <dgm:spPr/>
      <dgm:t>
        <a:bodyPr/>
        <a:lstStyle/>
        <a:p>
          <a:endParaRPr lang="en-US"/>
        </a:p>
      </dgm:t>
    </dgm:pt>
    <dgm:pt modelId="{AFC0306B-2C30-47D7-B78E-1070275807F1}">
      <dgm:prSet/>
      <dgm:spPr/>
      <dgm:t>
        <a:bodyPr/>
        <a:lstStyle/>
        <a:p>
          <a:r>
            <a:rPr lang="en-AU" dirty="0"/>
            <a:t>DQL: Updating Data through views on Site Managers</a:t>
          </a:r>
          <a:endParaRPr lang="en-US" dirty="0"/>
        </a:p>
      </dgm:t>
    </dgm:pt>
    <dgm:pt modelId="{A8E858F0-22ED-4521-A7EF-F4C93759DC36}" type="parTrans" cxnId="{2078601B-9990-489E-BAB6-EA7C43EC94FC}">
      <dgm:prSet/>
      <dgm:spPr/>
      <dgm:t>
        <a:bodyPr/>
        <a:lstStyle/>
        <a:p>
          <a:endParaRPr lang="en-US"/>
        </a:p>
      </dgm:t>
    </dgm:pt>
    <dgm:pt modelId="{331E7DF1-C7A5-49DC-A3C7-0FFC8D747160}" type="sibTrans" cxnId="{2078601B-9990-489E-BAB6-EA7C43EC94FC}">
      <dgm:prSet/>
      <dgm:spPr/>
      <dgm:t>
        <a:bodyPr/>
        <a:lstStyle/>
        <a:p>
          <a:endParaRPr lang="en-US"/>
        </a:p>
      </dgm:t>
    </dgm:pt>
    <dgm:pt modelId="{9A7DC9DD-27E8-4D76-8183-22555CD617B7}">
      <dgm:prSet/>
      <dgm:spPr/>
      <dgm:t>
        <a:bodyPr/>
        <a:lstStyle/>
        <a:p>
          <a:r>
            <a:rPr lang="en-AU" dirty="0"/>
            <a:t>DQL: Managing views on Active Sites </a:t>
          </a:r>
          <a:endParaRPr lang="en-US" dirty="0"/>
        </a:p>
      </dgm:t>
    </dgm:pt>
    <dgm:pt modelId="{F77A2A5F-BDE2-4028-9D45-3279B78171A4}" type="parTrans" cxnId="{4B9CAB26-336D-452C-9DA0-2D120D45E8B5}">
      <dgm:prSet/>
      <dgm:spPr/>
      <dgm:t>
        <a:bodyPr/>
        <a:lstStyle/>
        <a:p>
          <a:endParaRPr lang="en-US"/>
        </a:p>
      </dgm:t>
    </dgm:pt>
    <dgm:pt modelId="{8B055320-C53C-4B57-9472-95987D24E108}" type="sibTrans" cxnId="{4B9CAB26-336D-452C-9DA0-2D120D45E8B5}">
      <dgm:prSet/>
      <dgm:spPr/>
      <dgm:t>
        <a:bodyPr/>
        <a:lstStyle/>
        <a:p>
          <a:endParaRPr lang="en-US"/>
        </a:p>
      </dgm:t>
    </dgm:pt>
    <dgm:pt modelId="{B2635A8E-B645-46B4-8860-A86EDA3F6922}">
      <dgm:prSet/>
      <dgm:spPr/>
      <dgm:t>
        <a:bodyPr/>
        <a:lstStyle/>
        <a:p>
          <a:r>
            <a:rPr lang="en-AU" dirty="0"/>
            <a:t>DQL: Data Quality Views and Validation </a:t>
          </a:r>
          <a:endParaRPr lang="en-US" dirty="0"/>
        </a:p>
      </dgm:t>
    </dgm:pt>
    <dgm:pt modelId="{87C61CA3-B64F-4180-99EC-C5E9359F9711}" type="parTrans" cxnId="{633316B2-AFCC-40D8-ABC7-E174A8A1B999}">
      <dgm:prSet/>
      <dgm:spPr/>
      <dgm:t>
        <a:bodyPr/>
        <a:lstStyle/>
        <a:p>
          <a:endParaRPr lang="en-US"/>
        </a:p>
      </dgm:t>
    </dgm:pt>
    <dgm:pt modelId="{C007A1BF-D35B-4825-A33B-31FA61C901D7}" type="sibTrans" cxnId="{633316B2-AFCC-40D8-ABC7-E174A8A1B999}">
      <dgm:prSet/>
      <dgm:spPr/>
      <dgm:t>
        <a:bodyPr/>
        <a:lstStyle/>
        <a:p>
          <a:endParaRPr lang="en-US"/>
        </a:p>
      </dgm:t>
    </dgm:pt>
    <dgm:pt modelId="{CB9734D0-846A-44B7-8618-0033AD57405B}">
      <dgm:prSet/>
      <dgm:spPr/>
      <dgm:t>
        <a:bodyPr/>
        <a:lstStyle/>
        <a:p>
          <a:r>
            <a:rPr lang="en-AU" dirty="0"/>
            <a:t>DQL: Indexed Views for Performance </a:t>
          </a:r>
          <a:endParaRPr lang="en-US" dirty="0"/>
        </a:p>
      </dgm:t>
    </dgm:pt>
    <dgm:pt modelId="{F20A8542-78D8-422F-BC2D-BEBA1767E35D}" type="parTrans" cxnId="{E66F4998-7136-4E71-87BB-D5C32641B4B3}">
      <dgm:prSet/>
      <dgm:spPr/>
      <dgm:t>
        <a:bodyPr/>
        <a:lstStyle/>
        <a:p>
          <a:endParaRPr lang="en-US"/>
        </a:p>
      </dgm:t>
    </dgm:pt>
    <dgm:pt modelId="{B8DECEDC-0817-4FAA-B7D8-7A62F03937EC}" type="sibTrans" cxnId="{E66F4998-7136-4E71-87BB-D5C32641B4B3}">
      <dgm:prSet/>
      <dgm:spPr/>
      <dgm:t>
        <a:bodyPr/>
        <a:lstStyle/>
        <a:p>
          <a:endParaRPr lang="en-US"/>
        </a:p>
      </dgm:t>
    </dgm:pt>
    <dgm:pt modelId="{4D3DAF36-808C-4437-B1B6-9007BD8B49AE}">
      <dgm:prSet/>
      <dgm:spPr/>
      <dgm:t>
        <a:bodyPr/>
        <a:lstStyle/>
        <a:p>
          <a:r>
            <a:rPr lang="en-AU" dirty="0"/>
            <a:t>DQL: Simple View for Operational Equipment </a:t>
          </a:r>
          <a:endParaRPr lang="en-US" dirty="0"/>
        </a:p>
      </dgm:t>
    </dgm:pt>
    <dgm:pt modelId="{FC9BC081-897D-4885-BCB4-2482B541C132}" type="parTrans" cxnId="{51F33E26-DA56-4D70-ABE8-89FFDCE28B95}">
      <dgm:prSet/>
      <dgm:spPr/>
      <dgm:t>
        <a:bodyPr/>
        <a:lstStyle/>
        <a:p>
          <a:endParaRPr lang="en-US"/>
        </a:p>
      </dgm:t>
    </dgm:pt>
    <dgm:pt modelId="{2741DAF1-EA3B-4648-93A3-E77D88366CB3}" type="sibTrans" cxnId="{51F33E26-DA56-4D70-ABE8-89FFDCE28B95}">
      <dgm:prSet/>
      <dgm:spPr/>
      <dgm:t>
        <a:bodyPr/>
        <a:lstStyle/>
        <a:p>
          <a:endParaRPr lang="en-US"/>
        </a:p>
      </dgm:t>
    </dgm:pt>
    <dgm:pt modelId="{A713EC80-BB30-402F-B36E-27A83B6794AA}">
      <dgm:prSet/>
      <dgm:spPr/>
      <dgm:t>
        <a:bodyPr/>
        <a:lstStyle/>
        <a:p>
          <a:r>
            <a:rPr lang="en-AU" dirty="0"/>
            <a:t>DQL: Create Security View for </a:t>
          </a:r>
          <a:r>
            <a:rPr lang="en-AU" dirty="0" err="1"/>
            <a:t>CostSummary</a:t>
          </a:r>
          <a:endParaRPr lang="en-US" dirty="0"/>
        </a:p>
      </dgm:t>
    </dgm:pt>
    <dgm:pt modelId="{F420D3B9-1BD8-430B-9BF3-12DB1E5D32FA}" type="parTrans" cxnId="{B05E5B6B-126A-420B-BF8A-F6B732A4460B}">
      <dgm:prSet/>
      <dgm:spPr/>
      <dgm:t>
        <a:bodyPr/>
        <a:lstStyle/>
        <a:p>
          <a:endParaRPr lang="en-US"/>
        </a:p>
      </dgm:t>
    </dgm:pt>
    <dgm:pt modelId="{24259812-F67A-40DE-9D31-4C682F9736BD}" type="sibTrans" cxnId="{B05E5B6B-126A-420B-BF8A-F6B732A4460B}">
      <dgm:prSet/>
      <dgm:spPr/>
      <dgm:t>
        <a:bodyPr/>
        <a:lstStyle/>
        <a:p>
          <a:endParaRPr lang="en-US"/>
        </a:p>
      </dgm:t>
    </dgm:pt>
    <dgm:pt modelId="{CBE6248A-3692-4D7E-8190-64BCECDB2BC2}">
      <dgm:prSet/>
      <dgm:spPr/>
      <dgm:t>
        <a:bodyPr/>
        <a:lstStyle/>
        <a:p>
          <a:r>
            <a:rPr lang="en-AU" dirty="0"/>
            <a:t>DQL: Create Analytical Weekly Production Trends View</a:t>
          </a:r>
          <a:endParaRPr lang="en-US" dirty="0"/>
        </a:p>
      </dgm:t>
    </dgm:pt>
    <dgm:pt modelId="{3F2A5491-BC7D-4766-91B0-B9759FA2914B}" type="parTrans" cxnId="{19DE42B7-46BB-4B4A-A58D-727996945395}">
      <dgm:prSet/>
      <dgm:spPr/>
      <dgm:t>
        <a:bodyPr/>
        <a:lstStyle/>
        <a:p>
          <a:endParaRPr lang="en-US"/>
        </a:p>
      </dgm:t>
    </dgm:pt>
    <dgm:pt modelId="{4D475008-8CC0-4E86-9407-2ED4D90E8D8B}" type="sibTrans" cxnId="{19DE42B7-46BB-4B4A-A58D-727996945395}">
      <dgm:prSet/>
      <dgm:spPr/>
      <dgm:t>
        <a:bodyPr/>
        <a:lstStyle/>
        <a:p>
          <a:endParaRPr lang="en-US"/>
        </a:p>
      </dgm:t>
    </dgm:pt>
    <dgm:pt modelId="{8ADBF65F-BAE3-4493-83F8-296D13C18BA8}">
      <dgm:prSet/>
      <dgm:spPr/>
      <dgm:t>
        <a:bodyPr/>
        <a:lstStyle/>
        <a:p>
          <a:r>
            <a:rPr lang="en-AU" dirty="0"/>
            <a:t>DQL: Create Dashboard for Executive Dashboard </a:t>
          </a:r>
          <a:endParaRPr lang="en-US" dirty="0"/>
        </a:p>
      </dgm:t>
    </dgm:pt>
    <dgm:pt modelId="{D2926258-AFFC-4EA7-B239-0792F22B6169}" type="parTrans" cxnId="{0405AA29-311D-4B9D-9867-BECE0F00E217}">
      <dgm:prSet/>
      <dgm:spPr/>
      <dgm:t>
        <a:bodyPr/>
        <a:lstStyle/>
        <a:p>
          <a:endParaRPr lang="en-US"/>
        </a:p>
      </dgm:t>
    </dgm:pt>
    <dgm:pt modelId="{3FCF591B-2CD4-44CE-AE50-50C61FF10EFC}" type="sibTrans" cxnId="{0405AA29-311D-4B9D-9867-BECE0F00E217}">
      <dgm:prSet/>
      <dgm:spPr/>
      <dgm:t>
        <a:bodyPr/>
        <a:lstStyle/>
        <a:p>
          <a:endParaRPr lang="en-US"/>
        </a:p>
      </dgm:t>
    </dgm:pt>
    <dgm:pt modelId="{A9793CEC-8531-465C-AE55-D638D50D00F9}" type="pres">
      <dgm:prSet presAssocID="{91B5D6ED-5DC2-4FB3-AF6F-FA1B2FF10ADE}" presName="diagram" presStyleCnt="0">
        <dgm:presLayoutVars>
          <dgm:dir/>
          <dgm:resizeHandles val="exact"/>
        </dgm:presLayoutVars>
      </dgm:prSet>
      <dgm:spPr/>
    </dgm:pt>
    <dgm:pt modelId="{5BA6FA47-536A-4C82-8739-A1B2D12E1DC5}" type="pres">
      <dgm:prSet presAssocID="{7124BCA3-8FD0-45E6-A2ED-3565854C5BA7}" presName="node" presStyleLbl="node1" presStyleIdx="0" presStyleCnt="20">
        <dgm:presLayoutVars>
          <dgm:bulletEnabled val="1"/>
        </dgm:presLayoutVars>
      </dgm:prSet>
      <dgm:spPr/>
    </dgm:pt>
    <dgm:pt modelId="{52ECC652-3A83-4F46-BA25-722B9BF46343}" type="pres">
      <dgm:prSet presAssocID="{11116DD9-4069-4ABD-BE60-7F8F3AACA2ED}" presName="sibTrans" presStyleCnt="0"/>
      <dgm:spPr/>
    </dgm:pt>
    <dgm:pt modelId="{57EF714A-D446-4DF4-9EA8-570905C51A04}" type="pres">
      <dgm:prSet presAssocID="{9FD7FA96-CA9E-4A78-8AA5-DA2CC8B3D4FF}" presName="node" presStyleLbl="node1" presStyleIdx="1" presStyleCnt="20">
        <dgm:presLayoutVars>
          <dgm:bulletEnabled val="1"/>
        </dgm:presLayoutVars>
      </dgm:prSet>
      <dgm:spPr/>
    </dgm:pt>
    <dgm:pt modelId="{F7F5CEF0-76FC-4D92-A7ED-6F7FF4687360}" type="pres">
      <dgm:prSet presAssocID="{9BE9DC42-2C1D-4FB3-BC5C-E84E8C0659D1}" presName="sibTrans" presStyleCnt="0"/>
      <dgm:spPr/>
    </dgm:pt>
    <dgm:pt modelId="{EE0F31B6-D0AA-4BD6-B52F-9E2726C41ABF}" type="pres">
      <dgm:prSet presAssocID="{6770D6F5-CC85-45C9-8861-251254E3F6DA}" presName="node" presStyleLbl="node1" presStyleIdx="2" presStyleCnt="20">
        <dgm:presLayoutVars>
          <dgm:bulletEnabled val="1"/>
        </dgm:presLayoutVars>
      </dgm:prSet>
      <dgm:spPr/>
    </dgm:pt>
    <dgm:pt modelId="{E4856FBB-A998-4BB5-AC3C-F8D1B25FDA19}" type="pres">
      <dgm:prSet presAssocID="{3E147852-3D5C-4092-9171-6FBBE3556796}" presName="sibTrans" presStyleCnt="0"/>
      <dgm:spPr/>
    </dgm:pt>
    <dgm:pt modelId="{D386C967-5A81-432B-A357-9A2D343C3C77}" type="pres">
      <dgm:prSet presAssocID="{5FA0DC45-6DA8-44BC-899B-794DACD91C95}" presName="node" presStyleLbl="node1" presStyleIdx="3" presStyleCnt="20">
        <dgm:presLayoutVars>
          <dgm:bulletEnabled val="1"/>
        </dgm:presLayoutVars>
      </dgm:prSet>
      <dgm:spPr/>
    </dgm:pt>
    <dgm:pt modelId="{950D789B-BC47-4FA6-9973-A2227B9CA173}" type="pres">
      <dgm:prSet presAssocID="{2EC01D6A-3EF8-4DFC-8377-638E30E25E96}" presName="sibTrans" presStyleCnt="0"/>
      <dgm:spPr/>
    </dgm:pt>
    <dgm:pt modelId="{1301A638-CE0D-4059-A62B-479F95F7A2CE}" type="pres">
      <dgm:prSet presAssocID="{4A906F04-4EA5-4442-9484-2CC21A92122C}" presName="node" presStyleLbl="node1" presStyleIdx="4" presStyleCnt="20">
        <dgm:presLayoutVars>
          <dgm:bulletEnabled val="1"/>
        </dgm:presLayoutVars>
      </dgm:prSet>
      <dgm:spPr/>
    </dgm:pt>
    <dgm:pt modelId="{05C8B156-13AD-4A5A-A42C-57A9F5E4DD1E}" type="pres">
      <dgm:prSet presAssocID="{60726315-8CE4-4B35-8066-C5B903F46B9B}" presName="sibTrans" presStyleCnt="0"/>
      <dgm:spPr/>
    </dgm:pt>
    <dgm:pt modelId="{6061FDB1-6FB9-405B-B355-84D2E3C81300}" type="pres">
      <dgm:prSet presAssocID="{CCC95022-E833-4A23-8364-5FB9BC8218FB}" presName="node" presStyleLbl="node1" presStyleIdx="5" presStyleCnt="20">
        <dgm:presLayoutVars>
          <dgm:bulletEnabled val="1"/>
        </dgm:presLayoutVars>
      </dgm:prSet>
      <dgm:spPr/>
    </dgm:pt>
    <dgm:pt modelId="{D7D7D8AA-9C7A-4BFA-8565-C87A3A0D3109}" type="pres">
      <dgm:prSet presAssocID="{6C1886A7-0A3A-44C3-9B2C-E88DC53E3929}" presName="sibTrans" presStyleCnt="0"/>
      <dgm:spPr/>
    </dgm:pt>
    <dgm:pt modelId="{B8B6CE8D-338E-4C28-9B68-9DD84537824C}" type="pres">
      <dgm:prSet presAssocID="{2C3246B8-A48E-40BE-87D1-AB9994D5B666}" presName="node" presStyleLbl="node1" presStyleIdx="6" presStyleCnt="20">
        <dgm:presLayoutVars>
          <dgm:bulletEnabled val="1"/>
        </dgm:presLayoutVars>
      </dgm:prSet>
      <dgm:spPr/>
    </dgm:pt>
    <dgm:pt modelId="{6B1770D7-642A-4608-940E-D67F8423413B}" type="pres">
      <dgm:prSet presAssocID="{FBABB26E-40C0-45E5-A9A9-1C7E27238A70}" presName="sibTrans" presStyleCnt="0"/>
      <dgm:spPr/>
    </dgm:pt>
    <dgm:pt modelId="{DEF80FBA-28E5-46D8-A9D0-FE0BA5868D86}" type="pres">
      <dgm:prSet presAssocID="{82BE1774-6E31-4722-B6FC-676C8E0B7217}" presName="node" presStyleLbl="node1" presStyleIdx="7" presStyleCnt="20">
        <dgm:presLayoutVars>
          <dgm:bulletEnabled val="1"/>
        </dgm:presLayoutVars>
      </dgm:prSet>
      <dgm:spPr/>
    </dgm:pt>
    <dgm:pt modelId="{48282FA8-C0BC-4221-99B0-4E0EA26BE8DB}" type="pres">
      <dgm:prSet presAssocID="{5687AF8C-4AE3-4D6C-8D2A-4E1667D743DB}" presName="sibTrans" presStyleCnt="0"/>
      <dgm:spPr/>
    </dgm:pt>
    <dgm:pt modelId="{DF8787C7-AB38-4E93-A71D-812059647912}" type="pres">
      <dgm:prSet presAssocID="{40CFC8F9-1626-44A1-9C9E-089321778C35}" presName="node" presStyleLbl="node1" presStyleIdx="8" presStyleCnt="20">
        <dgm:presLayoutVars>
          <dgm:bulletEnabled val="1"/>
        </dgm:presLayoutVars>
      </dgm:prSet>
      <dgm:spPr/>
    </dgm:pt>
    <dgm:pt modelId="{75D5E155-C1B2-417F-AA23-641DD1DA2C02}" type="pres">
      <dgm:prSet presAssocID="{74D6526D-4ADD-483E-9C4B-4695A3D9878B}" presName="sibTrans" presStyleCnt="0"/>
      <dgm:spPr/>
    </dgm:pt>
    <dgm:pt modelId="{462BF593-9202-44A5-B9E6-EDA0B9863533}" type="pres">
      <dgm:prSet presAssocID="{5A2341AD-B20F-4180-A8FB-B6A6C3F1DED4}" presName="node" presStyleLbl="node1" presStyleIdx="9" presStyleCnt="20">
        <dgm:presLayoutVars>
          <dgm:bulletEnabled val="1"/>
        </dgm:presLayoutVars>
      </dgm:prSet>
      <dgm:spPr/>
    </dgm:pt>
    <dgm:pt modelId="{BE7780F1-99E6-4B94-93A2-240720ED941B}" type="pres">
      <dgm:prSet presAssocID="{BE81D16E-75F4-45A6-B91A-7B4647E3854B}" presName="sibTrans" presStyleCnt="0"/>
      <dgm:spPr/>
    </dgm:pt>
    <dgm:pt modelId="{AE4CD287-1B4C-48C7-A4A6-7FB4E5EC15C3}" type="pres">
      <dgm:prSet presAssocID="{77A25105-EF28-4757-B50A-FB2772C2C845}" presName="node" presStyleLbl="node1" presStyleIdx="10" presStyleCnt="20">
        <dgm:presLayoutVars>
          <dgm:bulletEnabled val="1"/>
        </dgm:presLayoutVars>
      </dgm:prSet>
      <dgm:spPr/>
    </dgm:pt>
    <dgm:pt modelId="{E55F114E-BDC2-4E2B-9B78-E6C3C39A7406}" type="pres">
      <dgm:prSet presAssocID="{428434C1-0F02-405E-A494-0EBAEB0B6A06}" presName="sibTrans" presStyleCnt="0"/>
      <dgm:spPr/>
    </dgm:pt>
    <dgm:pt modelId="{883DFB52-FDE4-4401-B41D-0E212DBEFBF7}" type="pres">
      <dgm:prSet presAssocID="{F80B0972-135B-46E5-8683-90DD5786C6D7}" presName="node" presStyleLbl="node1" presStyleIdx="11" presStyleCnt="20">
        <dgm:presLayoutVars>
          <dgm:bulletEnabled val="1"/>
        </dgm:presLayoutVars>
      </dgm:prSet>
      <dgm:spPr/>
    </dgm:pt>
    <dgm:pt modelId="{9DE4C680-8A2D-4077-8568-841DE2ED90A4}" type="pres">
      <dgm:prSet presAssocID="{E13BA930-BE1E-4048-8C17-075733840540}" presName="sibTrans" presStyleCnt="0"/>
      <dgm:spPr/>
    </dgm:pt>
    <dgm:pt modelId="{45781A47-D88E-4335-9DEF-950E4DEE63A3}" type="pres">
      <dgm:prSet presAssocID="{AFC0306B-2C30-47D7-B78E-1070275807F1}" presName="node" presStyleLbl="node1" presStyleIdx="12" presStyleCnt="20">
        <dgm:presLayoutVars>
          <dgm:bulletEnabled val="1"/>
        </dgm:presLayoutVars>
      </dgm:prSet>
      <dgm:spPr/>
    </dgm:pt>
    <dgm:pt modelId="{9E62306A-8E03-422F-9AF7-C55B9B8A9D48}" type="pres">
      <dgm:prSet presAssocID="{331E7DF1-C7A5-49DC-A3C7-0FFC8D747160}" presName="sibTrans" presStyleCnt="0"/>
      <dgm:spPr/>
    </dgm:pt>
    <dgm:pt modelId="{550C7944-A982-41C4-BF27-76A475CC9669}" type="pres">
      <dgm:prSet presAssocID="{9A7DC9DD-27E8-4D76-8183-22555CD617B7}" presName="node" presStyleLbl="node1" presStyleIdx="13" presStyleCnt="20">
        <dgm:presLayoutVars>
          <dgm:bulletEnabled val="1"/>
        </dgm:presLayoutVars>
      </dgm:prSet>
      <dgm:spPr/>
    </dgm:pt>
    <dgm:pt modelId="{7254D6B2-5DC5-4D80-95A5-4AE1FD3E40E7}" type="pres">
      <dgm:prSet presAssocID="{8B055320-C53C-4B57-9472-95987D24E108}" presName="sibTrans" presStyleCnt="0"/>
      <dgm:spPr/>
    </dgm:pt>
    <dgm:pt modelId="{160B8CFF-F527-4199-BDEC-9E970F4FE53F}" type="pres">
      <dgm:prSet presAssocID="{B2635A8E-B645-46B4-8860-A86EDA3F6922}" presName="node" presStyleLbl="node1" presStyleIdx="14" presStyleCnt="20">
        <dgm:presLayoutVars>
          <dgm:bulletEnabled val="1"/>
        </dgm:presLayoutVars>
      </dgm:prSet>
      <dgm:spPr/>
    </dgm:pt>
    <dgm:pt modelId="{1F1191E8-CA65-4091-913E-9DA90E599704}" type="pres">
      <dgm:prSet presAssocID="{C007A1BF-D35B-4825-A33B-31FA61C901D7}" presName="sibTrans" presStyleCnt="0"/>
      <dgm:spPr/>
    </dgm:pt>
    <dgm:pt modelId="{DA9896C2-ED88-4805-9654-D29FE3B8BD19}" type="pres">
      <dgm:prSet presAssocID="{CB9734D0-846A-44B7-8618-0033AD57405B}" presName="node" presStyleLbl="node1" presStyleIdx="15" presStyleCnt="20">
        <dgm:presLayoutVars>
          <dgm:bulletEnabled val="1"/>
        </dgm:presLayoutVars>
      </dgm:prSet>
      <dgm:spPr/>
    </dgm:pt>
    <dgm:pt modelId="{D0A10482-44A7-43EB-9CAA-86DD2E74552E}" type="pres">
      <dgm:prSet presAssocID="{B8DECEDC-0817-4FAA-B7D8-7A62F03937EC}" presName="sibTrans" presStyleCnt="0"/>
      <dgm:spPr/>
    </dgm:pt>
    <dgm:pt modelId="{5D7C37AA-F373-4F63-B1C3-0ED072F96B28}" type="pres">
      <dgm:prSet presAssocID="{4D3DAF36-808C-4437-B1B6-9007BD8B49AE}" presName="node" presStyleLbl="node1" presStyleIdx="16" presStyleCnt="20">
        <dgm:presLayoutVars>
          <dgm:bulletEnabled val="1"/>
        </dgm:presLayoutVars>
      </dgm:prSet>
      <dgm:spPr/>
    </dgm:pt>
    <dgm:pt modelId="{567D8C00-2B44-4CB3-BA7B-F7AFB48234D0}" type="pres">
      <dgm:prSet presAssocID="{2741DAF1-EA3B-4648-93A3-E77D88366CB3}" presName="sibTrans" presStyleCnt="0"/>
      <dgm:spPr/>
    </dgm:pt>
    <dgm:pt modelId="{7FD5BCBD-9D7D-4798-989E-C4B51CC1184E}" type="pres">
      <dgm:prSet presAssocID="{A713EC80-BB30-402F-B36E-27A83B6794AA}" presName="node" presStyleLbl="node1" presStyleIdx="17" presStyleCnt="20">
        <dgm:presLayoutVars>
          <dgm:bulletEnabled val="1"/>
        </dgm:presLayoutVars>
      </dgm:prSet>
      <dgm:spPr/>
    </dgm:pt>
    <dgm:pt modelId="{9838DC63-5D73-4F36-8E7B-5292FDB10EC8}" type="pres">
      <dgm:prSet presAssocID="{24259812-F67A-40DE-9D31-4C682F9736BD}" presName="sibTrans" presStyleCnt="0"/>
      <dgm:spPr/>
    </dgm:pt>
    <dgm:pt modelId="{8E83CB10-B808-4A99-BF7A-3625DDA36918}" type="pres">
      <dgm:prSet presAssocID="{CBE6248A-3692-4D7E-8190-64BCECDB2BC2}" presName="node" presStyleLbl="node1" presStyleIdx="18" presStyleCnt="20">
        <dgm:presLayoutVars>
          <dgm:bulletEnabled val="1"/>
        </dgm:presLayoutVars>
      </dgm:prSet>
      <dgm:spPr/>
    </dgm:pt>
    <dgm:pt modelId="{C1D800F1-7CE3-4F15-AAA5-0B1018B768B9}" type="pres">
      <dgm:prSet presAssocID="{4D475008-8CC0-4E86-9407-2ED4D90E8D8B}" presName="sibTrans" presStyleCnt="0"/>
      <dgm:spPr/>
    </dgm:pt>
    <dgm:pt modelId="{B4D3985E-4F16-496C-861D-8DE950E36440}" type="pres">
      <dgm:prSet presAssocID="{8ADBF65F-BAE3-4493-83F8-296D13C18BA8}" presName="node" presStyleLbl="node1" presStyleIdx="19" presStyleCnt="20">
        <dgm:presLayoutVars>
          <dgm:bulletEnabled val="1"/>
        </dgm:presLayoutVars>
      </dgm:prSet>
      <dgm:spPr/>
    </dgm:pt>
  </dgm:ptLst>
  <dgm:cxnLst>
    <dgm:cxn modelId="{45364F03-38C0-4D9B-A8CC-6E64EA0631BB}" srcId="{91B5D6ED-5DC2-4FB3-AF6F-FA1B2FF10ADE}" destId="{F80B0972-135B-46E5-8683-90DD5786C6D7}" srcOrd="11" destOrd="0" parTransId="{A704D6C2-EE64-4561-9C4A-A14C9BAA4CD9}" sibTransId="{E13BA930-BE1E-4048-8C17-075733840540}"/>
    <dgm:cxn modelId="{9A74D406-1DA9-47FA-A308-946593AB8159}" type="presOf" srcId="{F80B0972-135B-46E5-8683-90DD5786C6D7}" destId="{883DFB52-FDE4-4401-B41D-0E212DBEFBF7}" srcOrd="0" destOrd="0" presId="urn:microsoft.com/office/officeart/2005/8/layout/default"/>
    <dgm:cxn modelId="{FD13F408-408F-4F3B-AA2E-CCEC9EEB83E9}" type="presOf" srcId="{CB9734D0-846A-44B7-8618-0033AD57405B}" destId="{DA9896C2-ED88-4805-9654-D29FE3B8BD19}" srcOrd="0" destOrd="0" presId="urn:microsoft.com/office/officeart/2005/8/layout/default"/>
    <dgm:cxn modelId="{F40FD40B-8357-44EC-AE56-3D7DA15FED2F}" type="presOf" srcId="{91B5D6ED-5DC2-4FB3-AF6F-FA1B2FF10ADE}" destId="{A9793CEC-8531-465C-AE55-D638D50D00F9}" srcOrd="0" destOrd="0" presId="urn:microsoft.com/office/officeart/2005/8/layout/default"/>
    <dgm:cxn modelId="{CC5C460E-BD66-493F-86D3-3851446E9352}" srcId="{91B5D6ED-5DC2-4FB3-AF6F-FA1B2FF10ADE}" destId="{9FD7FA96-CA9E-4A78-8AA5-DA2CC8B3D4FF}" srcOrd="1" destOrd="0" parTransId="{CA6E8A6B-74C3-4E16-A141-14D6686C4BC3}" sibTransId="{9BE9DC42-2C1D-4FB3-BC5C-E84E8C0659D1}"/>
    <dgm:cxn modelId="{2078601B-9990-489E-BAB6-EA7C43EC94FC}" srcId="{91B5D6ED-5DC2-4FB3-AF6F-FA1B2FF10ADE}" destId="{AFC0306B-2C30-47D7-B78E-1070275807F1}" srcOrd="12" destOrd="0" parTransId="{A8E858F0-22ED-4521-A7EF-F4C93759DC36}" sibTransId="{331E7DF1-C7A5-49DC-A3C7-0FFC8D747160}"/>
    <dgm:cxn modelId="{7465EB1C-8C7A-4E76-996D-B652266EAFFC}" type="presOf" srcId="{8ADBF65F-BAE3-4493-83F8-296D13C18BA8}" destId="{B4D3985E-4F16-496C-861D-8DE950E36440}" srcOrd="0" destOrd="0" presId="urn:microsoft.com/office/officeart/2005/8/layout/default"/>
    <dgm:cxn modelId="{51F33E26-DA56-4D70-ABE8-89FFDCE28B95}" srcId="{91B5D6ED-5DC2-4FB3-AF6F-FA1B2FF10ADE}" destId="{4D3DAF36-808C-4437-B1B6-9007BD8B49AE}" srcOrd="16" destOrd="0" parTransId="{FC9BC081-897D-4885-BCB4-2482B541C132}" sibTransId="{2741DAF1-EA3B-4648-93A3-E77D88366CB3}"/>
    <dgm:cxn modelId="{4B9CAB26-336D-452C-9DA0-2D120D45E8B5}" srcId="{91B5D6ED-5DC2-4FB3-AF6F-FA1B2FF10ADE}" destId="{9A7DC9DD-27E8-4D76-8183-22555CD617B7}" srcOrd="13" destOrd="0" parTransId="{F77A2A5F-BDE2-4028-9D45-3279B78171A4}" sibTransId="{8B055320-C53C-4B57-9472-95987D24E108}"/>
    <dgm:cxn modelId="{0405AA29-311D-4B9D-9867-BECE0F00E217}" srcId="{91B5D6ED-5DC2-4FB3-AF6F-FA1B2FF10ADE}" destId="{8ADBF65F-BAE3-4493-83F8-296D13C18BA8}" srcOrd="19" destOrd="0" parTransId="{D2926258-AFFC-4EA7-B239-0792F22B6169}" sibTransId="{3FCF591B-2CD4-44CE-AE50-50C61FF10EFC}"/>
    <dgm:cxn modelId="{F081553D-EB83-4457-B519-CD453E6162F7}" srcId="{91B5D6ED-5DC2-4FB3-AF6F-FA1B2FF10ADE}" destId="{6770D6F5-CC85-45C9-8861-251254E3F6DA}" srcOrd="2" destOrd="0" parTransId="{93FE194B-11A6-42BF-B659-95658FBD8A3E}" sibTransId="{3E147852-3D5C-4092-9171-6FBBE3556796}"/>
    <dgm:cxn modelId="{E057A03F-A80B-460E-B45B-5F0F3AFD8112}" type="presOf" srcId="{4A906F04-4EA5-4442-9484-2CC21A92122C}" destId="{1301A638-CE0D-4059-A62B-479F95F7A2CE}" srcOrd="0" destOrd="0" presId="urn:microsoft.com/office/officeart/2005/8/layout/default"/>
    <dgm:cxn modelId="{AA075E40-71ED-4412-905D-5037E4F541B4}" type="presOf" srcId="{5A2341AD-B20F-4180-A8FB-B6A6C3F1DED4}" destId="{462BF593-9202-44A5-B9E6-EDA0B9863533}" srcOrd="0" destOrd="0" presId="urn:microsoft.com/office/officeart/2005/8/layout/default"/>
    <dgm:cxn modelId="{BF18A548-79E1-463C-94A6-7EA6C0A0E2E3}" type="presOf" srcId="{5FA0DC45-6DA8-44BC-899B-794DACD91C95}" destId="{D386C967-5A81-432B-A357-9A2D343C3C77}" srcOrd="0" destOrd="0" presId="urn:microsoft.com/office/officeart/2005/8/layout/default"/>
    <dgm:cxn modelId="{B05E5B6B-126A-420B-BF8A-F6B732A4460B}" srcId="{91B5D6ED-5DC2-4FB3-AF6F-FA1B2FF10ADE}" destId="{A713EC80-BB30-402F-B36E-27A83B6794AA}" srcOrd="17" destOrd="0" parTransId="{F420D3B9-1BD8-430B-9BF3-12DB1E5D32FA}" sibTransId="{24259812-F67A-40DE-9D31-4C682F9736BD}"/>
    <dgm:cxn modelId="{A0043E6D-124F-4408-B215-906372E515A5}" type="presOf" srcId="{CBE6248A-3692-4D7E-8190-64BCECDB2BC2}" destId="{8E83CB10-B808-4A99-BF7A-3625DDA36918}" srcOrd="0" destOrd="0" presId="urn:microsoft.com/office/officeart/2005/8/layout/default"/>
    <dgm:cxn modelId="{1E6B4A6E-7BD5-44EC-8150-7B7AB5782B5E}" srcId="{91B5D6ED-5DC2-4FB3-AF6F-FA1B2FF10ADE}" destId="{2C3246B8-A48E-40BE-87D1-AB9994D5B666}" srcOrd="6" destOrd="0" parTransId="{FA2C4370-B458-4594-A18F-746FBF403315}" sibTransId="{FBABB26E-40C0-45E5-A9A9-1C7E27238A70}"/>
    <dgm:cxn modelId="{04AFB150-0082-4C49-B5CE-F95C62B05853}" type="presOf" srcId="{6770D6F5-CC85-45C9-8861-251254E3F6DA}" destId="{EE0F31B6-D0AA-4BD6-B52F-9E2726C41ABF}" srcOrd="0" destOrd="0" presId="urn:microsoft.com/office/officeart/2005/8/layout/default"/>
    <dgm:cxn modelId="{C2989480-11ED-4A1B-9C8A-4D5EC29C31BD}" type="presOf" srcId="{2C3246B8-A48E-40BE-87D1-AB9994D5B666}" destId="{B8B6CE8D-338E-4C28-9B68-9DD84537824C}" srcOrd="0" destOrd="0" presId="urn:microsoft.com/office/officeart/2005/8/layout/default"/>
    <dgm:cxn modelId="{FED9B583-D17B-41FC-8F4B-34AFBFF88A1C}" srcId="{91B5D6ED-5DC2-4FB3-AF6F-FA1B2FF10ADE}" destId="{CCC95022-E833-4A23-8364-5FB9BC8218FB}" srcOrd="5" destOrd="0" parTransId="{EB023853-20F3-41B4-A245-8070D8344872}" sibTransId="{6C1886A7-0A3A-44C3-9B2C-E88DC53E3929}"/>
    <dgm:cxn modelId="{9349E791-CC0D-499A-93B3-C1D121AD0AB6}" type="presOf" srcId="{A713EC80-BB30-402F-B36E-27A83B6794AA}" destId="{7FD5BCBD-9D7D-4798-989E-C4B51CC1184E}" srcOrd="0" destOrd="0" presId="urn:microsoft.com/office/officeart/2005/8/layout/default"/>
    <dgm:cxn modelId="{F3124C97-2C81-4890-BC3C-23E5CC8AB2B2}" srcId="{91B5D6ED-5DC2-4FB3-AF6F-FA1B2FF10ADE}" destId="{82BE1774-6E31-4722-B6FC-676C8E0B7217}" srcOrd="7" destOrd="0" parTransId="{AB9F9508-E3CB-439B-996A-4757EAFE9AD3}" sibTransId="{5687AF8C-4AE3-4D6C-8D2A-4E1667D743DB}"/>
    <dgm:cxn modelId="{E66F4998-7136-4E71-87BB-D5C32641B4B3}" srcId="{91B5D6ED-5DC2-4FB3-AF6F-FA1B2FF10ADE}" destId="{CB9734D0-846A-44B7-8618-0033AD57405B}" srcOrd="15" destOrd="0" parTransId="{F20A8542-78D8-422F-BC2D-BEBA1767E35D}" sibTransId="{B8DECEDC-0817-4FAA-B7D8-7A62F03937EC}"/>
    <dgm:cxn modelId="{F03D9C98-45D7-4958-BF58-7CDE47B5707E}" srcId="{91B5D6ED-5DC2-4FB3-AF6F-FA1B2FF10ADE}" destId="{40CFC8F9-1626-44A1-9C9E-089321778C35}" srcOrd="8" destOrd="0" parTransId="{8C7E2649-0E7A-486D-B74F-CC1C1F824F78}" sibTransId="{74D6526D-4ADD-483E-9C4B-4695A3D9878B}"/>
    <dgm:cxn modelId="{B3203499-0A86-4281-A434-94D376F3CBE3}" type="presOf" srcId="{4D3DAF36-808C-4437-B1B6-9007BD8B49AE}" destId="{5D7C37AA-F373-4F63-B1C3-0ED072F96B28}" srcOrd="0" destOrd="0" presId="urn:microsoft.com/office/officeart/2005/8/layout/default"/>
    <dgm:cxn modelId="{7BC3449E-4C47-4112-8384-D535BFB1FB51}" srcId="{91B5D6ED-5DC2-4FB3-AF6F-FA1B2FF10ADE}" destId="{7124BCA3-8FD0-45E6-A2ED-3565854C5BA7}" srcOrd="0" destOrd="0" parTransId="{FFD0E621-4981-47F7-8CC8-A1481D831321}" sibTransId="{11116DD9-4069-4ABD-BE60-7F8F3AACA2ED}"/>
    <dgm:cxn modelId="{505B41A4-CC5A-476D-B78B-9A829EB7B7B4}" type="presOf" srcId="{77A25105-EF28-4757-B50A-FB2772C2C845}" destId="{AE4CD287-1B4C-48C7-A4A6-7FB4E5EC15C3}" srcOrd="0" destOrd="0" presId="urn:microsoft.com/office/officeart/2005/8/layout/default"/>
    <dgm:cxn modelId="{4EFD36AB-BEA3-4BA7-89B4-87419841692F}" srcId="{91B5D6ED-5DC2-4FB3-AF6F-FA1B2FF10ADE}" destId="{5A2341AD-B20F-4180-A8FB-B6A6C3F1DED4}" srcOrd="9" destOrd="0" parTransId="{503C9C8D-B511-4655-AE1F-67F0F7BC47B7}" sibTransId="{BE81D16E-75F4-45A6-B91A-7B4647E3854B}"/>
    <dgm:cxn modelId="{BD1464AF-528B-4E6E-9E6F-DEF0FFD08950}" type="presOf" srcId="{CCC95022-E833-4A23-8364-5FB9BC8218FB}" destId="{6061FDB1-6FB9-405B-B355-84D2E3C81300}" srcOrd="0" destOrd="0" presId="urn:microsoft.com/office/officeart/2005/8/layout/default"/>
    <dgm:cxn modelId="{633316B2-AFCC-40D8-ABC7-E174A8A1B999}" srcId="{91B5D6ED-5DC2-4FB3-AF6F-FA1B2FF10ADE}" destId="{B2635A8E-B645-46B4-8860-A86EDA3F6922}" srcOrd="14" destOrd="0" parTransId="{87C61CA3-B64F-4180-99EC-C5E9359F9711}" sibTransId="{C007A1BF-D35B-4825-A33B-31FA61C901D7}"/>
    <dgm:cxn modelId="{19DE42B7-46BB-4B4A-A58D-727996945395}" srcId="{91B5D6ED-5DC2-4FB3-AF6F-FA1B2FF10ADE}" destId="{CBE6248A-3692-4D7E-8190-64BCECDB2BC2}" srcOrd="18" destOrd="0" parTransId="{3F2A5491-BC7D-4766-91B0-B9759FA2914B}" sibTransId="{4D475008-8CC0-4E86-9407-2ED4D90E8D8B}"/>
    <dgm:cxn modelId="{44EB91BC-96FA-40D6-81E1-9D4652436E82}" srcId="{91B5D6ED-5DC2-4FB3-AF6F-FA1B2FF10ADE}" destId="{77A25105-EF28-4757-B50A-FB2772C2C845}" srcOrd="10" destOrd="0" parTransId="{AB842F15-A68B-4925-850C-D146544FC419}" sibTransId="{428434C1-0F02-405E-A494-0EBAEB0B6A06}"/>
    <dgm:cxn modelId="{DE828EBD-8BB4-4C7C-B022-63D39288D847}" type="presOf" srcId="{40CFC8F9-1626-44A1-9C9E-089321778C35}" destId="{DF8787C7-AB38-4E93-A71D-812059647912}" srcOrd="0" destOrd="0" presId="urn:microsoft.com/office/officeart/2005/8/layout/default"/>
    <dgm:cxn modelId="{0E23DDC0-4C1D-4C24-BA97-57D6119C40CC}" srcId="{91B5D6ED-5DC2-4FB3-AF6F-FA1B2FF10ADE}" destId="{5FA0DC45-6DA8-44BC-899B-794DACD91C95}" srcOrd="3" destOrd="0" parTransId="{061C3D6F-AB02-4E96-B709-0A5BF5D7D720}" sibTransId="{2EC01D6A-3EF8-4DFC-8377-638E30E25E96}"/>
    <dgm:cxn modelId="{437182CD-17EC-4E78-BEEA-BF347147AF87}" type="presOf" srcId="{9A7DC9DD-27E8-4D76-8183-22555CD617B7}" destId="{550C7944-A982-41C4-BF27-76A475CC9669}" srcOrd="0" destOrd="0" presId="urn:microsoft.com/office/officeart/2005/8/layout/default"/>
    <dgm:cxn modelId="{9093ACE2-57D6-4322-8285-01598C24BB5D}" srcId="{91B5D6ED-5DC2-4FB3-AF6F-FA1B2FF10ADE}" destId="{4A906F04-4EA5-4442-9484-2CC21A92122C}" srcOrd="4" destOrd="0" parTransId="{7DC39CDF-3C55-4CEE-A922-6B7AAA289147}" sibTransId="{60726315-8CE4-4B35-8066-C5B903F46B9B}"/>
    <dgm:cxn modelId="{C5A866E5-9175-46D8-A361-DD8B8B8B0B91}" type="presOf" srcId="{B2635A8E-B645-46B4-8860-A86EDA3F6922}" destId="{160B8CFF-F527-4199-BDEC-9E970F4FE53F}" srcOrd="0" destOrd="0" presId="urn:microsoft.com/office/officeart/2005/8/layout/default"/>
    <dgm:cxn modelId="{1C6D74EB-9506-43FA-8CC8-6295EEE3E9E0}" type="presOf" srcId="{AFC0306B-2C30-47D7-B78E-1070275807F1}" destId="{45781A47-D88E-4335-9DEF-950E4DEE63A3}" srcOrd="0" destOrd="0" presId="urn:microsoft.com/office/officeart/2005/8/layout/default"/>
    <dgm:cxn modelId="{45AD58EC-84DA-4B11-9D2A-3519CD62C494}" type="presOf" srcId="{9FD7FA96-CA9E-4A78-8AA5-DA2CC8B3D4FF}" destId="{57EF714A-D446-4DF4-9EA8-570905C51A04}" srcOrd="0" destOrd="0" presId="urn:microsoft.com/office/officeart/2005/8/layout/default"/>
    <dgm:cxn modelId="{B04E8FEC-879E-43E6-A022-D2179D37030A}" type="presOf" srcId="{7124BCA3-8FD0-45E6-A2ED-3565854C5BA7}" destId="{5BA6FA47-536A-4C82-8739-A1B2D12E1DC5}" srcOrd="0" destOrd="0" presId="urn:microsoft.com/office/officeart/2005/8/layout/default"/>
    <dgm:cxn modelId="{49E72CFB-A2A1-4EE5-AD41-26D3FA75F500}" type="presOf" srcId="{82BE1774-6E31-4722-B6FC-676C8E0B7217}" destId="{DEF80FBA-28E5-46D8-A9D0-FE0BA5868D86}" srcOrd="0" destOrd="0" presId="urn:microsoft.com/office/officeart/2005/8/layout/default"/>
    <dgm:cxn modelId="{3413C8CA-5AFE-4593-932B-9CC44349A124}" type="presParOf" srcId="{A9793CEC-8531-465C-AE55-D638D50D00F9}" destId="{5BA6FA47-536A-4C82-8739-A1B2D12E1DC5}" srcOrd="0" destOrd="0" presId="urn:microsoft.com/office/officeart/2005/8/layout/default"/>
    <dgm:cxn modelId="{C7CFE50A-A3AD-4020-9ED4-EA4F23CB0B80}" type="presParOf" srcId="{A9793CEC-8531-465C-AE55-D638D50D00F9}" destId="{52ECC652-3A83-4F46-BA25-722B9BF46343}" srcOrd="1" destOrd="0" presId="urn:microsoft.com/office/officeart/2005/8/layout/default"/>
    <dgm:cxn modelId="{F671E773-7CD9-41AF-84EA-51A2D3E09DCB}" type="presParOf" srcId="{A9793CEC-8531-465C-AE55-D638D50D00F9}" destId="{57EF714A-D446-4DF4-9EA8-570905C51A04}" srcOrd="2" destOrd="0" presId="urn:microsoft.com/office/officeart/2005/8/layout/default"/>
    <dgm:cxn modelId="{940B3642-3C46-48AF-88CF-5653A74F295F}" type="presParOf" srcId="{A9793CEC-8531-465C-AE55-D638D50D00F9}" destId="{F7F5CEF0-76FC-4D92-A7ED-6F7FF4687360}" srcOrd="3" destOrd="0" presId="urn:microsoft.com/office/officeart/2005/8/layout/default"/>
    <dgm:cxn modelId="{7D54F7DC-3441-4D7A-872D-5586D9A5C64B}" type="presParOf" srcId="{A9793CEC-8531-465C-AE55-D638D50D00F9}" destId="{EE0F31B6-D0AA-4BD6-B52F-9E2726C41ABF}" srcOrd="4" destOrd="0" presId="urn:microsoft.com/office/officeart/2005/8/layout/default"/>
    <dgm:cxn modelId="{ACD85798-EBB5-4214-9400-B50D67A103D5}" type="presParOf" srcId="{A9793CEC-8531-465C-AE55-D638D50D00F9}" destId="{E4856FBB-A998-4BB5-AC3C-F8D1B25FDA19}" srcOrd="5" destOrd="0" presId="urn:microsoft.com/office/officeart/2005/8/layout/default"/>
    <dgm:cxn modelId="{EA63BCE1-92A2-4BEE-AA8E-32FC77FE8446}" type="presParOf" srcId="{A9793CEC-8531-465C-AE55-D638D50D00F9}" destId="{D386C967-5A81-432B-A357-9A2D343C3C77}" srcOrd="6" destOrd="0" presId="urn:microsoft.com/office/officeart/2005/8/layout/default"/>
    <dgm:cxn modelId="{9C2758AA-6D0F-4A24-8082-DA393BAF27FF}" type="presParOf" srcId="{A9793CEC-8531-465C-AE55-D638D50D00F9}" destId="{950D789B-BC47-4FA6-9973-A2227B9CA173}" srcOrd="7" destOrd="0" presId="urn:microsoft.com/office/officeart/2005/8/layout/default"/>
    <dgm:cxn modelId="{8BFD1191-F866-447B-A436-B89CC68EB709}" type="presParOf" srcId="{A9793CEC-8531-465C-AE55-D638D50D00F9}" destId="{1301A638-CE0D-4059-A62B-479F95F7A2CE}" srcOrd="8" destOrd="0" presId="urn:microsoft.com/office/officeart/2005/8/layout/default"/>
    <dgm:cxn modelId="{E99C9BC9-B663-4CB7-956A-AEA2BAC6F69E}" type="presParOf" srcId="{A9793CEC-8531-465C-AE55-D638D50D00F9}" destId="{05C8B156-13AD-4A5A-A42C-57A9F5E4DD1E}" srcOrd="9" destOrd="0" presId="urn:microsoft.com/office/officeart/2005/8/layout/default"/>
    <dgm:cxn modelId="{C47D4D22-5BA4-4310-89ED-CD4BFA95E116}" type="presParOf" srcId="{A9793CEC-8531-465C-AE55-D638D50D00F9}" destId="{6061FDB1-6FB9-405B-B355-84D2E3C81300}" srcOrd="10" destOrd="0" presId="urn:microsoft.com/office/officeart/2005/8/layout/default"/>
    <dgm:cxn modelId="{15D612F6-9D96-46BA-A139-4637EF0A672F}" type="presParOf" srcId="{A9793CEC-8531-465C-AE55-D638D50D00F9}" destId="{D7D7D8AA-9C7A-4BFA-8565-C87A3A0D3109}" srcOrd="11" destOrd="0" presId="urn:microsoft.com/office/officeart/2005/8/layout/default"/>
    <dgm:cxn modelId="{1BB88CA6-BBF8-4244-8A70-4B3473656ECD}" type="presParOf" srcId="{A9793CEC-8531-465C-AE55-D638D50D00F9}" destId="{B8B6CE8D-338E-4C28-9B68-9DD84537824C}" srcOrd="12" destOrd="0" presId="urn:microsoft.com/office/officeart/2005/8/layout/default"/>
    <dgm:cxn modelId="{6A48BB54-CDF6-4503-94EA-104447103189}" type="presParOf" srcId="{A9793CEC-8531-465C-AE55-D638D50D00F9}" destId="{6B1770D7-642A-4608-940E-D67F8423413B}" srcOrd="13" destOrd="0" presId="urn:microsoft.com/office/officeart/2005/8/layout/default"/>
    <dgm:cxn modelId="{AC0A1616-594C-4AF8-A083-58FA3E3157F1}" type="presParOf" srcId="{A9793CEC-8531-465C-AE55-D638D50D00F9}" destId="{DEF80FBA-28E5-46D8-A9D0-FE0BA5868D86}" srcOrd="14" destOrd="0" presId="urn:microsoft.com/office/officeart/2005/8/layout/default"/>
    <dgm:cxn modelId="{788E2050-476C-4529-96F1-D5A42776D20B}" type="presParOf" srcId="{A9793CEC-8531-465C-AE55-D638D50D00F9}" destId="{48282FA8-C0BC-4221-99B0-4E0EA26BE8DB}" srcOrd="15" destOrd="0" presId="urn:microsoft.com/office/officeart/2005/8/layout/default"/>
    <dgm:cxn modelId="{0DB180D3-8BC3-4A63-9BB8-3581836D0FC8}" type="presParOf" srcId="{A9793CEC-8531-465C-AE55-D638D50D00F9}" destId="{DF8787C7-AB38-4E93-A71D-812059647912}" srcOrd="16" destOrd="0" presId="urn:microsoft.com/office/officeart/2005/8/layout/default"/>
    <dgm:cxn modelId="{94B5F0C3-9799-4213-A580-1E66B30267AA}" type="presParOf" srcId="{A9793CEC-8531-465C-AE55-D638D50D00F9}" destId="{75D5E155-C1B2-417F-AA23-641DD1DA2C02}" srcOrd="17" destOrd="0" presId="urn:microsoft.com/office/officeart/2005/8/layout/default"/>
    <dgm:cxn modelId="{A579C612-6205-4C2C-9C40-2A70A3E40FBA}" type="presParOf" srcId="{A9793CEC-8531-465C-AE55-D638D50D00F9}" destId="{462BF593-9202-44A5-B9E6-EDA0B9863533}" srcOrd="18" destOrd="0" presId="urn:microsoft.com/office/officeart/2005/8/layout/default"/>
    <dgm:cxn modelId="{A0EC95DF-52E3-4822-A0C8-37CE5334ACEF}" type="presParOf" srcId="{A9793CEC-8531-465C-AE55-D638D50D00F9}" destId="{BE7780F1-99E6-4B94-93A2-240720ED941B}" srcOrd="19" destOrd="0" presId="urn:microsoft.com/office/officeart/2005/8/layout/default"/>
    <dgm:cxn modelId="{C9329CFD-FB31-4F04-82BF-5EC603F5510F}" type="presParOf" srcId="{A9793CEC-8531-465C-AE55-D638D50D00F9}" destId="{AE4CD287-1B4C-48C7-A4A6-7FB4E5EC15C3}" srcOrd="20" destOrd="0" presId="urn:microsoft.com/office/officeart/2005/8/layout/default"/>
    <dgm:cxn modelId="{E2525282-F4A8-481D-A9B5-C7FA365F91D9}" type="presParOf" srcId="{A9793CEC-8531-465C-AE55-D638D50D00F9}" destId="{E55F114E-BDC2-4E2B-9B78-E6C3C39A7406}" srcOrd="21" destOrd="0" presId="urn:microsoft.com/office/officeart/2005/8/layout/default"/>
    <dgm:cxn modelId="{19FC5798-D1C6-46B0-A65B-5C1013646715}" type="presParOf" srcId="{A9793CEC-8531-465C-AE55-D638D50D00F9}" destId="{883DFB52-FDE4-4401-B41D-0E212DBEFBF7}" srcOrd="22" destOrd="0" presId="urn:microsoft.com/office/officeart/2005/8/layout/default"/>
    <dgm:cxn modelId="{6FCF272C-97E1-4C78-80FB-8E05CC6EE044}" type="presParOf" srcId="{A9793CEC-8531-465C-AE55-D638D50D00F9}" destId="{9DE4C680-8A2D-4077-8568-841DE2ED90A4}" srcOrd="23" destOrd="0" presId="urn:microsoft.com/office/officeart/2005/8/layout/default"/>
    <dgm:cxn modelId="{07F1B34B-ED50-471E-90D6-85CA12B36948}" type="presParOf" srcId="{A9793CEC-8531-465C-AE55-D638D50D00F9}" destId="{45781A47-D88E-4335-9DEF-950E4DEE63A3}" srcOrd="24" destOrd="0" presId="urn:microsoft.com/office/officeart/2005/8/layout/default"/>
    <dgm:cxn modelId="{FD3FFAF7-F1AD-4661-9095-75AC2A9815D3}" type="presParOf" srcId="{A9793CEC-8531-465C-AE55-D638D50D00F9}" destId="{9E62306A-8E03-422F-9AF7-C55B9B8A9D48}" srcOrd="25" destOrd="0" presId="urn:microsoft.com/office/officeart/2005/8/layout/default"/>
    <dgm:cxn modelId="{3CB7C667-2422-4A72-95EA-A845864BB8BA}" type="presParOf" srcId="{A9793CEC-8531-465C-AE55-D638D50D00F9}" destId="{550C7944-A982-41C4-BF27-76A475CC9669}" srcOrd="26" destOrd="0" presId="urn:microsoft.com/office/officeart/2005/8/layout/default"/>
    <dgm:cxn modelId="{8066166B-B83D-44D4-A463-FBEA8190B451}" type="presParOf" srcId="{A9793CEC-8531-465C-AE55-D638D50D00F9}" destId="{7254D6B2-5DC5-4D80-95A5-4AE1FD3E40E7}" srcOrd="27" destOrd="0" presId="urn:microsoft.com/office/officeart/2005/8/layout/default"/>
    <dgm:cxn modelId="{86184C6B-ECF8-4DD5-A3BB-2CF93D9286EE}" type="presParOf" srcId="{A9793CEC-8531-465C-AE55-D638D50D00F9}" destId="{160B8CFF-F527-4199-BDEC-9E970F4FE53F}" srcOrd="28" destOrd="0" presId="urn:microsoft.com/office/officeart/2005/8/layout/default"/>
    <dgm:cxn modelId="{A0A86B98-8375-46D1-9CB5-5CDE4DB2E86D}" type="presParOf" srcId="{A9793CEC-8531-465C-AE55-D638D50D00F9}" destId="{1F1191E8-CA65-4091-913E-9DA90E599704}" srcOrd="29" destOrd="0" presId="urn:microsoft.com/office/officeart/2005/8/layout/default"/>
    <dgm:cxn modelId="{AB0E89E8-4271-41F5-A9D1-36BF436A5196}" type="presParOf" srcId="{A9793CEC-8531-465C-AE55-D638D50D00F9}" destId="{DA9896C2-ED88-4805-9654-D29FE3B8BD19}" srcOrd="30" destOrd="0" presId="urn:microsoft.com/office/officeart/2005/8/layout/default"/>
    <dgm:cxn modelId="{2D2C3B00-1A19-4A9B-A732-53BC4C186790}" type="presParOf" srcId="{A9793CEC-8531-465C-AE55-D638D50D00F9}" destId="{D0A10482-44A7-43EB-9CAA-86DD2E74552E}" srcOrd="31" destOrd="0" presId="urn:microsoft.com/office/officeart/2005/8/layout/default"/>
    <dgm:cxn modelId="{1D8E7EC4-B785-4B5C-9176-4D94DAF8D2CB}" type="presParOf" srcId="{A9793CEC-8531-465C-AE55-D638D50D00F9}" destId="{5D7C37AA-F373-4F63-B1C3-0ED072F96B28}" srcOrd="32" destOrd="0" presId="urn:microsoft.com/office/officeart/2005/8/layout/default"/>
    <dgm:cxn modelId="{CF37F8E1-E9FA-472B-84FA-E90F6A554C1E}" type="presParOf" srcId="{A9793CEC-8531-465C-AE55-D638D50D00F9}" destId="{567D8C00-2B44-4CB3-BA7B-F7AFB48234D0}" srcOrd="33" destOrd="0" presId="urn:microsoft.com/office/officeart/2005/8/layout/default"/>
    <dgm:cxn modelId="{D539B5F9-F3F1-4D00-8EAA-2F0B58DE87AF}" type="presParOf" srcId="{A9793CEC-8531-465C-AE55-D638D50D00F9}" destId="{7FD5BCBD-9D7D-4798-989E-C4B51CC1184E}" srcOrd="34" destOrd="0" presId="urn:microsoft.com/office/officeart/2005/8/layout/default"/>
    <dgm:cxn modelId="{A34106A3-0C52-459D-9607-B45BA4267FBE}" type="presParOf" srcId="{A9793CEC-8531-465C-AE55-D638D50D00F9}" destId="{9838DC63-5D73-4F36-8E7B-5292FDB10EC8}" srcOrd="35" destOrd="0" presId="urn:microsoft.com/office/officeart/2005/8/layout/default"/>
    <dgm:cxn modelId="{3C58AE91-84D6-41C8-A1DA-93CE47D2B2DF}" type="presParOf" srcId="{A9793CEC-8531-465C-AE55-D638D50D00F9}" destId="{8E83CB10-B808-4A99-BF7A-3625DDA36918}" srcOrd="36" destOrd="0" presId="urn:microsoft.com/office/officeart/2005/8/layout/default"/>
    <dgm:cxn modelId="{566FB67A-20DC-47E8-A400-1B7B952FC269}" type="presParOf" srcId="{A9793CEC-8531-465C-AE55-D638D50D00F9}" destId="{C1D800F1-7CE3-4F15-AAA5-0B1018B768B9}" srcOrd="37" destOrd="0" presId="urn:microsoft.com/office/officeart/2005/8/layout/default"/>
    <dgm:cxn modelId="{2DC045F2-ED8D-4276-B0E1-95C4FB1C6754}" type="presParOf" srcId="{A9793CEC-8531-465C-AE55-D638D50D00F9}" destId="{B4D3985E-4F16-496C-861D-8DE950E36440}" srcOrd="3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596383-4D59-43A0-92D3-987C569AA954}">
      <dsp:nvSpPr>
        <dsp:cNvPr id="0" name=""/>
        <dsp:cNvSpPr/>
      </dsp:nvSpPr>
      <dsp:spPr>
        <a:xfrm>
          <a:off x="1212569" y="907870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DFB61A-4F72-4364-B3B3-583C6D92CDFC}">
      <dsp:nvSpPr>
        <dsp:cNvPr id="0" name=""/>
        <dsp:cNvSpPr/>
      </dsp:nvSpPr>
      <dsp:spPr>
        <a:xfrm>
          <a:off x="417971" y="2588467"/>
          <a:ext cx="288945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Install and Download SQL Server Express (2022,or 2025 (much preferred)) from Microsoft</a:t>
          </a:r>
          <a:endParaRPr lang="en-US" sz="1200" kern="1200" dirty="0"/>
        </a:p>
      </dsp:txBody>
      <dsp:txXfrm>
        <a:off x="417971" y="2588467"/>
        <a:ext cx="2889450" cy="855000"/>
      </dsp:txXfrm>
    </dsp:sp>
    <dsp:sp modelId="{76D98688-242E-4601-92F7-014494BED513}">
      <dsp:nvSpPr>
        <dsp:cNvPr id="0" name=""/>
        <dsp:cNvSpPr/>
      </dsp:nvSpPr>
      <dsp:spPr>
        <a:xfrm>
          <a:off x="4607673" y="907870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2CAD20-4F30-4FD5-8282-32F820B38E6A}">
      <dsp:nvSpPr>
        <dsp:cNvPr id="0" name=""/>
        <dsp:cNvSpPr/>
      </dsp:nvSpPr>
      <dsp:spPr>
        <a:xfrm>
          <a:off x="3813075" y="2588467"/>
          <a:ext cx="288945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 dirty="0">
              <a:solidFill>
                <a:schemeClr val="tx1"/>
              </a:solidFill>
            </a:rPr>
            <a:t>Files and sources from my repository: </a:t>
          </a:r>
          <a:endParaRPr lang="en-US" sz="1100" b="1" kern="1200" dirty="0">
            <a:solidFill>
              <a:schemeClr val="tx1"/>
            </a:solidFill>
          </a:endParaRPr>
        </a:p>
      </dsp:txBody>
      <dsp:txXfrm>
        <a:off x="3813075" y="2588467"/>
        <a:ext cx="2889450" cy="855000"/>
      </dsp:txXfrm>
    </dsp:sp>
    <dsp:sp modelId="{91FC0951-73EA-4668-B2BE-91930015E203}">
      <dsp:nvSpPr>
        <dsp:cNvPr id="0" name=""/>
        <dsp:cNvSpPr/>
      </dsp:nvSpPr>
      <dsp:spPr>
        <a:xfrm>
          <a:off x="8002777" y="907870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05FAB9-80AA-4185-8D1A-98CE80BAFBFD}">
      <dsp:nvSpPr>
        <dsp:cNvPr id="0" name=""/>
        <dsp:cNvSpPr/>
      </dsp:nvSpPr>
      <dsp:spPr>
        <a:xfrm>
          <a:off x="7208178" y="2588467"/>
          <a:ext cx="288945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hlinkClick xmlns:r="http://schemas.openxmlformats.org/officeDocument/2006/relationships" r:id="rId4"/>
            </a:rPr>
            <a:t>Main-Stuff/DA Bootcamp 2026 </a:t>
          </a:r>
          <a:r>
            <a:rPr lang="en-AU" sz="1100" kern="1200" dirty="0" err="1">
              <a:hlinkClick xmlns:r="http://schemas.openxmlformats.org/officeDocument/2006/relationships" r:id="rId4"/>
            </a:rPr>
            <a:t>Emergi</a:t>
          </a:r>
          <a:r>
            <a:rPr lang="en-AU" sz="1100" kern="1200" dirty="0">
              <a:hlinkClick xmlns:r="http://schemas.openxmlformats.org/officeDocument/2006/relationships" r:id="rId4"/>
            </a:rPr>
            <a:t> Mentors/Week 2 SQL Mastery/Module 4 Advanced SQL and Enterprise Analytics/</a:t>
          </a:r>
          <a:r>
            <a:rPr lang="en-AU" sz="1100" kern="1200" dirty="0" err="1">
              <a:hlinkClick xmlns:r="http://schemas.openxmlformats.org/officeDocument/2006/relationships" r:id="rId4"/>
            </a:rPr>
            <a:t>AusMine_Resources_Mining_Operations_Analytics</a:t>
          </a:r>
          <a:r>
            <a:rPr lang="en-AU" sz="1100" kern="1200" dirty="0">
              <a:hlinkClick xmlns:r="http://schemas.openxmlformats.org/officeDocument/2006/relationships" r:id="rId4"/>
            </a:rPr>
            <a:t> at main · Mikele02171/Main-Stuff</a:t>
          </a:r>
          <a:endParaRPr lang="en-US" sz="1100" kern="1200" dirty="0">
            <a:solidFill>
              <a:schemeClr val="tx1"/>
            </a:solidFill>
          </a:endParaRPr>
        </a:p>
      </dsp:txBody>
      <dsp:txXfrm>
        <a:off x="7208178" y="2588467"/>
        <a:ext cx="2889450" cy="85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A6FA47-536A-4C82-8739-A1B2D12E1DC5}">
      <dsp:nvSpPr>
        <dsp:cNvPr id="0" name=""/>
        <dsp:cNvSpPr/>
      </dsp:nvSpPr>
      <dsp:spPr>
        <a:xfrm>
          <a:off x="26314" y="2590"/>
          <a:ext cx="1609687" cy="96581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/>
            <a:t>Create database for AusMine Resources</a:t>
          </a:r>
          <a:endParaRPr lang="en-US" sz="1000" kern="1200"/>
        </a:p>
      </dsp:txBody>
      <dsp:txXfrm>
        <a:off x="26314" y="2590"/>
        <a:ext cx="1609687" cy="965812"/>
      </dsp:txXfrm>
    </dsp:sp>
    <dsp:sp modelId="{57EF714A-D446-4DF4-9EA8-570905C51A04}">
      <dsp:nvSpPr>
        <dsp:cNvPr id="0" name=""/>
        <dsp:cNvSpPr/>
      </dsp:nvSpPr>
      <dsp:spPr>
        <a:xfrm>
          <a:off x="1796971" y="2590"/>
          <a:ext cx="1609687" cy="965812"/>
        </a:xfrm>
        <a:prstGeom prst="rect">
          <a:avLst/>
        </a:prstGeom>
        <a:gradFill rotWithShape="0">
          <a:gsLst>
            <a:gs pos="0">
              <a:schemeClr val="accent2">
                <a:hueOff val="339138"/>
                <a:satOff val="-973"/>
                <a:lumOff val="-155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39138"/>
                <a:satOff val="-973"/>
                <a:lumOff val="-155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39138"/>
                <a:satOff val="-973"/>
                <a:lumOff val="-155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DDL: Create tables for sites, employees</a:t>
          </a:r>
          <a:endParaRPr lang="en-US" sz="1000" kern="1200" dirty="0"/>
        </a:p>
      </dsp:txBody>
      <dsp:txXfrm>
        <a:off x="1796971" y="2590"/>
        <a:ext cx="1609687" cy="965812"/>
      </dsp:txXfrm>
    </dsp:sp>
    <dsp:sp modelId="{EE0F31B6-D0AA-4BD6-B52F-9E2726C41ABF}">
      <dsp:nvSpPr>
        <dsp:cNvPr id="0" name=""/>
        <dsp:cNvSpPr/>
      </dsp:nvSpPr>
      <dsp:spPr>
        <a:xfrm>
          <a:off x="3567627" y="2590"/>
          <a:ext cx="1609687" cy="965812"/>
        </a:xfrm>
        <a:prstGeom prst="rect">
          <a:avLst/>
        </a:prstGeom>
        <a:gradFill rotWithShape="0">
          <a:gsLst>
            <a:gs pos="0">
              <a:schemeClr val="accent2">
                <a:hueOff val="678275"/>
                <a:satOff val="-1947"/>
                <a:lumOff val="-311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78275"/>
                <a:satOff val="-1947"/>
                <a:lumOff val="-311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78275"/>
                <a:satOff val="-1947"/>
                <a:lumOff val="-311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DDL: Create tables for equipment, production</a:t>
          </a:r>
          <a:endParaRPr lang="en-US" sz="1000" kern="1200" dirty="0"/>
        </a:p>
      </dsp:txBody>
      <dsp:txXfrm>
        <a:off x="3567627" y="2590"/>
        <a:ext cx="1609687" cy="965812"/>
      </dsp:txXfrm>
    </dsp:sp>
    <dsp:sp modelId="{D386C967-5A81-432B-A357-9A2D343C3C77}">
      <dsp:nvSpPr>
        <dsp:cNvPr id="0" name=""/>
        <dsp:cNvSpPr/>
      </dsp:nvSpPr>
      <dsp:spPr>
        <a:xfrm>
          <a:off x="5338284" y="2590"/>
          <a:ext cx="1609687" cy="965812"/>
        </a:xfrm>
        <a:prstGeom prst="rect">
          <a:avLst/>
        </a:prstGeom>
        <a:gradFill rotWithShape="0">
          <a:gsLst>
            <a:gs pos="0">
              <a:schemeClr val="accent2">
                <a:hueOff val="1017413"/>
                <a:satOff val="-2920"/>
                <a:lumOff val="-467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017413"/>
                <a:satOff val="-2920"/>
                <a:lumOff val="-467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017413"/>
                <a:satOff val="-2920"/>
                <a:lumOff val="-467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DDL: Create safety incidents, Operations costs </a:t>
          </a:r>
          <a:endParaRPr lang="en-US" sz="1000" kern="1200" dirty="0"/>
        </a:p>
      </dsp:txBody>
      <dsp:txXfrm>
        <a:off x="5338284" y="2590"/>
        <a:ext cx="1609687" cy="965812"/>
      </dsp:txXfrm>
    </dsp:sp>
    <dsp:sp modelId="{1301A638-CE0D-4059-A62B-479F95F7A2CE}">
      <dsp:nvSpPr>
        <dsp:cNvPr id="0" name=""/>
        <dsp:cNvSpPr/>
      </dsp:nvSpPr>
      <dsp:spPr>
        <a:xfrm>
          <a:off x="7108940" y="2590"/>
          <a:ext cx="1609687" cy="965812"/>
        </a:xfrm>
        <a:prstGeom prst="rect">
          <a:avLst/>
        </a:prstGeom>
        <a:gradFill rotWithShape="0">
          <a:gsLst>
            <a:gs pos="0">
              <a:schemeClr val="accent2">
                <a:hueOff val="1356550"/>
                <a:satOff val="-3893"/>
                <a:lumOff val="-623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356550"/>
                <a:satOff val="-3893"/>
                <a:lumOff val="-623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356550"/>
                <a:satOff val="-3893"/>
                <a:lumOff val="-623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DDL: Create indexes for performance </a:t>
          </a:r>
          <a:endParaRPr lang="en-US" sz="1000" kern="1200" dirty="0"/>
        </a:p>
      </dsp:txBody>
      <dsp:txXfrm>
        <a:off x="7108940" y="2590"/>
        <a:ext cx="1609687" cy="965812"/>
      </dsp:txXfrm>
    </dsp:sp>
    <dsp:sp modelId="{6061FDB1-6FB9-405B-B355-84D2E3C81300}">
      <dsp:nvSpPr>
        <dsp:cNvPr id="0" name=""/>
        <dsp:cNvSpPr/>
      </dsp:nvSpPr>
      <dsp:spPr>
        <a:xfrm>
          <a:off x="8879597" y="2590"/>
          <a:ext cx="1609687" cy="965812"/>
        </a:xfrm>
        <a:prstGeom prst="rect">
          <a:avLst/>
        </a:prstGeom>
        <a:gradFill rotWithShape="0">
          <a:gsLst>
            <a:gs pos="0">
              <a:schemeClr val="accent2">
                <a:hueOff val="1695688"/>
                <a:satOff val="-4867"/>
                <a:lumOff val="-77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95688"/>
                <a:satOff val="-4867"/>
                <a:lumOff val="-77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95688"/>
                <a:satOff val="-4867"/>
                <a:lumOff val="-77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DML: Inserting values into sites, Employees, Equipment, Production, Safety Incidents, Operations costs </a:t>
          </a:r>
          <a:endParaRPr lang="en-US" sz="1000" kern="1200" dirty="0"/>
        </a:p>
      </dsp:txBody>
      <dsp:txXfrm>
        <a:off x="8879597" y="2590"/>
        <a:ext cx="1609687" cy="965812"/>
      </dsp:txXfrm>
    </dsp:sp>
    <dsp:sp modelId="{B8B6CE8D-338E-4C28-9B68-9DD84537824C}">
      <dsp:nvSpPr>
        <dsp:cNvPr id="0" name=""/>
        <dsp:cNvSpPr/>
      </dsp:nvSpPr>
      <dsp:spPr>
        <a:xfrm>
          <a:off x="26314" y="1129371"/>
          <a:ext cx="1609687" cy="965812"/>
        </a:xfrm>
        <a:prstGeom prst="rect">
          <a:avLst/>
        </a:prstGeom>
        <a:gradFill rotWithShape="0">
          <a:gsLst>
            <a:gs pos="0">
              <a:schemeClr val="accent2">
                <a:hueOff val="2034825"/>
                <a:satOff val="-5840"/>
                <a:lumOff val="-935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034825"/>
                <a:satOff val="-5840"/>
                <a:lumOff val="-935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034825"/>
                <a:satOff val="-5840"/>
                <a:lumOff val="-935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DQL: Validation Check</a:t>
          </a:r>
          <a:endParaRPr lang="en-US" sz="1000" kern="1200" dirty="0"/>
        </a:p>
      </dsp:txBody>
      <dsp:txXfrm>
        <a:off x="26314" y="1129371"/>
        <a:ext cx="1609687" cy="965812"/>
      </dsp:txXfrm>
    </dsp:sp>
    <dsp:sp modelId="{DEF80FBA-28E5-46D8-A9D0-FE0BA5868D86}">
      <dsp:nvSpPr>
        <dsp:cNvPr id="0" name=""/>
        <dsp:cNvSpPr/>
      </dsp:nvSpPr>
      <dsp:spPr>
        <a:xfrm>
          <a:off x="1796971" y="1129371"/>
          <a:ext cx="1609687" cy="965812"/>
        </a:xfrm>
        <a:prstGeom prst="rect">
          <a:avLst/>
        </a:prstGeom>
        <a:gradFill rotWithShape="0">
          <a:gsLst>
            <a:gs pos="0">
              <a:schemeClr val="accent2">
                <a:hueOff val="2373963"/>
                <a:satOff val="-6813"/>
                <a:lumOff val="-109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373963"/>
                <a:satOff val="-6813"/>
                <a:lumOff val="-109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373963"/>
                <a:satOff val="-6813"/>
                <a:lumOff val="-109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DQL: Site Performance </a:t>
          </a:r>
          <a:endParaRPr lang="en-US" sz="1000" kern="1200" dirty="0"/>
        </a:p>
      </dsp:txBody>
      <dsp:txXfrm>
        <a:off x="1796971" y="1129371"/>
        <a:ext cx="1609687" cy="965812"/>
      </dsp:txXfrm>
    </dsp:sp>
    <dsp:sp modelId="{DF8787C7-AB38-4E93-A71D-812059647912}">
      <dsp:nvSpPr>
        <dsp:cNvPr id="0" name=""/>
        <dsp:cNvSpPr/>
      </dsp:nvSpPr>
      <dsp:spPr>
        <a:xfrm>
          <a:off x="3567627" y="1129371"/>
          <a:ext cx="1609687" cy="965812"/>
        </a:xfrm>
        <a:prstGeom prst="rect">
          <a:avLst/>
        </a:prstGeom>
        <a:gradFill rotWithShape="0">
          <a:gsLst>
            <a:gs pos="0">
              <a:schemeClr val="accent2">
                <a:hueOff val="2713101"/>
                <a:satOff val="-7787"/>
                <a:lumOff val="-1246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713101"/>
                <a:satOff val="-7787"/>
                <a:lumOff val="-1246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713101"/>
                <a:satOff val="-7787"/>
                <a:lumOff val="-1246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DQL: View for Active Sites</a:t>
          </a:r>
          <a:endParaRPr lang="en-US" sz="1000" kern="1200" dirty="0"/>
        </a:p>
      </dsp:txBody>
      <dsp:txXfrm>
        <a:off x="3567627" y="1129371"/>
        <a:ext cx="1609687" cy="965812"/>
      </dsp:txXfrm>
    </dsp:sp>
    <dsp:sp modelId="{462BF593-9202-44A5-B9E6-EDA0B9863533}">
      <dsp:nvSpPr>
        <dsp:cNvPr id="0" name=""/>
        <dsp:cNvSpPr/>
      </dsp:nvSpPr>
      <dsp:spPr>
        <a:xfrm>
          <a:off x="5338284" y="1129371"/>
          <a:ext cx="1609687" cy="965812"/>
        </a:xfrm>
        <a:prstGeom prst="rect">
          <a:avLst/>
        </a:prstGeom>
        <a:gradFill rotWithShape="0">
          <a:gsLst>
            <a:gs pos="0">
              <a:schemeClr val="accent2">
                <a:hueOff val="3052238"/>
                <a:satOff val="-8760"/>
                <a:lumOff val="-1402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052238"/>
                <a:satOff val="-8760"/>
                <a:lumOff val="-1402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052238"/>
                <a:satOff val="-8760"/>
                <a:lumOff val="-1402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DQL: Security View, hiding salary data</a:t>
          </a:r>
          <a:endParaRPr lang="en-US" sz="1000" kern="1200" dirty="0"/>
        </a:p>
      </dsp:txBody>
      <dsp:txXfrm>
        <a:off x="5338284" y="1129371"/>
        <a:ext cx="1609687" cy="965812"/>
      </dsp:txXfrm>
    </dsp:sp>
    <dsp:sp modelId="{AE4CD287-1B4C-48C7-A4A6-7FB4E5EC15C3}">
      <dsp:nvSpPr>
        <dsp:cNvPr id="0" name=""/>
        <dsp:cNvSpPr/>
      </dsp:nvSpPr>
      <dsp:spPr>
        <a:xfrm>
          <a:off x="7108940" y="1129371"/>
          <a:ext cx="1609687" cy="965812"/>
        </a:xfrm>
        <a:prstGeom prst="rect">
          <a:avLst/>
        </a:prstGeom>
        <a:gradFill rotWithShape="0">
          <a:gsLst>
            <a:gs pos="0">
              <a:schemeClr val="accent2">
                <a:hueOff val="3391376"/>
                <a:satOff val="-9733"/>
                <a:lumOff val="-155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391376"/>
                <a:satOff val="-9733"/>
                <a:lumOff val="-155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391376"/>
                <a:satOff val="-9733"/>
                <a:lumOff val="-155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DQL: Complex View for </a:t>
          </a:r>
          <a:r>
            <a:rPr lang="en-AU" sz="1000" kern="1200" dirty="0" err="1"/>
            <a:t>SitePerformanceDashboard</a:t>
          </a:r>
          <a:endParaRPr lang="en-US" sz="1000" kern="1200" dirty="0"/>
        </a:p>
      </dsp:txBody>
      <dsp:txXfrm>
        <a:off x="7108940" y="1129371"/>
        <a:ext cx="1609687" cy="965812"/>
      </dsp:txXfrm>
    </dsp:sp>
    <dsp:sp modelId="{883DFB52-FDE4-4401-B41D-0E212DBEFBF7}">
      <dsp:nvSpPr>
        <dsp:cNvPr id="0" name=""/>
        <dsp:cNvSpPr/>
      </dsp:nvSpPr>
      <dsp:spPr>
        <a:xfrm>
          <a:off x="8879597" y="1129371"/>
          <a:ext cx="1609687" cy="965812"/>
        </a:xfrm>
        <a:prstGeom prst="rect">
          <a:avLst/>
        </a:prstGeom>
        <a:gradFill rotWithShape="0">
          <a:gsLst>
            <a:gs pos="0">
              <a:schemeClr val="accent2">
                <a:hueOff val="3730513"/>
                <a:satOff val="-10706"/>
                <a:lumOff val="-1714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730513"/>
                <a:satOff val="-10706"/>
                <a:lumOff val="-1714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730513"/>
                <a:satOff val="-10706"/>
                <a:lumOff val="-1714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DQL: Parameterized Queries on Views on Production Analysis</a:t>
          </a:r>
          <a:endParaRPr lang="en-US" sz="1000" kern="1200" dirty="0"/>
        </a:p>
      </dsp:txBody>
      <dsp:txXfrm>
        <a:off x="8879597" y="1129371"/>
        <a:ext cx="1609687" cy="965812"/>
      </dsp:txXfrm>
    </dsp:sp>
    <dsp:sp modelId="{45781A47-D88E-4335-9DEF-950E4DEE63A3}">
      <dsp:nvSpPr>
        <dsp:cNvPr id="0" name=""/>
        <dsp:cNvSpPr/>
      </dsp:nvSpPr>
      <dsp:spPr>
        <a:xfrm>
          <a:off x="26314" y="2256153"/>
          <a:ext cx="1609687" cy="965812"/>
        </a:xfrm>
        <a:prstGeom prst="rect">
          <a:avLst/>
        </a:prstGeom>
        <a:gradFill rotWithShape="0">
          <a:gsLst>
            <a:gs pos="0">
              <a:schemeClr val="accent2">
                <a:hueOff val="4069650"/>
                <a:satOff val="-11680"/>
                <a:lumOff val="-1870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069650"/>
                <a:satOff val="-11680"/>
                <a:lumOff val="-1870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069650"/>
                <a:satOff val="-11680"/>
                <a:lumOff val="-1870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DQL: Updating Data through views on Site Managers</a:t>
          </a:r>
          <a:endParaRPr lang="en-US" sz="1000" kern="1200" dirty="0"/>
        </a:p>
      </dsp:txBody>
      <dsp:txXfrm>
        <a:off x="26314" y="2256153"/>
        <a:ext cx="1609687" cy="965812"/>
      </dsp:txXfrm>
    </dsp:sp>
    <dsp:sp modelId="{550C7944-A982-41C4-BF27-76A475CC9669}">
      <dsp:nvSpPr>
        <dsp:cNvPr id="0" name=""/>
        <dsp:cNvSpPr/>
      </dsp:nvSpPr>
      <dsp:spPr>
        <a:xfrm>
          <a:off x="1796971" y="2256153"/>
          <a:ext cx="1609687" cy="965812"/>
        </a:xfrm>
        <a:prstGeom prst="rect">
          <a:avLst/>
        </a:prstGeom>
        <a:gradFill rotWithShape="0">
          <a:gsLst>
            <a:gs pos="0">
              <a:schemeClr val="accent2">
                <a:hueOff val="4408788"/>
                <a:satOff val="-12653"/>
                <a:lumOff val="-2025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408788"/>
                <a:satOff val="-12653"/>
                <a:lumOff val="-2025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408788"/>
                <a:satOff val="-12653"/>
                <a:lumOff val="-2025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DQL: Managing views on Active Sites </a:t>
          </a:r>
          <a:endParaRPr lang="en-US" sz="1000" kern="1200" dirty="0"/>
        </a:p>
      </dsp:txBody>
      <dsp:txXfrm>
        <a:off x="1796971" y="2256153"/>
        <a:ext cx="1609687" cy="965812"/>
      </dsp:txXfrm>
    </dsp:sp>
    <dsp:sp modelId="{160B8CFF-F527-4199-BDEC-9E970F4FE53F}">
      <dsp:nvSpPr>
        <dsp:cNvPr id="0" name=""/>
        <dsp:cNvSpPr/>
      </dsp:nvSpPr>
      <dsp:spPr>
        <a:xfrm>
          <a:off x="3567627" y="2256153"/>
          <a:ext cx="1609687" cy="965812"/>
        </a:xfrm>
        <a:prstGeom prst="rect">
          <a:avLst/>
        </a:prstGeom>
        <a:gradFill rotWithShape="0">
          <a:gsLst>
            <a:gs pos="0">
              <a:schemeClr val="accent2">
                <a:hueOff val="4747926"/>
                <a:satOff val="-13626"/>
                <a:lumOff val="-2181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747926"/>
                <a:satOff val="-13626"/>
                <a:lumOff val="-2181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747926"/>
                <a:satOff val="-13626"/>
                <a:lumOff val="-2181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DQL: Data Quality Views and Validation </a:t>
          </a:r>
          <a:endParaRPr lang="en-US" sz="1000" kern="1200" dirty="0"/>
        </a:p>
      </dsp:txBody>
      <dsp:txXfrm>
        <a:off x="3567627" y="2256153"/>
        <a:ext cx="1609687" cy="965812"/>
      </dsp:txXfrm>
    </dsp:sp>
    <dsp:sp modelId="{DA9896C2-ED88-4805-9654-D29FE3B8BD19}">
      <dsp:nvSpPr>
        <dsp:cNvPr id="0" name=""/>
        <dsp:cNvSpPr/>
      </dsp:nvSpPr>
      <dsp:spPr>
        <a:xfrm>
          <a:off x="5338284" y="2256153"/>
          <a:ext cx="1609687" cy="965812"/>
        </a:xfrm>
        <a:prstGeom prst="rect">
          <a:avLst/>
        </a:prstGeom>
        <a:gradFill rotWithShape="0">
          <a:gsLst>
            <a:gs pos="0">
              <a:schemeClr val="accent2">
                <a:hueOff val="5087064"/>
                <a:satOff val="-14600"/>
                <a:lumOff val="-2337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087064"/>
                <a:satOff val="-14600"/>
                <a:lumOff val="-2337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087064"/>
                <a:satOff val="-14600"/>
                <a:lumOff val="-2337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DQL: Indexed Views for Performance </a:t>
          </a:r>
          <a:endParaRPr lang="en-US" sz="1000" kern="1200" dirty="0"/>
        </a:p>
      </dsp:txBody>
      <dsp:txXfrm>
        <a:off x="5338284" y="2256153"/>
        <a:ext cx="1609687" cy="965812"/>
      </dsp:txXfrm>
    </dsp:sp>
    <dsp:sp modelId="{5D7C37AA-F373-4F63-B1C3-0ED072F96B28}">
      <dsp:nvSpPr>
        <dsp:cNvPr id="0" name=""/>
        <dsp:cNvSpPr/>
      </dsp:nvSpPr>
      <dsp:spPr>
        <a:xfrm>
          <a:off x="7108940" y="2256153"/>
          <a:ext cx="1609687" cy="965812"/>
        </a:xfrm>
        <a:prstGeom prst="rect">
          <a:avLst/>
        </a:prstGeom>
        <a:gradFill rotWithShape="0">
          <a:gsLst>
            <a:gs pos="0">
              <a:schemeClr val="accent2">
                <a:hueOff val="5426201"/>
                <a:satOff val="-15573"/>
                <a:lumOff val="-2493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426201"/>
                <a:satOff val="-15573"/>
                <a:lumOff val="-2493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426201"/>
                <a:satOff val="-15573"/>
                <a:lumOff val="-2493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DQL: Simple View for Operational Equipment </a:t>
          </a:r>
          <a:endParaRPr lang="en-US" sz="1000" kern="1200" dirty="0"/>
        </a:p>
      </dsp:txBody>
      <dsp:txXfrm>
        <a:off x="7108940" y="2256153"/>
        <a:ext cx="1609687" cy="965812"/>
      </dsp:txXfrm>
    </dsp:sp>
    <dsp:sp modelId="{7FD5BCBD-9D7D-4798-989E-C4B51CC1184E}">
      <dsp:nvSpPr>
        <dsp:cNvPr id="0" name=""/>
        <dsp:cNvSpPr/>
      </dsp:nvSpPr>
      <dsp:spPr>
        <a:xfrm>
          <a:off x="8879597" y="2256153"/>
          <a:ext cx="1609687" cy="965812"/>
        </a:xfrm>
        <a:prstGeom prst="rect">
          <a:avLst/>
        </a:prstGeom>
        <a:gradFill rotWithShape="0">
          <a:gsLst>
            <a:gs pos="0">
              <a:schemeClr val="accent2">
                <a:hueOff val="5765338"/>
                <a:satOff val="-16546"/>
                <a:lumOff val="-264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765338"/>
                <a:satOff val="-16546"/>
                <a:lumOff val="-264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765338"/>
                <a:satOff val="-16546"/>
                <a:lumOff val="-264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DQL: Create Security View for </a:t>
          </a:r>
          <a:r>
            <a:rPr lang="en-AU" sz="1000" kern="1200" dirty="0" err="1"/>
            <a:t>CostSummary</a:t>
          </a:r>
          <a:endParaRPr lang="en-US" sz="1000" kern="1200" dirty="0"/>
        </a:p>
      </dsp:txBody>
      <dsp:txXfrm>
        <a:off x="8879597" y="2256153"/>
        <a:ext cx="1609687" cy="965812"/>
      </dsp:txXfrm>
    </dsp:sp>
    <dsp:sp modelId="{8E83CB10-B808-4A99-BF7A-3625DDA36918}">
      <dsp:nvSpPr>
        <dsp:cNvPr id="0" name=""/>
        <dsp:cNvSpPr/>
      </dsp:nvSpPr>
      <dsp:spPr>
        <a:xfrm>
          <a:off x="3567627" y="3382934"/>
          <a:ext cx="1609687" cy="965812"/>
        </a:xfrm>
        <a:prstGeom prst="rect">
          <a:avLst/>
        </a:prstGeom>
        <a:gradFill rotWithShape="0">
          <a:gsLst>
            <a:gs pos="0">
              <a:schemeClr val="accent2">
                <a:hueOff val="6104476"/>
                <a:satOff val="-17520"/>
                <a:lumOff val="-2805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104476"/>
                <a:satOff val="-17520"/>
                <a:lumOff val="-2805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104476"/>
                <a:satOff val="-17520"/>
                <a:lumOff val="-2805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DQL: Create Analytical Weekly Production Trends View</a:t>
          </a:r>
          <a:endParaRPr lang="en-US" sz="1000" kern="1200" dirty="0"/>
        </a:p>
      </dsp:txBody>
      <dsp:txXfrm>
        <a:off x="3567627" y="3382934"/>
        <a:ext cx="1609687" cy="965812"/>
      </dsp:txXfrm>
    </dsp:sp>
    <dsp:sp modelId="{B4D3985E-4F16-496C-861D-8DE950E36440}">
      <dsp:nvSpPr>
        <dsp:cNvPr id="0" name=""/>
        <dsp:cNvSpPr/>
      </dsp:nvSpPr>
      <dsp:spPr>
        <a:xfrm>
          <a:off x="5338284" y="3382934"/>
          <a:ext cx="1609687" cy="965812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000" kern="1200" dirty="0"/>
            <a:t>DQL: Create Dashboard for Executive Dashboard </a:t>
          </a:r>
          <a:endParaRPr lang="en-US" sz="1000" kern="1200" dirty="0"/>
        </a:p>
      </dsp:txBody>
      <dsp:txXfrm>
        <a:off x="5338284" y="3382934"/>
        <a:ext cx="1609687" cy="9658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DD7C8-78FD-A17D-55DE-579EBDAAC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90CA6A-278C-2930-7741-DD154A8B2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B34C5-DBB6-FF98-865F-34D8AF758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A01E-9829-4CC7-A841-23D8B9B49CDB}" type="datetimeFigureOut">
              <a:rPr lang="en-AU" smtClean="0"/>
              <a:t>22/03/2026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A2730-A5E6-50F0-7783-6F987042D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D3185-2EC8-E823-2B01-2133647CD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AB9D-115E-420F-A081-5B6DE2F8A9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7442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9D261-1C29-CA43-5805-826CCCE07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67A90-2C85-0170-02EA-654909558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89309-4246-EA87-46DB-E6F246409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A01E-9829-4CC7-A841-23D8B9B49CDB}" type="datetimeFigureOut">
              <a:rPr lang="en-AU" smtClean="0"/>
              <a:t>22/03/2026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0AD82-7F1F-5A02-56D7-3786D8325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223BD-8969-257A-9086-B440AA364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AB9D-115E-420F-A081-5B6DE2F8A9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2141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F6D02-935C-5EC0-87A6-D8552F4E2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176E5-0BB9-1BD4-5552-0F8C6295E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AB1C3-7309-0F9E-AFC4-F4787D752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A01E-9829-4CC7-A841-23D8B9B49CDB}" type="datetimeFigureOut">
              <a:rPr lang="en-AU" smtClean="0"/>
              <a:t>22/03/2026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20D8B-BBF1-5AFF-B7C0-6FF2A62F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5831D-9F0C-7246-6881-B805EF5A4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AB9D-115E-420F-A081-5B6DE2F8A9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4067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B5876-E769-A69F-CE68-903D517CF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76362-5B91-90F8-EB06-734079177A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F47CCB-02EA-6CC7-13B3-31F1F2D60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A5A7D-DE88-F8CF-07BD-9BD9E3971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A01E-9829-4CC7-A841-23D8B9B49CDB}" type="datetimeFigureOut">
              <a:rPr lang="en-AU" smtClean="0"/>
              <a:t>22/03/2026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53380-DB2C-E24F-FE48-C15A84E3A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90B45-F97B-F026-2EE6-63AFA944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AB9D-115E-420F-A081-5B6DE2F8A9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7881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B1CAC-E432-1C48-8674-805C3F4A7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391CA-5143-81EE-0B94-666EA44BC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3C5FD-CB08-715C-AE28-23ED32799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7DDCA6-4740-4E44-0D73-60B277ED09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6C80BA-EF5A-3587-B561-9744974073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532DFE-F307-0929-49FA-A7A37219D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A01E-9829-4CC7-A841-23D8B9B49CDB}" type="datetimeFigureOut">
              <a:rPr lang="en-AU" smtClean="0"/>
              <a:t>22/03/2026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59873C-8466-9C57-0EE9-F1D2D64D4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312D0-0AF7-DE82-FECB-B25CB7D15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AB9D-115E-420F-A081-5B6DE2F8A9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9027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0E928-8234-938F-2F0E-7CDB22957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40307D-7FAA-EC70-3D5A-27997D2ED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A01E-9829-4CC7-A841-23D8B9B49CDB}" type="datetimeFigureOut">
              <a:rPr lang="en-AU" smtClean="0"/>
              <a:t>22/03/2026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6656FA-2923-311A-D607-068DA383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6F1E1-8B8D-6D4B-16F3-4DE5E3AB9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AB9D-115E-420F-A081-5B6DE2F8A9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8829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8A5CCB-3CA2-0446-9B40-9A7130D3C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A01E-9829-4CC7-A841-23D8B9B49CDB}" type="datetimeFigureOut">
              <a:rPr lang="en-AU" smtClean="0"/>
              <a:t>22/03/2026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5551BE-FDF8-F6E1-0567-68FCFBFDB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79BCD-53CD-03F1-D5AB-ED6188978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AB9D-115E-420F-A081-5B6DE2F8A9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337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E6651-20D4-8102-E057-770DA7A53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BE623-92A8-805F-4E6B-EB4FFE9B3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8C7D97-8C42-4376-2D16-7430BA87B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62DD6-1056-E6C4-A153-8AEF30FF9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A01E-9829-4CC7-A841-23D8B9B49CDB}" type="datetimeFigureOut">
              <a:rPr lang="en-AU" smtClean="0"/>
              <a:t>22/03/2026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5750A-438E-F085-08CC-97C046C7E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E63C8-BBFD-76DD-E398-613687423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AB9D-115E-420F-A081-5B6DE2F8A9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9631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4E98F-51B1-B92F-B469-25708CE34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01E07E-7175-76B1-BC07-32BF11AC95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FB7D8A-61D2-3D18-8112-117DFFC34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FE9098-A018-9593-A700-1996AB73E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A01E-9829-4CC7-A841-23D8B9B49CDB}" type="datetimeFigureOut">
              <a:rPr lang="en-AU" smtClean="0"/>
              <a:t>22/03/2026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2830E1-2912-8831-0183-8FF2F3AFC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0F51C-CCC3-30DC-DA3B-BBE356BE7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AB9D-115E-420F-A081-5B6DE2F8A9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9571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B0FD3-3647-5249-4C75-69EF56052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F3280E-118B-912C-DCC9-4E9797FC5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A8CB1-58EA-674C-D8E1-A78A37DA3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A01E-9829-4CC7-A841-23D8B9B49CDB}" type="datetimeFigureOut">
              <a:rPr lang="en-AU" smtClean="0"/>
              <a:t>22/03/2026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945F3-4E99-B2B3-306D-42E938A6E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A979F-4374-40A3-8292-27D6F5C91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AB9D-115E-420F-A081-5B6DE2F8A9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6036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B3264F-9C7E-810D-5AF2-42A69F28F8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CA27C-1CAE-D059-0E8A-46E132C09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CC094-C90A-6F98-CF32-575C9BCBA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A01E-9829-4CC7-A841-23D8B9B49CDB}" type="datetimeFigureOut">
              <a:rPr lang="en-AU" smtClean="0"/>
              <a:t>22/03/2026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D83B9-3B12-C028-85A4-3B683B2A4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4EA59-A85B-051C-31F5-FE8EA6745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AB9D-115E-420F-A081-5B6DE2F8A9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4047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A150B0-A370-542E-6F15-9445A10D0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9B883-5B0A-0AC1-F1FC-E226CC0DA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64BF7-67DD-846C-1D56-AD838CDA7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26A01E-9829-4CC7-A841-23D8B9B49CDB}" type="datetimeFigureOut">
              <a:rPr lang="en-AU" smtClean="0"/>
              <a:t>22/03/2026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44DAF-6DCD-32B3-23B5-08F1C9044B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6602F-126D-23A3-099D-EBA7F3B6F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B8AB9D-115E-420F-A081-5B6DE2F8A9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8632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351973-01B7-2A52-96DF-1FC5B22B197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16" r="5596" b="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9DC1009-AF5D-473F-F946-EE5137C4D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AusMine Resources SQL Views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6ACF88-B9AB-C214-0228-07973F78B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Michael Le</a:t>
            </a:r>
          </a:p>
        </p:txBody>
      </p:sp>
    </p:spTree>
    <p:extLst>
      <p:ext uri="{BB962C8B-B14F-4D97-AF65-F5344CB8AC3E}">
        <p14:creationId xmlns:p14="http://schemas.microsoft.com/office/powerpoint/2010/main" val="32710048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C047C-60C5-7C85-A5B7-3002DCD06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Requirements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71B8654-580D-5413-17DD-8B266D4EE6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80227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8916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603E1E0-476B-DAC6-3A43-4334FCD0F76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4205" b="152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451382-23D9-2063-DB97-AA1B5AED5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AU" dirty="0"/>
              <a:t>Content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ACD23D-9E90-4389-7A11-D0AC31C42E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34559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89602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455C8-FCFD-DBF0-922C-2664B42F5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Create database for </a:t>
            </a:r>
            <a:r>
              <a:rPr lang="en-AU" dirty="0" err="1"/>
              <a:t>AusMine</a:t>
            </a:r>
            <a:r>
              <a:rPr lang="en-AU" dirty="0"/>
              <a:t> Resources</a:t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1605D-593B-87DB-5528-8FD9763ED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25000" lnSpcReduction="20000"/>
          </a:bodyPr>
          <a:lstStyle/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master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Drop database if exists (training reset)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AusMine_Resources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ALTER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DATABASE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AusMine_Resources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SINGLE_USER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WITH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ROLLBACK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IMMEDIATE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DROP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DATABASE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AusMine_Resources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Create fresh database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DATABASE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AusMine_Resources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AusMine_Resources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Database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AusMine_Resources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created successfully'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04052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24890-50BC-319B-3807-5D46695B4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DDL: Create tables for sites, employees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47757-B256-26E7-D536-CF2084E68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'--- Creating </a:t>
            </a:r>
            <a:r>
              <a:rPr lang="en-AU" sz="2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AusMine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Resources Database Schema ---'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Sites table (Mining locations)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sites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PRIMARY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IDENTITY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site_code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UNIQUE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opened_date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status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site_manager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CONSTRAINT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CK_state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'WA'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'QLD'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'NT'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'SA'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'NSW'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CONSTRAINT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CK_resource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'Iron Ore'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'Gold'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'Coal'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'Copper'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'Lithium'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CONSTRAINT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CK_status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status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'Maintenance'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'Closed'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962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BF4F7-0213-256B-81C5-C520D937F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5300"/>
            <a:ext cx="10515600" cy="5681663"/>
          </a:xfrm>
        </p:spPr>
        <p:txBody>
          <a:bodyPr>
            <a:normAutofit fontScale="55000" lnSpcReduction="20000"/>
          </a:bodyPr>
          <a:lstStyle/>
          <a:p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Employees table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employees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employee_id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PRIMARY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IDENTITY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employee_code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UNIQUE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first_name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last_name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email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job_title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department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hire_date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annual_salary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12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SENSITIVE DATA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superannuation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12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SENSITIVE DATA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employment_status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CONSTRAINT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FK_employees_sites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FOREIGN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REFERENCES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sites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CONSTRAINT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CK_employment_status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employment_status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'On Leave'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'Terminated'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17016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A6967-C23A-9692-DDF0-C285B37D8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DDL: Create tables for equipment, production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9CD8F-2C96-3960-2C2F-5AC6DE126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Equipment table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equipment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equipment_id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PRIMARY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IDENTITY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equipment_code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UNIQUE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equipment_type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manufacturer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model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purchase_date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purchase_cost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SENSITIVE DATA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operational_status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'Operational'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last_maintenance_date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CONSTRAINT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FK_equipment_sites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FOREIGN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REFERENCES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sites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CONSTRAINT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CK_operational_status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operational_status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'Operational'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'Maintenance'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'Decommissioned'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77203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FE30A-4559-C35E-31CE-C9D28E2FA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3625"/>
            <a:ext cx="10515600" cy="4351338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Production table (Daily production records)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production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PRIMARY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IDENTITY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tonnes_produced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grade_percentage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Quality metric (e.g., iron content %)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shift_type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operating_hours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CONSTRAINT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FK_production_sites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FOREIGN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REFERENCES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sites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CONSTRAINT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CK_shift_type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shift_type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'Day'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'Night'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'Both'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88158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8F4E5-76A8-551D-11BA-D1E8F8800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DDL: Create safety incidents, Operations costs 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2BF56-D176-7C98-ABE9-3BE8F86AF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Safety incidents table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safety_incidents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incident_id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PRIMARY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IDENTITY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incident_date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incident_type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severity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description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500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resolved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BIT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CONSTRAINT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FK_incidents_sites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FOREIGN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REFERENCES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sites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CONSTRAINT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CK_severity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severity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'Minor'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'Moderate'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'Serious'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'Critical'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42953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E4225-3E3F-FE2A-1813-DAD8B0C78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4700"/>
            <a:ext cx="10515600" cy="5402263"/>
          </a:xfrm>
        </p:spPr>
        <p:txBody>
          <a:bodyPr>
            <a:normAutofit fontScale="85000" lnSpcReduction="20000"/>
          </a:bodyPr>
          <a:lstStyle/>
          <a:p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Costs table (Operating costs)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operating_costs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PRIMARY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IDENTITY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cost_category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amount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SENSITIVE DATA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description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CONSTRAINT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FK_costs_sites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FOREIGN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REFERENCES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sites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CONSTRAINT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CK_cost_category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cost_category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Labour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'Equipment'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'Energy'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'Materials'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'Maintenance'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'Other'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712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DBC6C-2643-2AEC-9E09-779DA6B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DDL: Create indexes for performance 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A6236-A59E-3F17-8665-370D6FEBF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Create indexes for performance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IX_production_site_date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production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IX_employees_site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employees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IX_equipment_site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equipment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IX_costs_site_date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operating_costs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cost_date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IX_incidents_site_date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safety_incidents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incident_date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Base tables created with indexes'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74938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C4F1B-B969-936E-3843-2A31E9E13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AU" dirty="0"/>
              <a:t>DML: Inserting values into sites, Employees, Equipment, Production, Safety Incidents, Operations costs 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C12AA-9D48-8DE6-CEB3-BA5096295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Insert mining sites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sites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site_code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opened_date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status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site_manager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'WA-IRON-01'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'Pilbara Iron Mine'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'WA'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'Iron Ore'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'2015-03-15'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'Sarah Mitchell'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'WA-GOLD-01'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'Kalgoorlie Gold Mine'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'WA'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'Gold'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'2012-07-20'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'James Anderson'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'QLD-COAL-01'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'Bowen Basin Coal Mine'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'QLD'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'Coal'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'2010-05-10'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'David Chen'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'NT-GOLD-01'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'Tanami Gold Mine'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'NT'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'Gold'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'2018-11-01'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'Emma Thompson'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'WA-LITH-01'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'Greenbushes Lithium Mine'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'WA'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'Lithium'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'2020-02-15'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'Michael </a:t>
            </a:r>
            <a:r>
              <a:rPr lang="en-AU" sz="2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O''Brien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'QLD-COPR-01'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'Mount Isa Copper Mine'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'QLD'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'Copper'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'2008-09-22'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'Lisa Wong'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'WA-IRON-02'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'Port Hedland Iron Mine'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'WA'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'Iron Ore'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'2014-06-30'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'Robert Taylor'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'SA-COPR-01'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'Olympic Dam Copper Mine'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'SA'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'Copper'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'2005-12-01'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'Maintenance'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'Jennifer Lee'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Inserted 8 mining sites'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9557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B326B-8681-FAF9-107E-713F38C8D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300"/>
            <a:ext cx="10515600" cy="5935663"/>
          </a:xfrm>
        </p:spPr>
        <p:txBody>
          <a:bodyPr>
            <a:normAutofit fontScale="47500" lnSpcReduction="20000"/>
          </a:bodyPr>
          <a:lstStyle/>
          <a:p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Insert employees (120 employees across sites)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@SiteID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@EmpCount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WHILE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@SiteID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8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Site Manager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employees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employee_code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first_name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last_name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email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job_title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department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hire_date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annual_salary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superannuation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employment_status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'EMP-'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'0000'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@SiteID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'Site'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'Manager'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'manager@ausmine.com.au'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'Site Manager'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'Management'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@SiteID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'2020-01-15'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185000.00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17575.00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Engineers (3 per site)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employees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employee_code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first_name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last_name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email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job_title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department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hire_date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annual_salary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superannuation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employment_status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'EMP-'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'0000'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@SiteID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'Mining'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'Engineer1'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'engineer1@ausmine.com.au'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'Mining Engineer'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'Engineering'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@SiteID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'2020-03-01'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125000.00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11875.00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'EMP-'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'0000'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@SiteID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'Mining'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'Engineer2'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'engineer2@ausmine.com.au'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'Mining Engineer'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'Engineering'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@SiteID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'2020-06-15'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125000.00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11875.00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'EMP-'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'0000'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@SiteID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'Process'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'Engineer'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'pengineer@ausmine.com.au'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'Process Engineer'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'Engineering'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@SiteID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'2021-01-10'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115000.00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10925.00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236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78696-B026-681E-B18E-FF93DEC53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1800"/>
            <a:ext cx="10515600" cy="5745163"/>
          </a:xfrm>
        </p:spPr>
        <p:txBody>
          <a:bodyPr>
            <a:normAutofit fontScale="32500" lnSpcReduction="20000"/>
          </a:bodyPr>
          <a:lstStyle/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Operators (10 per site)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@OpCount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WHILE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@OpCount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employees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employee_code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first_name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last_name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email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job_title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department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hire_date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annual_salary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superannuation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employment_status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'EMP-'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RIGHT(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'0000'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@SiteID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@OpCount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'Operator'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@OpCount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'operator'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@OpCount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'@ausmine.com.au'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'Equipment Operator'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'Operations'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@SiteID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MONTH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OpCount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'2023-01-01'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95000.00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9025.00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@OpCount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@OpCount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@SiteID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@SiteID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Inserted 120 employees across all sites'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28586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3995C-4261-0C82-BD3F-6BF014588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>
            <a:normAutofit fontScale="25000" lnSpcReduction="20000"/>
          </a:bodyPr>
          <a:lstStyle/>
          <a:p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Insert equipment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equipment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equipment_code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equipment_type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manufacturer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model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purchase_date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purchase_cost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operational_status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last_maintenance_date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Pilbara Iron Mine (Site 1)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'EQ-001-HAU'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'Haul Truck'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'Caterpillar'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'797F'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'2015-03-20'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5500000.00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'Operational'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'2024-11-15'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'EQ-002-HAU'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'Haul Truck'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'Caterpillar'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'797F'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'2015-03-20'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5500000.00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'Operational'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'2024-11-20'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'EQ-003-EXC'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'Excavator'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'Komatsu'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'PC8000'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'2015-04-10'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8500000.00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'Operational'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'EQ-004-DRL'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'Drill Rig'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'Atlas Copco'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'PV-271'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'2015-05-15'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3200000.00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'Operational'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'2024-11-25'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'EQ-005-DRL'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'Drill Rig'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'Atlas Copco'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'PV-271'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'2015-05-15'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3200000.00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'Maintenance'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'2024-10-30'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Kalgoorlie Gold Mine (Site 2)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'EQ-006-HAU'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'Haul Truck'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'Caterpillar'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'785D'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'2012-08-01'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3500000.00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'Operational'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'2024-11-10'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'EQ-007-EXC'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'Excavator'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'Hitachi'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'EX5600'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'2012-08-15'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6500000.00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'Operational'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'2024-11-18'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'EQ-008-PRO'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'Processing Plant'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'Metso'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'HP400'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'2012-09-01'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12000000.00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'Operational'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'2024-12-05'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it-IT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it-IT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Bowen Basin Coal Mine (Site 3)</a:t>
            </a:r>
            <a:endParaRPr lang="it-IT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'EQ-009-HAU'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'Haul Truck'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'Komatsu'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'930E'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'2010-06-15'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4800000.00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'Operational'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'2024-11-12'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'EQ-010-HAU'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'Haul Truck'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'Komatsu'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'930E'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'2010-06-15'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4800000.00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'Operational'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'2024-11-12'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'EQ-011-EXC'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'Excavator'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'Liebherr'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'R9800'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'2010-07-20'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9500000.00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'Operational'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'2024-12-02'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'EQ-012-CON'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'Conveyor System'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AU" sz="2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Rulmeca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'Heavy Duty'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'2010-08-10'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4500000.00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'Operational'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'2024-11-28'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Tanami Gold Mine (Site 4)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'EQ-013-HAU'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'Haul Truck'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'Caterpillar'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'777G'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'2018-11-15'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2800000.00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'Operational'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'2024-11-22'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'EQ-014-EXC'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'Excavator'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'Komatsu'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'PC4000'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'2018-12-01'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5500000.00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'Operational'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'2024-12-03'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Greenbushes Lithium Mine (Site 5)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'EQ-015-HAU'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'Haul Truck'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'Caterpillar'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'785D'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'2020-03-10'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3500000.00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'Operational'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'2024-11-16'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'EQ-016-PRO'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'Processing Plant'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AU" sz="2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FLSmidth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'Lithium Pro'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'2020-04-15'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15000000.00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'Operational'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Inserted 16 pieces of equipment'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998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9B484-F18E-5E70-945D-734EE857E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00" y="0"/>
            <a:ext cx="10515600" cy="4351338"/>
          </a:xfrm>
        </p:spPr>
        <p:txBody>
          <a:bodyPr>
            <a:normAutofit fontScale="25000" lnSpcReduction="20000"/>
          </a:bodyPr>
          <a:lstStyle/>
          <a:p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Insert production data (Daily production for December 2024)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@ProdDate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@ProdSiteID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WHILE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@ProdDate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'2024-12-31'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@ProdSiteID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WHILE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@ProdSiteID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8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Day shift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production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tonnes_produced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grade_percentage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shift_type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operating_hours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@ProdSiteID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@ProdDate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'Iron Ore'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50000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100000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-- 100-150k </a:t>
            </a:r>
            <a:r>
              <a:rPr lang="en-US" sz="28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tonnes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/day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'Coal'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30000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80000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-- 80-110k </a:t>
            </a:r>
            <a:r>
              <a:rPr lang="en-US" sz="28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tonnes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/day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'Gold'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50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-- 100-150 kg/day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'Copper'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500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-- 1-1.5k </a:t>
            </a:r>
            <a:r>
              <a:rPr lang="en-US" sz="28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tonnes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/day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'Lithium'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200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500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-- 500-700 </a:t>
            </a:r>
            <a:r>
              <a:rPr lang="en-US" sz="28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tonnes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/day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'Iron Ore'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60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-- 60-65% Fe content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'Coal'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75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-- 75-85% carbon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'Gold'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-- 3-5 g/t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'Copper'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-- 2-3%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'Lithium'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0.5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1.5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-- 1.5-2%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'Day'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-- 10-12 hours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sites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@ProdSiteID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status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2936795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BD0B8-1725-C917-CD74-C56606349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250825"/>
            <a:ext cx="10515600" cy="4351338"/>
          </a:xfrm>
        </p:spPr>
        <p:txBody>
          <a:bodyPr>
            <a:normAutofit fontScale="25000" lnSpcReduction="20000"/>
          </a:bodyPr>
          <a:lstStyle/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Night shift (if active)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@ProdSiteID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8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Site 8 is in maintenance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production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tonnes_produced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grade_percentage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shift_type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operating_hours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@ProdSiteID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@ProdDate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'Iron Ore'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CHECKSUM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40000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90000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'Coal'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CHECKSUM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25000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70000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'Gold'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CHECKSUM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40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80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'Copper'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CHECKSUM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400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900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'Lithium'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CHECKSUM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150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450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'Iron Ore'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CHECKSUM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60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'Coal'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CHECKSUM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75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'Gold'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CHECKSUM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'Copper'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CHECKSUM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'Lithium'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CHECKSUM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0.5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1.5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'Night'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CHECKSUM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sites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@ProdSiteID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status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@ProdSiteID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@ProdSiteID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@ProdDate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@ProdDate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Inserted December 2024 production data (434 records)'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0170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AF3F0-EA81-D4AC-5478-8FC312C57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8000"/>
            <a:ext cx="10515600" cy="5668963"/>
          </a:xfrm>
        </p:spPr>
        <p:txBody>
          <a:bodyPr>
            <a:normAutofit fontScale="62500" lnSpcReduction="20000"/>
          </a:bodyPr>
          <a:lstStyle/>
          <a:p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Insert safety incidents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safety_incidents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incident_date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incident_type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severity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description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resolved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'2024-12-05'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'Equipment Failure'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'Moderate'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'Haul truck hydraulic failure'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'2024-12-12'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'Near Miss'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'Minor'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'Vehicle proximity alert'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'2024-12-08'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'Environmental'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'Minor'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'Dust control system adjustment needed'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'2024-12-15'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'Injury'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'Moderate'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'Minor hand injury during maintenance'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'2024-12-20'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'Equipment Failure'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'Serious'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'Conveyor belt malfunction'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'2024-12-10'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'Near Miss'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'Minor'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'Pedestrian alert in restricted area'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'2024-12-18'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'Environmental'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'Moderate'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'Water management system check'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6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'2024-12-22'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'Equipment Failure'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'Minor'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'Sensor calibration required'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Inserted 8 safety incidents'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75277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6235F-817C-83AC-05F2-69AE8BEB8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1125"/>
            <a:ext cx="10515600" cy="4351338"/>
          </a:xfrm>
        </p:spPr>
        <p:txBody>
          <a:bodyPr>
            <a:normAutofit fontScale="25000" lnSpcReduction="20000"/>
          </a:bodyPr>
          <a:lstStyle/>
          <a:p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Insert operating costs (Daily for December 2024)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@CostDate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@CostSiteID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WHILE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@CostDate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'2024-12-31'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@CostSiteID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WHILE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@CostSiteID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8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Daily labour costs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operating_costs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cost_category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description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@CostSiteID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@CostDate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Labour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50000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150000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'Daily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labour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costs'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Daily energy costs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operating_costs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cost_category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description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@CostSiteID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@CostDate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'Energy'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30000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80000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'Daily energy costs'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Equipment costs (every 3 days)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@CostDate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%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operating_costs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cost_category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description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@CostSiteID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@CostDate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'Equipment'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20000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30000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'Equipment fuel and consumables'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Maintenance (weekly)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DATEPART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WEEKDAY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@CostDate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operating_costs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cost_category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description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@CostSiteID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@CostDate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'Maintenance'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40000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60000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'Weekly maintenance activities'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@CostSiteID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@CostSiteID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@CostDate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@CostDate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Inserted December 2024 operating costs'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99440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58A74-A3A8-4E29-B972-4DBDB3617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DQL: Validation Check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CB9C9-CEFC-C35D-1D5A-8C0C80D1F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90688"/>
            <a:ext cx="7175500" cy="4351338"/>
          </a:xfrm>
        </p:spPr>
        <p:txBody>
          <a:bodyPr>
            <a:normAutofit fontScale="85000" lnSpcReduction="10000"/>
          </a:bodyPr>
          <a:lstStyle/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'Mining Sites'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Entity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sites</a:t>
            </a: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ALL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'Employees'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employees</a:t>
            </a: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ALL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'Equipment'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equipment</a:t>
            </a: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ALL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'Production Records'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production</a:t>
            </a: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ALL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'Safety Incidents'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safety_incidents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ALL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'Cost Records'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operating_costs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FCEF4E-E248-CC4B-87EE-C76D1AA1C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6122" y="3606710"/>
            <a:ext cx="3317678" cy="243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04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873D6-34F6-CD33-2312-67FF5F001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AU" dirty="0"/>
              <a:t>DQL: Site Performance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D9033-0E8F-8CB7-1265-ABC486B4D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504825"/>
            <a:ext cx="10515600" cy="4351338"/>
          </a:xfrm>
        </p:spPr>
        <p:txBody>
          <a:bodyPr>
            <a:normAutofit fontScale="25000" lnSpcReduction="20000"/>
          </a:bodyPr>
          <a:lstStyle/>
          <a:p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The complex query analysts struggle with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DISTINCT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total_employees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DISTINCT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equipment_id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total_equipment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tonnes_produced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december_production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pt-BR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grade_percentage</a:t>
            </a:r>
            <a:r>
              <a:rPr lang="pt-BR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pt-BR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pt-BR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avg_grade</a:t>
            </a:r>
            <a:r>
              <a:rPr lang="pt-BR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pt-BR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oc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december_costs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DISTINCT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incident_id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safety_incidents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tonnes_produced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oc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tonnes_produced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cost_per_tonne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sites s</a:t>
            </a:r>
          </a:p>
          <a:p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employees e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employment_status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equipment eq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operational_status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'Operational'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production p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'2024-12-31'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operating_costs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oc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oc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oc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oc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'2024-12-31'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safety_incidents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incident_date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incident_date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'2024-12-31'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status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december_production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6C73E5-37DF-FB2D-09F6-A74F8798E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299" y="5360988"/>
            <a:ext cx="7666675" cy="126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550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02D19-C397-CE38-95CD-AEB8BCB4F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DQL: View for Active Sites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A7324-4DF0-988D-C551-A1C25EC9E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965993"/>
            <a:ext cx="10515600" cy="5526881"/>
          </a:xfrm>
        </p:spPr>
        <p:txBody>
          <a:bodyPr>
            <a:normAutofit fontScale="55000" lnSpcReduction="20000"/>
          </a:bodyPr>
          <a:lstStyle/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vw_ActiveSites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site_code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site_manager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opened_date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sites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status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View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vw_ActiveSites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created'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'Now anyone can query it simply:'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Query the view (simple!)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vw_ActiveSites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413E52-254E-B2E6-C07B-4176E0DBC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660" y="5006767"/>
            <a:ext cx="5839640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507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B1DE4-9476-8308-C057-0F439AEE6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DQL: Security View, hiding salary data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0EF81-132F-F881-F8AE-4B6E573DB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151731"/>
            <a:ext cx="5842000" cy="5239544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Create view that EXCLUDES sensitive salary information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vw_EmployeeDirectory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employee_code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first_name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last_name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full_name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email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job_title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department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hire_date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employment_status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NOTE: </a:t>
            </a:r>
            <a:r>
              <a:rPr lang="en-US" sz="28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annual_salary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and superannuation are EXCLUDED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employees e</a:t>
            </a: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sites s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employment_status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View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vw_EmployeeDirectory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created (without salary data)'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'Junior analysts can now query employee info without seeing salaries:'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vw_EmployeeDirectory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full_name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D9DEE3-A7E3-38E1-20AF-24088F331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800" y="4894132"/>
            <a:ext cx="6311900" cy="149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440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87E2D-5A8C-93A2-B920-74275DE61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1417300" cy="1325563"/>
          </a:xfrm>
        </p:spPr>
        <p:txBody>
          <a:bodyPr>
            <a:normAutofit fontScale="90000"/>
          </a:bodyPr>
          <a:lstStyle/>
          <a:p>
            <a:r>
              <a:rPr lang="en-AU" dirty="0"/>
              <a:t>DQL: Complex View for </a:t>
            </a:r>
            <a:r>
              <a:rPr lang="en-AU" dirty="0" err="1"/>
              <a:t>SitePerformanceDashboard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20CE5-9720-FEA7-288C-3A215FF73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600"/>
            <a:ext cx="10515600" cy="5059363"/>
          </a:xfrm>
        </p:spPr>
        <p:txBody>
          <a:bodyPr>
            <a:normAutofit fontScale="55000" lnSpcReduction="20000"/>
          </a:bodyPr>
          <a:lstStyle/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'--- DEMO 4: Complex View for Executive Dashboard ---'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Create comprehensive site performance view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vw_SitePerformanceDashboard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site_code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site_manager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Employee metrics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DISTINCT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total_employees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05065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4809F-59B4-7EAA-8B91-1AFB542D1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19100"/>
            <a:ext cx="10515600" cy="5757863"/>
          </a:xfrm>
        </p:spPr>
        <p:txBody>
          <a:bodyPr>
            <a:normAutofit fontScale="47500" lnSpcReduction="20000"/>
          </a:bodyPr>
          <a:lstStyle/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Equipment metrics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DISTINCT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equipment_id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total_equipment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operational_status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'Operational'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operational_equipment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Production metrics (December 2024)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'2024-12-31'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tonnes_produced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december_production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'2024-12-31'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AU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grade_percentage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avg_grade_december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Cost metrics (December 2024)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oc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oc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'2024-12-31'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oc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december_costs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086086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932AC-B254-F44E-C92F-9F31647CD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5600"/>
            <a:ext cx="10515600" cy="6299200"/>
          </a:xfrm>
        </p:spPr>
        <p:txBody>
          <a:bodyPr>
            <a:normAutofit fontScale="47500" lnSpcReduction="20000"/>
          </a:bodyPr>
          <a:lstStyle/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Safety metrics (December 2024)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DISTINCT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incident_date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incident_date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'2024-12-31'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incident_id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december_incidents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Calculated KPIs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'2024-12-31'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tonnes_produced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oc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oc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'2024-12-31'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oc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'2024-12-31'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tonnes_produced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cost_per_tonne_december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432393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E6168-060B-8CB7-3D9A-BD1A26408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39724"/>
            <a:ext cx="10515600" cy="6340475"/>
          </a:xfrm>
        </p:spPr>
        <p:txBody>
          <a:bodyPr>
            <a:normAutofit fontScale="32500" lnSpcReduction="20000"/>
          </a:bodyPr>
          <a:lstStyle/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sites s</a:t>
            </a:r>
          </a:p>
          <a:p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employees e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employment_status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equipment eq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production p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operating_costs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oc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safety_incidents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status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site_code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fr-FR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fr-FR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fr-FR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r>
              <a:rPr lang="fr-FR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fr-FR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fr-FR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site_manager</a:t>
            </a:r>
            <a:r>
              <a:rPr lang="fr-FR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fr-FR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View </a:t>
            </a:r>
            <a:r>
              <a:rPr lang="en-US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vw_SitePerformanceDashboard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created'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'Now executives can get their dashboard with ONE simple query:'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Simple query for executives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total_employees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operational_equipment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december_production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'N0'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production_tonnes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december_costs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'C0'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costs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december_incidents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cost_per_tonne_december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cost_per_tonne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vw_SitePerformanceDashboard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december_production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5EF0AD-3FC5-DDA4-4B90-D703B88CCB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100" y="5382454"/>
            <a:ext cx="6385538" cy="113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5871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EB204-94CB-E756-DA37-0BEBC7991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DQL: Parameterized Queries on Views on Production Analysis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D1815-96C4-DA48-88F2-B7ABD60B9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vw_ProductionAnalysis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shift_type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tonnes_produced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grade_percentage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operating_hours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tonnes_produced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operating_hours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tonnes_per_hour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production p</a:t>
            </a: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sites s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View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vw_ProductionAnalysis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created'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'Analysts can now filter by any parameter they need:'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0186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2EC1A-7795-A1C1-93F9-90077AD2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65124"/>
            <a:ext cx="5892800" cy="6289675"/>
          </a:xfrm>
        </p:spPr>
        <p:txBody>
          <a:bodyPr>
            <a:normAutofit fontScale="32500" lnSpcReduction="20000"/>
          </a:bodyPr>
          <a:lstStyle/>
          <a:p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Example 1: Filter by state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'1. Western Australia production only:'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tonnes_produced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total_production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grade_percentage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avg_grade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vw_ProductionAnalysis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'WA'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total_production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‘’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Example 2: Filter by resource type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'2. Gold production analysis:'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shifts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tonnes_produced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total_kg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grade_percentage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avg_grade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vw_ProductionAnalysis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'Gold'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31E73C-FF3F-D8CD-0FCA-8626FDF6B7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600" y="4263266"/>
            <a:ext cx="4243613" cy="2015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9152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FD7D3-DBBB-4C42-D538-0C9C14F53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0"/>
            <a:ext cx="11938000" cy="1325563"/>
          </a:xfrm>
        </p:spPr>
        <p:txBody>
          <a:bodyPr>
            <a:normAutofit/>
          </a:bodyPr>
          <a:lstStyle/>
          <a:p>
            <a:r>
              <a:rPr lang="en-AU" sz="4000" dirty="0"/>
              <a:t>DQL: Updating Data through views on Site Managers</a:t>
            </a:r>
            <a:br>
              <a:rPr lang="en-US" sz="4000" dirty="0"/>
            </a:br>
            <a:endParaRPr lang="en-AU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D66F6-205C-5C6C-BCC4-B4B6873E1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" y="634999"/>
            <a:ext cx="10515600" cy="4144963"/>
          </a:xfrm>
        </p:spPr>
        <p:txBody>
          <a:bodyPr>
            <a:normAutofit fontScale="25000" lnSpcReduction="20000"/>
          </a:bodyPr>
          <a:lstStyle/>
          <a:p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Create updatable view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vw_SiteManagers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site_manager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status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sites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View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vw_SiteManagers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created'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Show current site managers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'Current site managers:'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site_manager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vw_SiteManagers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status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'Updating site manager through view...'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Update through view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vw_SiteManagers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site_manager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'Andrew Richards'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nl-NL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nl-NL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nl-NL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nl-NL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nl-NL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nl-NL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nl-NL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nl-NL" sz="2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Kalgoorlie</a:t>
            </a:r>
            <a:r>
              <a:rPr lang="nl-NL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Gold Mine'</a:t>
            </a:r>
            <a:r>
              <a:rPr lang="nl-NL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Update successful'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'Verify update:'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site_manager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vw_SiteManagers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'Kalgoorlie Gold Mine'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'Note: Simple views (single table, no aggregations) are updatable!'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5D2D04-6307-9167-E0A4-B9FD1CAB0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601" y="3924984"/>
            <a:ext cx="3784600" cy="27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7868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AB986-6BF3-70AA-D62E-8A8E2495B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DQL: Managing views on Active Sites 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AB612-5645-4D53-D8F4-CCC58D944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300" y="1027905"/>
            <a:ext cx="10515600" cy="546496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List all views in database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'All views in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AusMine_Resources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database:'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TABLE_NAME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ViewName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'View'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ObjectType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FF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INFORMATION_SCHEMA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>
                <a:solidFill>
                  <a:srgbClr val="00FF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TABLE_NAME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View definition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'View definition for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vw_ActiveSites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EXEC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sp_helptext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vw_ActiveSites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684965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5AC16-0DE8-5CE6-D8E3-3D83DC866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7500"/>
            <a:ext cx="10515600" cy="5859463"/>
          </a:xfrm>
        </p:spPr>
        <p:txBody>
          <a:bodyPr>
            <a:normAutofit fontScale="40000" lnSpcReduction="20000"/>
          </a:bodyPr>
          <a:lstStyle/>
          <a:p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Alter a view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'Modifying </a:t>
            </a:r>
            <a:r>
              <a:rPr lang="en-US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vw_ActiveSites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to include status...'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ALTER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vw_ActiveSites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site_code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site_manager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opened_date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status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Added this column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sites</a:t>
            </a: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status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'Maintenance'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Modified filter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View altered successfully'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vw_ActiveSites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D3B703-CD1D-1B52-7EFF-E2D11481E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300" y="3429000"/>
            <a:ext cx="3987800" cy="16855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36E282-61F7-5C58-3F45-DE62D3A44F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460" y="5309035"/>
            <a:ext cx="6201640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8713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CED4D-3359-C52B-0C2D-1C3CCE69C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DQL: Data Quality Views and Validation 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2D316-9CBB-62EE-47C3-D86C52F02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1253330"/>
            <a:ext cx="10515600" cy="5477669"/>
          </a:xfrm>
        </p:spPr>
        <p:txBody>
          <a:bodyPr>
            <a:normAutofit fontScale="32500" lnSpcReduction="20000"/>
          </a:bodyPr>
          <a:lstStyle/>
          <a:p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Create view to identify data quality issues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vw_DataQualityAlerts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'Missing Site Manager'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alert_type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affected_entity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'Site: 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has no assigned manager'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alert_message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'High'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priority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sites</a:t>
            </a: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site_manager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status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UNION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ALL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'Equipment Overdue Maintenance'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'Equipment 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equipment_code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last maintained 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DATEDIFF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last_maintenance_date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days ago'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DATEDIFF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last_maintenance_date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60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'Critical'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DATEDIFF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last_maintenance_date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45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'High'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'Medium'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equipment eq</a:t>
            </a: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sites s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last_maintenance_date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7276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8FEA8-FA95-2F4A-B91E-461EA9DED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762000"/>
            <a:ext cx="10515600" cy="5770563"/>
          </a:xfrm>
        </p:spPr>
        <p:txBody>
          <a:bodyPr>
            <a:normAutofit fontScale="55000" lnSpcReduction="20000"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operational_status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'Operational'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UNION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ALL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'Unresolved Safety Incident'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'Incident #'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incident_id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('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severity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') from 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CONVERT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incident_date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120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still unresolved'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</a:t>
            </a:r>
            <a:r>
              <a:rPr lang="en-AU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severity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'Critical'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'Critical'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'Serious'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'High'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'Medium'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safety_incidents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sites s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</a:t>
            </a:r>
            <a:r>
              <a:rPr lang="en-AU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</a:t>
            </a:r>
            <a:r>
              <a:rPr lang="en-AU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resolved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5540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3036E-ABE6-E7AC-7313-0DCA77CB2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619124"/>
            <a:ext cx="10515600" cy="6086475"/>
          </a:xfrm>
        </p:spPr>
        <p:txBody>
          <a:bodyPr>
            <a:normAutofit fontScale="32500" lnSpcReduction="20000"/>
          </a:bodyPr>
          <a:lstStyle/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View </a:t>
            </a:r>
            <a:r>
              <a:rPr lang="en-US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vw_DataQualityAlerts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created'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'Data quality dashboard:'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alert_type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priority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alert_count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vw_DataQualityAlerts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alert_type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priority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priority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'Critical'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'High'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'Medium'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'Detailed alerts:'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vw_DataQualityAlerts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priority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'Critical'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'High'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C19EE0-BE46-A622-B269-39EED2A80E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537" y="3662361"/>
            <a:ext cx="6268325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3240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32226-0A8C-A4C7-8A09-C048B8283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DQL: Indexed Views for Performance 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ECC1A-2016-DB82-BAA9-44DE7C32B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00" y="1253330"/>
            <a:ext cx="10515600" cy="5515769"/>
          </a:xfrm>
        </p:spPr>
        <p:txBody>
          <a:bodyPr>
            <a:normAutofit fontScale="55000" lnSpcReduction="20000"/>
          </a:bodyPr>
          <a:lstStyle/>
          <a:p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Create view with aggregations suitable for indexing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vw_DailyProductionSummary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WITH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SCHEMABINDING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Required for indexed views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COUNT_BIG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shift_count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COUNT_BIG required for indexed views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tonnes_produced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total_tonnes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operating_hours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total_hours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Must use schema prefix with SCHEMABINDING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Create unique clustered index on the view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UNIQUE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CLUSTERED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IX_DailyProdSummary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vw_DailyProductionSummary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4692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4BA0C-B6D7-5ECB-77FE-2678C3EF8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2400"/>
            <a:ext cx="8026400" cy="6024563"/>
          </a:xfrm>
        </p:spPr>
        <p:txBody>
          <a:bodyPr>
            <a:normAutofit fontScale="92500" lnSpcReduction="20000"/>
          </a:bodyPr>
          <a:lstStyle/>
          <a:p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Query the indexed view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</a:t>
            </a:r>
            <a:r>
              <a:rPr lang="en-AU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fr-FR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fr-FR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fr-FR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</a:t>
            </a:r>
            <a:r>
              <a:rPr lang="fr-FR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fr-FR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total_tonnes</a:t>
            </a:r>
            <a:r>
              <a:rPr lang="fr-FR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'N0'</a:t>
            </a:r>
            <a:r>
              <a:rPr lang="fr-FR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tonnes_produced</a:t>
            </a:r>
            <a:r>
              <a:rPr lang="fr-FR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fr-FR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total_hours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operating_hours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vw_DailyProductionSummary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sites s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</a:t>
            </a:r>
            <a:r>
              <a:rPr lang="en-AU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'2024-12-07'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3DB27A-EB7C-3BE3-8725-A249B56A5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568" y="152400"/>
            <a:ext cx="4082432" cy="5880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BBB12A-572C-14F8-D7A3-986E89A9C00A}"/>
              </a:ext>
            </a:extLst>
          </p:cNvPr>
          <p:cNvSpPr txBox="1"/>
          <p:nvPr/>
        </p:nvSpPr>
        <p:spPr>
          <a:xfrm>
            <a:off x="8109568" y="6032500"/>
            <a:ext cx="408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First 40 rows for indexed view</a:t>
            </a:r>
          </a:p>
        </p:txBody>
      </p:sp>
    </p:spTree>
    <p:extLst>
      <p:ext uri="{BB962C8B-B14F-4D97-AF65-F5344CB8AC3E}">
        <p14:creationId xmlns:p14="http://schemas.microsoft.com/office/powerpoint/2010/main" val="14554959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16F5D-E0F2-CBC9-E429-BA67D0745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DQL: Simple View for Operational Equipment 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77D51-F334-C200-B00C-C664C2049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0" y="1253330"/>
            <a:ext cx="6972300" cy="5604669"/>
          </a:xfrm>
        </p:spPr>
        <p:txBody>
          <a:bodyPr>
            <a:normAutofit fontScale="47500" lnSpcReduction="20000"/>
          </a:bodyPr>
          <a:lstStyle/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vw_OperationalEquipment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equipment_code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equipment_type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manufacturer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model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purchase_date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last_maintenance_date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equipment e</a:t>
            </a: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sites s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operational_status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'Operational'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View created'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vw_OperationalEquipment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7F066E-351E-450B-BF72-B7D85E918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6100" y="5005297"/>
            <a:ext cx="5112236" cy="148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4164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B2C6-19A7-F2C8-A0A2-54950EF28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DQL: Create Security View for </a:t>
            </a:r>
            <a:r>
              <a:rPr lang="en-AU" dirty="0" err="1"/>
              <a:t>CostSummary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61600-AB0B-A81A-7890-D7260AB0F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9500"/>
            <a:ext cx="10515600" cy="5097463"/>
          </a:xfrm>
        </p:spPr>
        <p:txBody>
          <a:bodyPr>
            <a:normAutofit fontScale="32500" lnSpcReduction="20000"/>
          </a:bodyPr>
          <a:lstStyle/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vw_CostSummary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oc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cost_date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oc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cost_category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Hide exact amounts, only show ranges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oc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50000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'Low (&lt;$50k)'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oc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150000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'Medium ($50k-$150k)'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'High (&gt;$150k)'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cost_range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oc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description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operating_costs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oc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sites s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oc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View created (with masked amounts)'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vw_CostSummary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972813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66FBE-78A6-CE4A-FBB8-02EAB3E18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DQL: Create Analytical Weekly Production Trends View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085DE-B94C-DC86-8D1A-49E160F50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308100"/>
            <a:ext cx="5580785" cy="5071269"/>
          </a:xfrm>
        </p:spPr>
        <p:txBody>
          <a:bodyPr>
            <a:normAutofit fontScale="32500" lnSpcReduction="20000"/>
          </a:bodyPr>
          <a:lstStyle/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vw_WeeklyProductionTrends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DATEPART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YEAR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production_year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DATEPART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WEEK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production_week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WEEK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DATEDIFF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WEEK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week_start_date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total_shifts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tonnes_produced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weekly_production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grade_percentage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avg_weekly_grade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operating_hours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total_operating_hours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tonnes_produced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operating_hours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productivity_rate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production p</a:t>
            </a: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sites s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DATEPART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YEAR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DATEPART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WEEK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WEEK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DATEDIFF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WEEK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12C1D8-272F-0340-96AE-A24330D9E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736" y="807721"/>
            <a:ext cx="6725264" cy="544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0837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04109-6F68-6CFA-D41D-1761B64FA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542924"/>
            <a:ext cx="7333635" cy="5934075"/>
          </a:xfrm>
        </p:spPr>
        <p:txBody>
          <a:bodyPr>
            <a:normAutofit lnSpcReduction="10000"/>
          </a:bodyPr>
          <a:lstStyle/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View created'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TOP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production_week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weekly_production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'N0'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production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productivity_rate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'N2'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tonnes_per_hour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vw_WeeklyProductionTrends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production_year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production_week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10D492-FE18-FA94-F7B8-D90F1133A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347" y="4438364"/>
            <a:ext cx="4143953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5259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6DD00-2616-0327-A873-45517A29F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DQL: Create Dashboard for Executive Dashboard 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3E66B-5E63-0C5C-8E79-544BBC376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vw_ExecutiveDashboard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site_manager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Workforce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employees e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employment_status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active_employees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Equipment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equipment eq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operational_status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'Operational'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operational_equipment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December Production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tonnes_produced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production p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'2024-12-31'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dec_production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627863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55463-4C92-655E-11AA-61B48FCFE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468773"/>
            <a:ext cx="10515600" cy="6285987"/>
          </a:xfrm>
        </p:spPr>
        <p:txBody>
          <a:bodyPr>
            <a:normAutofit fontScale="32500" lnSpcReduction="20000"/>
          </a:bodyPr>
          <a:lstStyle/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December Costs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operating_costs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oc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oc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oc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cost_date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'2024-12-31'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dec_costs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Safety Score (incidents)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safety_incidents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incident_date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incident_date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'2024-12-31'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dec_incidents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Performance Rating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safety_incidents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incident_date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severity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'Serious'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'Critical'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'Needs Attention'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tonnes_produced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production p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1000000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'Excellent'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tonnes_produced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production p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500000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'Good'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'Average'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performance_rating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3218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E7AB1-1A47-0CA8-134C-5C4248D64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"/>
            <a:ext cx="10515600" cy="6390968"/>
          </a:xfrm>
        </p:spPr>
        <p:txBody>
          <a:bodyPr>
            <a:normAutofit fontScale="62500" lnSpcReduction="20000"/>
          </a:bodyPr>
          <a:lstStyle/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sites s</a:t>
            </a: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status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'Active'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Executive dashboard view created'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resource_type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active_employees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employees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operational_equipment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equipment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fr-FR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fr-FR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fr-FR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dec_production</a:t>
            </a:r>
            <a:r>
              <a:rPr lang="fr-FR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'N0'</a:t>
            </a:r>
            <a:r>
              <a:rPr lang="fr-FR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production</a:t>
            </a:r>
            <a:r>
              <a:rPr lang="fr-FR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fr-FR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dec_costs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'C0'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costs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dec_incidents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incidents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performance_rating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rating</a:t>
            </a: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vw_ExecutiveDashboard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dec_production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A35514-2896-363B-A202-68BC69E9F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072" y="4875609"/>
            <a:ext cx="5879230" cy="141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030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1162</TotalTime>
  <Words>7599</Words>
  <Application>Microsoft Office PowerPoint</Application>
  <PresentationFormat>Widescreen</PresentationFormat>
  <Paragraphs>886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Aptos</vt:lpstr>
      <vt:lpstr>Aptos Display</vt:lpstr>
      <vt:lpstr>Arial</vt:lpstr>
      <vt:lpstr>Cascadia Mono</vt:lpstr>
      <vt:lpstr>Office Theme</vt:lpstr>
      <vt:lpstr>AusMine Resources SQL Views</vt:lpstr>
      <vt:lpstr>Requirements</vt:lpstr>
      <vt:lpstr>Content</vt:lpstr>
      <vt:lpstr>Create database for AusMine Resources </vt:lpstr>
      <vt:lpstr>DDL: Create tables for sites, employees </vt:lpstr>
      <vt:lpstr>PowerPoint Presentation</vt:lpstr>
      <vt:lpstr>DDL: Create tables for equipment, production </vt:lpstr>
      <vt:lpstr>PowerPoint Presentation</vt:lpstr>
      <vt:lpstr>DDL: Create safety incidents, Operations costs  </vt:lpstr>
      <vt:lpstr>PowerPoint Presentation</vt:lpstr>
      <vt:lpstr>DDL: Create indexes for performance  </vt:lpstr>
      <vt:lpstr>DML: Inserting values into sites, Employees, Equipment, Production, Safety Incidents, Operations costs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DQL: Validation Check </vt:lpstr>
      <vt:lpstr>DQL: Site Performance </vt:lpstr>
      <vt:lpstr>DQL: View for Active Sites </vt:lpstr>
      <vt:lpstr>DQL: Security View, hiding salary data </vt:lpstr>
      <vt:lpstr>DQL: Complex View for SitePerformanceDashboard </vt:lpstr>
      <vt:lpstr>PowerPoint Presentation</vt:lpstr>
      <vt:lpstr>PowerPoint Presentation</vt:lpstr>
      <vt:lpstr>PowerPoint Presentation</vt:lpstr>
      <vt:lpstr>DQL: Parameterized Queries on Views on Production Analysis </vt:lpstr>
      <vt:lpstr>PowerPoint Presentation</vt:lpstr>
      <vt:lpstr>DQL: Updating Data through views on Site Managers </vt:lpstr>
      <vt:lpstr>DQL: Managing views on Active Sites  </vt:lpstr>
      <vt:lpstr>PowerPoint Presentation</vt:lpstr>
      <vt:lpstr>DQL: Data Quality Views and Validation  </vt:lpstr>
      <vt:lpstr>PowerPoint Presentation</vt:lpstr>
      <vt:lpstr>PowerPoint Presentation</vt:lpstr>
      <vt:lpstr>DQL: Indexed Views for Performance  </vt:lpstr>
      <vt:lpstr>PowerPoint Presentation</vt:lpstr>
      <vt:lpstr>DQL: Simple View for Operational Equipment  </vt:lpstr>
      <vt:lpstr>DQL: Create Security View for CostSummary </vt:lpstr>
      <vt:lpstr>DQL: Create Analytical Weekly Production Trends View </vt:lpstr>
      <vt:lpstr>PowerPoint Presentation</vt:lpstr>
      <vt:lpstr>DQL: Create Dashboard for Executive Dashboard 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Le</dc:creator>
  <cp:lastModifiedBy>Michael Le</cp:lastModifiedBy>
  <cp:revision>50</cp:revision>
  <dcterms:created xsi:type="dcterms:W3CDTF">2026-03-21T17:50:54Z</dcterms:created>
  <dcterms:modified xsi:type="dcterms:W3CDTF">2026-03-22T13:13:28Z</dcterms:modified>
</cp:coreProperties>
</file>