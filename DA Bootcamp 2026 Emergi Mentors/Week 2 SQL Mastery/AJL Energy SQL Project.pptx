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github.com/Mikele02171/Main-Stuff/tree/main/DA%20Bootcamp%202026%20Emergi%20Mentors/Week%202%20SQL%20Mastery/Module%203%20Intermediate%20SQL%20for%20Analytics%20Professionals/AJL_Energy_Subqueries" TargetMode="Externa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hyperlink" Target="https://github.com/Mikele02171/Main-Stuff/tree/main/DA%20Bootcamp%202026%20Emergi%20Mentors/Week%202%20SQL%20Mastery/Module%203%20Intermediate%20SQL%20for%20Analytics%20Professionals/AJL_Energy_Subqueries" TargetMode="External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96F2C-6D76-4680-9B47-B736E78355A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D81DCB8-9AF0-4738-A007-1335CE1DE6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/>
            <a:t>Files and Sources: </a:t>
          </a:r>
          <a:r>
            <a:rPr lang="en-AU">
              <a:hlinkClick xmlns:r="http://schemas.openxmlformats.org/officeDocument/2006/relationships" r:id="rId1"/>
            </a:rPr>
            <a:t>Main-Stuff/DA Bootcamp 2026 Emergi Mentors/Week 2 SQL Mastery/Module 3 Intermediate SQL for Analytics Professionals/AJL_Energy_Subqueries at main · Mikele02171/Main-Stuff</a:t>
          </a:r>
          <a:r>
            <a:rPr lang="en-AU"/>
            <a:t> </a:t>
          </a:r>
          <a:endParaRPr lang="en-US"/>
        </a:p>
      </dgm:t>
    </dgm:pt>
    <dgm:pt modelId="{240BD9EC-A8C3-4DA9-B84D-DA9F9CD774B2}" type="parTrans" cxnId="{B77DAB2C-D5B9-4DF9-B3FB-DDFBFE40EC32}">
      <dgm:prSet/>
      <dgm:spPr/>
      <dgm:t>
        <a:bodyPr/>
        <a:lstStyle/>
        <a:p>
          <a:endParaRPr lang="en-US"/>
        </a:p>
      </dgm:t>
    </dgm:pt>
    <dgm:pt modelId="{F10848D6-4EB1-40E3-8359-12B4A6D54020}" type="sibTrans" cxnId="{B77DAB2C-D5B9-4DF9-B3FB-DDFBFE40EC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1F99F2-30B8-43D0-841C-E62AA8D493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/>
            <a:t>Microsoft SQL Server Express (2022 or (2025 preferred))</a:t>
          </a:r>
          <a:endParaRPr lang="en-US"/>
        </a:p>
      </dgm:t>
    </dgm:pt>
    <dgm:pt modelId="{C1EF2877-5A70-476B-A959-E6D241CD247A}" type="parTrans" cxnId="{CF886E8D-97C0-4B86-9557-64C21EECDD0D}">
      <dgm:prSet/>
      <dgm:spPr/>
      <dgm:t>
        <a:bodyPr/>
        <a:lstStyle/>
        <a:p>
          <a:endParaRPr lang="en-US"/>
        </a:p>
      </dgm:t>
    </dgm:pt>
    <dgm:pt modelId="{26B03D8D-D325-4FF1-8429-3F39EF7E478F}" type="sibTrans" cxnId="{CF886E8D-97C0-4B86-9557-64C21EECDD0D}">
      <dgm:prSet/>
      <dgm:spPr/>
      <dgm:t>
        <a:bodyPr/>
        <a:lstStyle/>
        <a:p>
          <a:endParaRPr lang="en-US"/>
        </a:p>
      </dgm:t>
    </dgm:pt>
    <dgm:pt modelId="{601A838C-D11C-48CD-AD33-E14159E67F3D}" type="pres">
      <dgm:prSet presAssocID="{9DB96F2C-6D76-4680-9B47-B736E78355AB}" presName="root" presStyleCnt="0">
        <dgm:presLayoutVars>
          <dgm:dir/>
          <dgm:resizeHandles val="exact"/>
        </dgm:presLayoutVars>
      </dgm:prSet>
      <dgm:spPr/>
    </dgm:pt>
    <dgm:pt modelId="{F23726ED-3C09-423D-9C4C-60CB596598A5}" type="pres">
      <dgm:prSet presAssocID="{BD81DCB8-9AF0-4738-A007-1335CE1DE629}" presName="compNode" presStyleCnt="0"/>
      <dgm:spPr/>
    </dgm:pt>
    <dgm:pt modelId="{003D7361-AC28-49B4-B058-CBF935A2145F}" type="pres">
      <dgm:prSet presAssocID="{BD81DCB8-9AF0-4738-A007-1335CE1DE629}" presName="iconBgRect" presStyleLbl="bgShp" presStyleIdx="0" presStyleCnt="2"/>
      <dgm:spPr/>
    </dgm:pt>
    <dgm:pt modelId="{85F0DDC8-63D6-40DC-B619-C940F01F24B0}" type="pres">
      <dgm:prSet presAssocID="{BD81DCB8-9AF0-4738-A007-1335CE1DE62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071EE65-0E48-4F59-8A8C-35A6912F58A8}" type="pres">
      <dgm:prSet presAssocID="{BD81DCB8-9AF0-4738-A007-1335CE1DE629}" presName="spaceRect" presStyleCnt="0"/>
      <dgm:spPr/>
    </dgm:pt>
    <dgm:pt modelId="{7D30C6AE-EC7F-4DBF-94E5-FCD96009F664}" type="pres">
      <dgm:prSet presAssocID="{BD81DCB8-9AF0-4738-A007-1335CE1DE629}" presName="textRect" presStyleLbl="revTx" presStyleIdx="0" presStyleCnt="2">
        <dgm:presLayoutVars>
          <dgm:chMax val="1"/>
          <dgm:chPref val="1"/>
        </dgm:presLayoutVars>
      </dgm:prSet>
      <dgm:spPr/>
    </dgm:pt>
    <dgm:pt modelId="{25A2F54A-D5F1-4C45-B9C5-AF18587ABF2A}" type="pres">
      <dgm:prSet presAssocID="{F10848D6-4EB1-40E3-8359-12B4A6D54020}" presName="sibTrans" presStyleCnt="0"/>
      <dgm:spPr/>
    </dgm:pt>
    <dgm:pt modelId="{EC1F01E3-BC33-4144-B83D-739F5DF78FC2}" type="pres">
      <dgm:prSet presAssocID="{8B1F99F2-30B8-43D0-841C-E62AA8D4934E}" presName="compNode" presStyleCnt="0"/>
      <dgm:spPr/>
    </dgm:pt>
    <dgm:pt modelId="{92562FD4-AEDF-4488-A493-65305727513D}" type="pres">
      <dgm:prSet presAssocID="{8B1F99F2-30B8-43D0-841C-E62AA8D4934E}" presName="iconBgRect" presStyleLbl="bgShp" presStyleIdx="1" presStyleCnt="2"/>
      <dgm:spPr/>
    </dgm:pt>
    <dgm:pt modelId="{F2995643-6AE4-4B1E-880D-8C726893705D}" type="pres">
      <dgm:prSet presAssocID="{8B1F99F2-30B8-43D0-841C-E62AA8D4934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BA3801A-C148-4989-AAE0-36B56B9CECF6}" type="pres">
      <dgm:prSet presAssocID="{8B1F99F2-30B8-43D0-841C-E62AA8D4934E}" presName="spaceRect" presStyleCnt="0"/>
      <dgm:spPr/>
    </dgm:pt>
    <dgm:pt modelId="{E6FCB3EF-8AA8-4270-81AA-2E6CB69B0AF7}" type="pres">
      <dgm:prSet presAssocID="{8B1F99F2-30B8-43D0-841C-E62AA8D4934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7DAB2C-D5B9-4DF9-B3FB-DDFBFE40EC32}" srcId="{9DB96F2C-6D76-4680-9B47-B736E78355AB}" destId="{BD81DCB8-9AF0-4738-A007-1335CE1DE629}" srcOrd="0" destOrd="0" parTransId="{240BD9EC-A8C3-4DA9-B84D-DA9F9CD774B2}" sibTransId="{F10848D6-4EB1-40E3-8359-12B4A6D54020}"/>
    <dgm:cxn modelId="{4DEFF16A-EE6C-4B3B-8EA9-2B9164F59888}" type="presOf" srcId="{9DB96F2C-6D76-4680-9B47-B736E78355AB}" destId="{601A838C-D11C-48CD-AD33-E14159E67F3D}" srcOrd="0" destOrd="0" presId="urn:microsoft.com/office/officeart/2018/5/layout/IconCircleLabelList"/>
    <dgm:cxn modelId="{CF886E8D-97C0-4B86-9557-64C21EECDD0D}" srcId="{9DB96F2C-6D76-4680-9B47-B736E78355AB}" destId="{8B1F99F2-30B8-43D0-841C-E62AA8D4934E}" srcOrd="1" destOrd="0" parTransId="{C1EF2877-5A70-476B-A959-E6D241CD247A}" sibTransId="{26B03D8D-D325-4FF1-8429-3F39EF7E478F}"/>
    <dgm:cxn modelId="{B0653BA3-6C72-4653-969C-CF50DBBD5F6A}" type="presOf" srcId="{8B1F99F2-30B8-43D0-841C-E62AA8D4934E}" destId="{E6FCB3EF-8AA8-4270-81AA-2E6CB69B0AF7}" srcOrd="0" destOrd="0" presId="urn:microsoft.com/office/officeart/2018/5/layout/IconCircleLabelList"/>
    <dgm:cxn modelId="{2394C8F9-ACBC-44DA-A680-DEA3BFA935CA}" type="presOf" srcId="{BD81DCB8-9AF0-4738-A007-1335CE1DE629}" destId="{7D30C6AE-EC7F-4DBF-94E5-FCD96009F664}" srcOrd="0" destOrd="0" presId="urn:microsoft.com/office/officeart/2018/5/layout/IconCircleLabelList"/>
    <dgm:cxn modelId="{FE477A28-AE09-4B7E-ABC4-3C928A0934FF}" type="presParOf" srcId="{601A838C-D11C-48CD-AD33-E14159E67F3D}" destId="{F23726ED-3C09-423D-9C4C-60CB596598A5}" srcOrd="0" destOrd="0" presId="urn:microsoft.com/office/officeart/2018/5/layout/IconCircleLabelList"/>
    <dgm:cxn modelId="{8669119F-BCD1-4F98-A229-79B1C4C859B5}" type="presParOf" srcId="{F23726ED-3C09-423D-9C4C-60CB596598A5}" destId="{003D7361-AC28-49B4-B058-CBF935A2145F}" srcOrd="0" destOrd="0" presId="urn:microsoft.com/office/officeart/2018/5/layout/IconCircleLabelList"/>
    <dgm:cxn modelId="{A148D073-3471-4372-99D3-FAE362D06DD9}" type="presParOf" srcId="{F23726ED-3C09-423D-9C4C-60CB596598A5}" destId="{85F0DDC8-63D6-40DC-B619-C940F01F24B0}" srcOrd="1" destOrd="0" presId="urn:microsoft.com/office/officeart/2018/5/layout/IconCircleLabelList"/>
    <dgm:cxn modelId="{87736141-DBFA-4E22-B1CC-A373289F173A}" type="presParOf" srcId="{F23726ED-3C09-423D-9C4C-60CB596598A5}" destId="{1071EE65-0E48-4F59-8A8C-35A6912F58A8}" srcOrd="2" destOrd="0" presId="urn:microsoft.com/office/officeart/2018/5/layout/IconCircleLabelList"/>
    <dgm:cxn modelId="{89A846AC-6C3D-4532-A638-D666DA740BB1}" type="presParOf" srcId="{F23726ED-3C09-423D-9C4C-60CB596598A5}" destId="{7D30C6AE-EC7F-4DBF-94E5-FCD96009F664}" srcOrd="3" destOrd="0" presId="urn:microsoft.com/office/officeart/2018/5/layout/IconCircleLabelList"/>
    <dgm:cxn modelId="{384BCBB8-4010-4BC7-8EBC-1A769FC9293D}" type="presParOf" srcId="{601A838C-D11C-48CD-AD33-E14159E67F3D}" destId="{25A2F54A-D5F1-4C45-B9C5-AF18587ABF2A}" srcOrd="1" destOrd="0" presId="urn:microsoft.com/office/officeart/2018/5/layout/IconCircleLabelList"/>
    <dgm:cxn modelId="{FCBCFB0B-3D59-4A9B-930B-3A2FCFDE7CD2}" type="presParOf" srcId="{601A838C-D11C-48CD-AD33-E14159E67F3D}" destId="{EC1F01E3-BC33-4144-B83D-739F5DF78FC2}" srcOrd="2" destOrd="0" presId="urn:microsoft.com/office/officeart/2018/5/layout/IconCircleLabelList"/>
    <dgm:cxn modelId="{7C51F47C-346D-42DC-971D-07F959C23FF8}" type="presParOf" srcId="{EC1F01E3-BC33-4144-B83D-739F5DF78FC2}" destId="{92562FD4-AEDF-4488-A493-65305727513D}" srcOrd="0" destOrd="0" presId="urn:microsoft.com/office/officeart/2018/5/layout/IconCircleLabelList"/>
    <dgm:cxn modelId="{E50A21C4-0451-474E-B6BF-20CCA6DB88D7}" type="presParOf" srcId="{EC1F01E3-BC33-4144-B83D-739F5DF78FC2}" destId="{F2995643-6AE4-4B1E-880D-8C726893705D}" srcOrd="1" destOrd="0" presId="urn:microsoft.com/office/officeart/2018/5/layout/IconCircleLabelList"/>
    <dgm:cxn modelId="{9B26B3A6-E1E9-495B-BEE6-02182FF130D2}" type="presParOf" srcId="{EC1F01E3-BC33-4144-B83D-739F5DF78FC2}" destId="{0BA3801A-C148-4989-AAE0-36B56B9CECF6}" srcOrd="2" destOrd="0" presId="urn:microsoft.com/office/officeart/2018/5/layout/IconCircleLabelList"/>
    <dgm:cxn modelId="{B2DCA0C0-8A83-4241-BFF6-C00E6140BE37}" type="presParOf" srcId="{EC1F01E3-BC33-4144-B83D-739F5DF78FC2}" destId="{E6FCB3EF-8AA8-4270-81AA-2E6CB69B0A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0946B1-1FE9-4FDF-81DE-83EDF173B5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AA16B6-D9E3-4B84-A394-744F78C5645F}">
      <dgm:prSet/>
      <dgm:spPr/>
      <dgm:t>
        <a:bodyPr/>
        <a:lstStyle/>
        <a:p>
          <a:r>
            <a:rPr lang="en-US"/>
            <a:t>SELECT 'Customers' AS TableName, COUNT(*) AS [RowCount] FROM customers</a:t>
          </a:r>
        </a:p>
      </dgm:t>
    </dgm:pt>
    <dgm:pt modelId="{2C5C56D1-5323-4184-A9F4-64311946B1A8}" type="parTrans" cxnId="{FB7D1BA9-2354-43C2-982C-DEF5F7AD369B}">
      <dgm:prSet/>
      <dgm:spPr/>
      <dgm:t>
        <a:bodyPr/>
        <a:lstStyle/>
        <a:p>
          <a:endParaRPr lang="en-US"/>
        </a:p>
      </dgm:t>
    </dgm:pt>
    <dgm:pt modelId="{1AA7D043-A0BC-43F7-8D31-27CDDBBE43FC}" type="sibTrans" cxnId="{FB7D1BA9-2354-43C2-982C-DEF5F7AD369B}">
      <dgm:prSet/>
      <dgm:spPr/>
      <dgm:t>
        <a:bodyPr/>
        <a:lstStyle/>
        <a:p>
          <a:endParaRPr lang="en-US"/>
        </a:p>
      </dgm:t>
    </dgm:pt>
    <dgm:pt modelId="{42BEE70B-48F4-456E-928B-CA1633CA0228}">
      <dgm:prSet/>
      <dgm:spPr/>
      <dgm:t>
        <a:bodyPr/>
        <a:lstStyle/>
        <a:p>
          <a:r>
            <a:rPr lang="en-AU"/>
            <a:t>UNION ALL</a:t>
          </a:r>
          <a:endParaRPr lang="en-US"/>
        </a:p>
      </dgm:t>
    </dgm:pt>
    <dgm:pt modelId="{73E96606-52B6-463E-8190-8276AD85D49D}" type="parTrans" cxnId="{04E77934-8E77-4E39-84D5-9EB4F6FCCCC9}">
      <dgm:prSet/>
      <dgm:spPr/>
      <dgm:t>
        <a:bodyPr/>
        <a:lstStyle/>
        <a:p>
          <a:endParaRPr lang="en-US"/>
        </a:p>
      </dgm:t>
    </dgm:pt>
    <dgm:pt modelId="{6DC267B9-81F1-4C93-A937-EF74CA27271A}" type="sibTrans" cxnId="{04E77934-8E77-4E39-84D5-9EB4F6FCCCC9}">
      <dgm:prSet/>
      <dgm:spPr/>
      <dgm:t>
        <a:bodyPr/>
        <a:lstStyle/>
        <a:p>
          <a:endParaRPr lang="en-US"/>
        </a:p>
      </dgm:t>
    </dgm:pt>
    <dgm:pt modelId="{5C5DE376-8625-498D-9CA8-4EC036904B83}">
      <dgm:prSet/>
      <dgm:spPr/>
      <dgm:t>
        <a:bodyPr/>
        <a:lstStyle/>
        <a:p>
          <a:r>
            <a:rPr lang="en-US"/>
            <a:t>SELECT 'Usage Records' AS TableName, COUNT(*) AS [RowCount] FROM monthly_usage;</a:t>
          </a:r>
        </a:p>
      </dgm:t>
    </dgm:pt>
    <dgm:pt modelId="{8C7EE4AD-B12D-4F3E-AB15-790345F38E4A}" type="parTrans" cxnId="{2279C1ED-7492-4955-BAAB-9A82E64C4F9C}">
      <dgm:prSet/>
      <dgm:spPr/>
      <dgm:t>
        <a:bodyPr/>
        <a:lstStyle/>
        <a:p>
          <a:endParaRPr lang="en-US"/>
        </a:p>
      </dgm:t>
    </dgm:pt>
    <dgm:pt modelId="{78384D08-1D76-4F88-91AB-36E0C765E254}" type="sibTrans" cxnId="{2279C1ED-7492-4955-BAAB-9A82E64C4F9C}">
      <dgm:prSet/>
      <dgm:spPr/>
      <dgm:t>
        <a:bodyPr/>
        <a:lstStyle/>
        <a:p>
          <a:endParaRPr lang="en-US"/>
        </a:p>
      </dgm:t>
    </dgm:pt>
    <dgm:pt modelId="{540FD7F6-393A-4FE1-8371-1461D9AB7B8D}">
      <dgm:prSet/>
      <dgm:spPr/>
      <dgm:t>
        <a:bodyPr/>
        <a:lstStyle/>
        <a:p>
          <a:r>
            <a:rPr lang="en-AU"/>
            <a:t>GO</a:t>
          </a:r>
          <a:endParaRPr lang="en-US"/>
        </a:p>
      </dgm:t>
    </dgm:pt>
    <dgm:pt modelId="{21A9020E-EEE9-4DB2-AB45-FFB862078852}" type="parTrans" cxnId="{C40F0049-9FA5-44B3-A818-BAD75659ABA6}">
      <dgm:prSet/>
      <dgm:spPr/>
      <dgm:t>
        <a:bodyPr/>
        <a:lstStyle/>
        <a:p>
          <a:endParaRPr lang="en-US"/>
        </a:p>
      </dgm:t>
    </dgm:pt>
    <dgm:pt modelId="{216A5136-94C8-4891-A5AE-85A921F31C3D}" type="sibTrans" cxnId="{C40F0049-9FA5-44B3-A818-BAD75659ABA6}">
      <dgm:prSet/>
      <dgm:spPr/>
      <dgm:t>
        <a:bodyPr/>
        <a:lstStyle/>
        <a:p>
          <a:endParaRPr lang="en-US"/>
        </a:p>
      </dgm:t>
    </dgm:pt>
    <dgm:pt modelId="{5B2ACF2C-B4FF-4092-AC40-FFEAAB507818}" type="pres">
      <dgm:prSet presAssocID="{6A0946B1-1FE9-4FDF-81DE-83EDF173B575}" presName="linear" presStyleCnt="0">
        <dgm:presLayoutVars>
          <dgm:animLvl val="lvl"/>
          <dgm:resizeHandles val="exact"/>
        </dgm:presLayoutVars>
      </dgm:prSet>
      <dgm:spPr/>
    </dgm:pt>
    <dgm:pt modelId="{2E4018EA-7C8F-405A-AFBD-C50E0945AE00}" type="pres">
      <dgm:prSet presAssocID="{6BAA16B6-D9E3-4B84-A394-744F78C564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80939D8-21D3-42F0-803E-FA1FDD97A7A8}" type="pres">
      <dgm:prSet presAssocID="{1AA7D043-A0BC-43F7-8D31-27CDDBBE43FC}" presName="spacer" presStyleCnt="0"/>
      <dgm:spPr/>
    </dgm:pt>
    <dgm:pt modelId="{1B666A6D-5F63-4D33-B44A-D3C348434487}" type="pres">
      <dgm:prSet presAssocID="{42BEE70B-48F4-456E-928B-CA1633CA02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A21DA9-7CE3-4DE2-9692-3E5B92EB14A2}" type="pres">
      <dgm:prSet presAssocID="{6DC267B9-81F1-4C93-A937-EF74CA27271A}" presName="spacer" presStyleCnt="0"/>
      <dgm:spPr/>
    </dgm:pt>
    <dgm:pt modelId="{FD880636-E292-4B3D-A700-E84CEF6C548E}" type="pres">
      <dgm:prSet presAssocID="{5C5DE376-8625-498D-9CA8-4EC036904B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084A35-7C8C-4364-BFE2-9EB55E6EDBAF}" type="pres">
      <dgm:prSet presAssocID="{78384D08-1D76-4F88-91AB-36E0C765E254}" presName="spacer" presStyleCnt="0"/>
      <dgm:spPr/>
    </dgm:pt>
    <dgm:pt modelId="{70818675-945F-4F15-B205-330C558FEA02}" type="pres">
      <dgm:prSet presAssocID="{540FD7F6-393A-4FE1-8371-1461D9AB7B8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BD0E26-5E4F-46F1-AC34-F529B5395E8A}" type="presOf" srcId="{5C5DE376-8625-498D-9CA8-4EC036904B83}" destId="{FD880636-E292-4B3D-A700-E84CEF6C548E}" srcOrd="0" destOrd="0" presId="urn:microsoft.com/office/officeart/2005/8/layout/vList2"/>
    <dgm:cxn modelId="{04E77934-8E77-4E39-84D5-9EB4F6FCCCC9}" srcId="{6A0946B1-1FE9-4FDF-81DE-83EDF173B575}" destId="{42BEE70B-48F4-456E-928B-CA1633CA0228}" srcOrd="1" destOrd="0" parTransId="{73E96606-52B6-463E-8190-8276AD85D49D}" sibTransId="{6DC267B9-81F1-4C93-A937-EF74CA27271A}"/>
    <dgm:cxn modelId="{C0F81F5E-CC44-499A-853F-D59A85A31F0C}" type="presOf" srcId="{6A0946B1-1FE9-4FDF-81DE-83EDF173B575}" destId="{5B2ACF2C-B4FF-4092-AC40-FFEAAB507818}" srcOrd="0" destOrd="0" presId="urn:microsoft.com/office/officeart/2005/8/layout/vList2"/>
    <dgm:cxn modelId="{C40F0049-9FA5-44B3-A818-BAD75659ABA6}" srcId="{6A0946B1-1FE9-4FDF-81DE-83EDF173B575}" destId="{540FD7F6-393A-4FE1-8371-1461D9AB7B8D}" srcOrd="3" destOrd="0" parTransId="{21A9020E-EEE9-4DB2-AB45-FFB862078852}" sibTransId="{216A5136-94C8-4891-A5AE-85A921F31C3D}"/>
    <dgm:cxn modelId="{5375B173-A5D5-47E5-948B-BF1E4A2ECA39}" type="presOf" srcId="{42BEE70B-48F4-456E-928B-CA1633CA0228}" destId="{1B666A6D-5F63-4D33-B44A-D3C348434487}" srcOrd="0" destOrd="0" presId="urn:microsoft.com/office/officeart/2005/8/layout/vList2"/>
    <dgm:cxn modelId="{7FBAB759-8B60-4831-95C3-B03C77CBD14D}" type="presOf" srcId="{6BAA16B6-D9E3-4B84-A394-744F78C5645F}" destId="{2E4018EA-7C8F-405A-AFBD-C50E0945AE00}" srcOrd="0" destOrd="0" presId="urn:microsoft.com/office/officeart/2005/8/layout/vList2"/>
    <dgm:cxn modelId="{70BFCE5A-A321-49BE-B472-D4E5C823B859}" type="presOf" srcId="{540FD7F6-393A-4FE1-8371-1461D9AB7B8D}" destId="{70818675-945F-4F15-B205-330C558FEA02}" srcOrd="0" destOrd="0" presId="urn:microsoft.com/office/officeart/2005/8/layout/vList2"/>
    <dgm:cxn modelId="{FB7D1BA9-2354-43C2-982C-DEF5F7AD369B}" srcId="{6A0946B1-1FE9-4FDF-81DE-83EDF173B575}" destId="{6BAA16B6-D9E3-4B84-A394-744F78C5645F}" srcOrd="0" destOrd="0" parTransId="{2C5C56D1-5323-4184-A9F4-64311946B1A8}" sibTransId="{1AA7D043-A0BC-43F7-8D31-27CDDBBE43FC}"/>
    <dgm:cxn modelId="{2279C1ED-7492-4955-BAAB-9A82E64C4F9C}" srcId="{6A0946B1-1FE9-4FDF-81DE-83EDF173B575}" destId="{5C5DE376-8625-498D-9CA8-4EC036904B83}" srcOrd="2" destOrd="0" parTransId="{8C7EE4AD-B12D-4F3E-AB15-790345F38E4A}" sibTransId="{78384D08-1D76-4F88-91AB-36E0C765E254}"/>
    <dgm:cxn modelId="{152D10C4-1A96-46AD-9E56-CD0A94EC17B4}" type="presParOf" srcId="{5B2ACF2C-B4FF-4092-AC40-FFEAAB507818}" destId="{2E4018EA-7C8F-405A-AFBD-C50E0945AE00}" srcOrd="0" destOrd="0" presId="urn:microsoft.com/office/officeart/2005/8/layout/vList2"/>
    <dgm:cxn modelId="{10FAC9FB-9275-45FB-B1E5-28BB244B9D10}" type="presParOf" srcId="{5B2ACF2C-B4FF-4092-AC40-FFEAAB507818}" destId="{080939D8-21D3-42F0-803E-FA1FDD97A7A8}" srcOrd="1" destOrd="0" presId="urn:microsoft.com/office/officeart/2005/8/layout/vList2"/>
    <dgm:cxn modelId="{6F9CE3F1-F68A-44A1-AF4A-94670D8AB15F}" type="presParOf" srcId="{5B2ACF2C-B4FF-4092-AC40-FFEAAB507818}" destId="{1B666A6D-5F63-4D33-B44A-D3C348434487}" srcOrd="2" destOrd="0" presId="urn:microsoft.com/office/officeart/2005/8/layout/vList2"/>
    <dgm:cxn modelId="{567267C8-213F-4E4B-AF0C-A4D6CD29DAF8}" type="presParOf" srcId="{5B2ACF2C-B4FF-4092-AC40-FFEAAB507818}" destId="{44A21DA9-7CE3-4DE2-9692-3E5B92EB14A2}" srcOrd="3" destOrd="0" presId="urn:microsoft.com/office/officeart/2005/8/layout/vList2"/>
    <dgm:cxn modelId="{7398FAA5-DC05-44EE-AD7E-6CB3D7F0C9BA}" type="presParOf" srcId="{5B2ACF2C-B4FF-4092-AC40-FFEAAB507818}" destId="{FD880636-E292-4B3D-A700-E84CEF6C548E}" srcOrd="4" destOrd="0" presId="urn:microsoft.com/office/officeart/2005/8/layout/vList2"/>
    <dgm:cxn modelId="{2DC69A19-B26E-4A9C-8CE6-6D7D87F4E14B}" type="presParOf" srcId="{5B2ACF2C-B4FF-4092-AC40-FFEAAB507818}" destId="{A0084A35-7C8C-4364-BFE2-9EB55E6EDBAF}" srcOrd="5" destOrd="0" presId="urn:microsoft.com/office/officeart/2005/8/layout/vList2"/>
    <dgm:cxn modelId="{50B87FC8-46A9-4823-93DB-DFB36C420EBC}" type="presParOf" srcId="{5B2ACF2C-B4FF-4092-AC40-FFEAAB507818}" destId="{70818675-945F-4F15-B205-330C558FEA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7B7988-666B-4456-A79E-A4A8CD110B1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A40C4A-59E0-47F7-A4F6-3B350D9B79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AVG(kwh_used) AS overall_average_kwh</a:t>
          </a:r>
        </a:p>
      </dgm:t>
    </dgm:pt>
    <dgm:pt modelId="{1F4E412F-2F08-41D6-B3DC-2F7E9FDC0590}" type="parTrans" cxnId="{174AFFA0-3783-4002-90AF-C295D94A3E39}">
      <dgm:prSet/>
      <dgm:spPr/>
      <dgm:t>
        <a:bodyPr/>
        <a:lstStyle/>
        <a:p>
          <a:endParaRPr lang="en-US"/>
        </a:p>
      </dgm:t>
    </dgm:pt>
    <dgm:pt modelId="{4DDFE317-F3DE-49DD-8FFA-CA56749020B3}" type="sibTrans" cxnId="{174AFFA0-3783-4002-90AF-C295D94A3E39}">
      <dgm:prSet/>
      <dgm:spPr/>
      <dgm:t>
        <a:bodyPr/>
        <a:lstStyle/>
        <a:p>
          <a:endParaRPr lang="en-US"/>
        </a:p>
      </dgm:t>
    </dgm:pt>
    <dgm:pt modelId="{EAA9E185-677C-43AE-92A6-0E2A1634A0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SELECT AVG(</a:t>
          </a:r>
          <a:r>
            <a:rPr lang="en-US" dirty="0" err="1"/>
            <a:t>kwh_used</a:t>
          </a:r>
          <a:r>
            <a:rPr lang="en-US" dirty="0"/>
            <a:t>) AS </a:t>
          </a:r>
          <a:r>
            <a:rPr lang="en-US" dirty="0" err="1"/>
            <a:t>overall_average_kwh</a:t>
          </a:r>
          <a:r>
            <a:rPr lang="en-US" dirty="0"/>
            <a:t> </a:t>
          </a:r>
          <a:r>
            <a:rPr lang="en-AU" dirty="0"/>
            <a:t>FROM </a:t>
          </a:r>
          <a:r>
            <a:rPr lang="en-AU" dirty="0" err="1"/>
            <a:t>monthly_usage</a:t>
          </a:r>
          <a:r>
            <a:rPr lang="en-AU" dirty="0"/>
            <a:t>;</a:t>
          </a:r>
          <a:endParaRPr lang="en-US" dirty="0"/>
        </a:p>
      </dgm:t>
    </dgm:pt>
    <dgm:pt modelId="{93B1EE71-96F5-4705-A4F9-EE737F1E339E}" type="parTrans" cxnId="{2FED9648-0905-43B3-849D-E67942C4A6BA}">
      <dgm:prSet/>
      <dgm:spPr/>
      <dgm:t>
        <a:bodyPr/>
        <a:lstStyle/>
        <a:p>
          <a:endParaRPr lang="en-US"/>
        </a:p>
      </dgm:t>
    </dgm:pt>
    <dgm:pt modelId="{E4B0DF76-ECB2-48AE-A4A5-03F7B44ECCC0}" type="sibTrans" cxnId="{2FED9648-0905-43B3-849D-E67942C4A6BA}">
      <dgm:prSet/>
      <dgm:spPr/>
      <dgm:t>
        <a:bodyPr/>
        <a:lstStyle/>
        <a:p>
          <a:endParaRPr lang="en-US"/>
        </a:p>
      </dgm:t>
    </dgm:pt>
    <dgm:pt modelId="{142F4141-D689-4106-93BA-992F286B07A7}" type="pres">
      <dgm:prSet presAssocID="{627B7988-666B-4456-A79E-A4A8CD110B17}" presName="root" presStyleCnt="0">
        <dgm:presLayoutVars>
          <dgm:dir/>
          <dgm:resizeHandles val="exact"/>
        </dgm:presLayoutVars>
      </dgm:prSet>
      <dgm:spPr/>
    </dgm:pt>
    <dgm:pt modelId="{7231B842-07B4-44CA-A359-87AF807B0E5B}" type="pres">
      <dgm:prSet presAssocID="{2AA40C4A-59E0-47F7-A4F6-3B350D9B7961}" presName="compNode" presStyleCnt="0"/>
      <dgm:spPr/>
    </dgm:pt>
    <dgm:pt modelId="{46B641B7-028C-4A9F-ABBC-C879895C3F42}" type="pres">
      <dgm:prSet presAssocID="{2AA40C4A-59E0-47F7-A4F6-3B350D9B7961}" presName="iconRect" presStyleLbl="node1" presStyleIdx="0" presStyleCnt="2" custLinFactNeighborX="506" custLinFactNeighborY="-146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718BDC24-25FB-4097-80EF-F68D39371E19}" type="pres">
      <dgm:prSet presAssocID="{2AA40C4A-59E0-47F7-A4F6-3B350D9B7961}" presName="spaceRect" presStyleCnt="0"/>
      <dgm:spPr/>
    </dgm:pt>
    <dgm:pt modelId="{751DADF3-E4A2-4D6D-AE1B-F8ABAE92D5E0}" type="pres">
      <dgm:prSet presAssocID="{2AA40C4A-59E0-47F7-A4F6-3B350D9B7961}" presName="textRect" presStyleLbl="revTx" presStyleIdx="0" presStyleCnt="2">
        <dgm:presLayoutVars>
          <dgm:chMax val="1"/>
          <dgm:chPref val="1"/>
        </dgm:presLayoutVars>
      </dgm:prSet>
      <dgm:spPr/>
    </dgm:pt>
    <dgm:pt modelId="{F331C10F-8E5E-428B-AC0D-522E5B9720CF}" type="pres">
      <dgm:prSet presAssocID="{4DDFE317-F3DE-49DD-8FFA-CA56749020B3}" presName="sibTrans" presStyleCnt="0"/>
      <dgm:spPr/>
    </dgm:pt>
    <dgm:pt modelId="{8AAB40E0-3F07-41DA-9CAF-078C69DFA96D}" type="pres">
      <dgm:prSet presAssocID="{EAA9E185-677C-43AE-92A6-0E2A1634A034}" presName="compNode" presStyleCnt="0"/>
      <dgm:spPr/>
    </dgm:pt>
    <dgm:pt modelId="{E5B92EDE-9399-46C8-AACE-CD6250A4E1BF}" type="pres">
      <dgm:prSet presAssocID="{EAA9E185-677C-43AE-92A6-0E2A1634A03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D2986E9E-F292-4542-A6B2-F8F5167C2C95}" type="pres">
      <dgm:prSet presAssocID="{EAA9E185-677C-43AE-92A6-0E2A1634A034}" presName="spaceRect" presStyleCnt="0"/>
      <dgm:spPr/>
    </dgm:pt>
    <dgm:pt modelId="{8B573524-6554-4DBD-8FCD-1B7BFB33275E}" type="pres">
      <dgm:prSet presAssocID="{EAA9E185-677C-43AE-92A6-0E2A1634A034}" presName="textRect" presStyleLbl="revTx" presStyleIdx="1" presStyleCnt="2" custLinFactNeighborY="5003">
        <dgm:presLayoutVars>
          <dgm:chMax val="1"/>
          <dgm:chPref val="1"/>
        </dgm:presLayoutVars>
      </dgm:prSet>
      <dgm:spPr/>
    </dgm:pt>
  </dgm:ptLst>
  <dgm:cxnLst>
    <dgm:cxn modelId="{1C404519-2AA5-46C2-BC16-97BFC19713E2}" type="presOf" srcId="{627B7988-666B-4456-A79E-A4A8CD110B17}" destId="{142F4141-D689-4106-93BA-992F286B07A7}" srcOrd="0" destOrd="0" presId="urn:microsoft.com/office/officeart/2018/2/layout/IconLabelList"/>
    <dgm:cxn modelId="{16737E3B-4C95-431E-9A6E-BEE4635C59B2}" type="presOf" srcId="{EAA9E185-677C-43AE-92A6-0E2A1634A034}" destId="{8B573524-6554-4DBD-8FCD-1B7BFB33275E}" srcOrd="0" destOrd="0" presId="urn:microsoft.com/office/officeart/2018/2/layout/IconLabelList"/>
    <dgm:cxn modelId="{2FED9648-0905-43B3-849D-E67942C4A6BA}" srcId="{627B7988-666B-4456-A79E-A4A8CD110B17}" destId="{EAA9E185-677C-43AE-92A6-0E2A1634A034}" srcOrd="1" destOrd="0" parTransId="{93B1EE71-96F5-4705-A4F9-EE737F1E339E}" sibTransId="{E4B0DF76-ECB2-48AE-A4A5-03F7B44ECCC0}"/>
    <dgm:cxn modelId="{174AFFA0-3783-4002-90AF-C295D94A3E39}" srcId="{627B7988-666B-4456-A79E-A4A8CD110B17}" destId="{2AA40C4A-59E0-47F7-A4F6-3B350D9B7961}" srcOrd="0" destOrd="0" parTransId="{1F4E412F-2F08-41D6-B3DC-2F7E9FDC0590}" sibTransId="{4DDFE317-F3DE-49DD-8FFA-CA56749020B3}"/>
    <dgm:cxn modelId="{0ADD09AD-C63B-4302-B4C1-F2495A2DEDE3}" type="presOf" srcId="{2AA40C4A-59E0-47F7-A4F6-3B350D9B7961}" destId="{751DADF3-E4A2-4D6D-AE1B-F8ABAE92D5E0}" srcOrd="0" destOrd="0" presId="urn:microsoft.com/office/officeart/2018/2/layout/IconLabelList"/>
    <dgm:cxn modelId="{CB6F065B-E6AC-45FE-9317-591F07ADE04E}" type="presParOf" srcId="{142F4141-D689-4106-93BA-992F286B07A7}" destId="{7231B842-07B4-44CA-A359-87AF807B0E5B}" srcOrd="0" destOrd="0" presId="urn:microsoft.com/office/officeart/2018/2/layout/IconLabelList"/>
    <dgm:cxn modelId="{230EE14A-6511-4991-92CA-E844C22AABBE}" type="presParOf" srcId="{7231B842-07B4-44CA-A359-87AF807B0E5B}" destId="{46B641B7-028C-4A9F-ABBC-C879895C3F42}" srcOrd="0" destOrd="0" presId="urn:microsoft.com/office/officeart/2018/2/layout/IconLabelList"/>
    <dgm:cxn modelId="{63C2B335-3187-4BE7-BB9B-741DF20630A5}" type="presParOf" srcId="{7231B842-07B4-44CA-A359-87AF807B0E5B}" destId="{718BDC24-25FB-4097-80EF-F68D39371E19}" srcOrd="1" destOrd="0" presId="urn:microsoft.com/office/officeart/2018/2/layout/IconLabelList"/>
    <dgm:cxn modelId="{D3172F06-2E9F-440C-8466-7B3C754B13FF}" type="presParOf" srcId="{7231B842-07B4-44CA-A359-87AF807B0E5B}" destId="{751DADF3-E4A2-4D6D-AE1B-F8ABAE92D5E0}" srcOrd="2" destOrd="0" presId="urn:microsoft.com/office/officeart/2018/2/layout/IconLabelList"/>
    <dgm:cxn modelId="{CDF17C1B-56D0-4A2E-B2CB-792AC69D7BE5}" type="presParOf" srcId="{142F4141-D689-4106-93BA-992F286B07A7}" destId="{F331C10F-8E5E-428B-AC0D-522E5B9720CF}" srcOrd="1" destOrd="0" presId="urn:microsoft.com/office/officeart/2018/2/layout/IconLabelList"/>
    <dgm:cxn modelId="{5E112DA8-F58D-4762-AAE2-B750DF885C9B}" type="presParOf" srcId="{142F4141-D689-4106-93BA-992F286B07A7}" destId="{8AAB40E0-3F07-41DA-9CAF-078C69DFA96D}" srcOrd="2" destOrd="0" presId="urn:microsoft.com/office/officeart/2018/2/layout/IconLabelList"/>
    <dgm:cxn modelId="{C5A0F303-5325-4AD6-9538-BA0B7A66974B}" type="presParOf" srcId="{8AAB40E0-3F07-41DA-9CAF-078C69DFA96D}" destId="{E5B92EDE-9399-46C8-AACE-CD6250A4E1BF}" srcOrd="0" destOrd="0" presId="urn:microsoft.com/office/officeart/2018/2/layout/IconLabelList"/>
    <dgm:cxn modelId="{72A69364-D879-4EFB-8248-9432CB420C11}" type="presParOf" srcId="{8AAB40E0-3F07-41DA-9CAF-078C69DFA96D}" destId="{D2986E9E-F292-4542-A6B2-F8F5167C2C95}" srcOrd="1" destOrd="0" presId="urn:microsoft.com/office/officeart/2018/2/layout/IconLabelList"/>
    <dgm:cxn modelId="{DC5E8882-FE1B-4720-BF17-092F8A2FCCF5}" type="presParOf" srcId="{8AAB40E0-3F07-41DA-9CAF-078C69DFA96D}" destId="{8B573524-6554-4DBD-8FCD-1B7BFB3327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3D7361-AC28-49B4-B058-CBF935A2145F}">
      <dsp:nvSpPr>
        <dsp:cNvPr id="0" name=""/>
        <dsp:cNvSpPr/>
      </dsp:nvSpPr>
      <dsp:spPr>
        <a:xfrm>
          <a:off x="2044800" y="308168"/>
          <a:ext cx="2196000" cy="2196000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0DDC8-63D6-40DC-B619-C940F01F24B0}">
      <dsp:nvSpPr>
        <dsp:cNvPr id="0" name=""/>
        <dsp:cNvSpPr/>
      </dsp:nvSpPr>
      <dsp:spPr>
        <a:xfrm>
          <a:off x="2512800" y="7761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0C6AE-EC7F-4DBF-94E5-FCD96009F664}">
      <dsp:nvSpPr>
        <dsp:cNvPr id="0" name=""/>
        <dsp:cNvSpPr/>
      </dsp:nvSpPr>
      <dsp:spPr>
        <a:xfrm>
          <a:off x="1342800" y="3188169"/>
          <a:ext cx="36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/>
            <a:t>Files and Sources: </a:t>
          </a:r>
          <a:r>
            <a:rPr lang="en-AU" sz="1100" kern="1200">
              <a:hlinkClick xmlns:r="http://schemas.openxmlformats.org/officeDocument/2006/relationships" r:id="rId2"/>
            </a:rPr>
            <a:t>Main-Stuff/DA Bootcamp 2026 Emergi Mentors/Week 2 SQL Mastery/Module 3 Intermediate SQL for Analytics Professionals/AJL_Energy_Subqueries at main · Mikele02171/Main-Stuff</a:t>
          </a:r>
          <a:r>
            <a:rPr lang="en-AU" sz="1100" kern="1200"/>
            <a:t> </a:t>
          </a:r>
          <a:endParaRPr lang="en-US" sz="1100" kern="1200"/>
        </a:p>
      </dsp:txBody>
      <dsp:txXfrm>
        <a:off x="1342800" y="3188169"/>
        <a:ext cx="3600000" cy="855000"/>
      </dsp:txXfrm>
    </dsp:sp>
    <dsp:sp modelId="{92562FD4-AEDF-4488-A493-65305727513D}">
      <dsp:nvSpPr>
        <dsp:cNvPr id="0" name=""/>
        <dsp:cNvSpPr/>
      </dsp:nvSpPr>
      <dsp:spPr>
        <a:xfrm>
          <a:off x="6274800" y="308168"/>
          <a:ext cx="2196000" cy="2196000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95643-6AE4-4B1E-880D-8C726893705D}">
      <dsp:nvSpPr>
        <dsp:cNvPr id="0" name=""/>
        <dsp:cNvSpPr/>
      </dsp:nvSpPr>
      <dsp:spPr>
        <a:xfrm>
          <a:off x="6742800" y="7761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CB3EF-8AA8-4270-81AA-2E6CB69B0AF7}">
      <dsp:nvSpPr>
        <dsp:cNvPr id="0" name=""/>
        <dsp:cNvSpPr/>
      </dsp:nvSpPr>
      <dsp:spPr>
        <a:xfrm>
          <a:off x="5572800" y="3188169"/>
          <a:ext cx="36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/>
            <a:t>Microsoft SQL Server Express (2022 or (2025 preferred))</a:t>
          </a:r>
          <a:endParaRPr lang="en-US" sz="1100" kern="1200"/>
        </a:p>
      </dsp:txBody>
      <dsp:txXfrm>
        <a:off x="5572800" y="3188169"/>
        <a:ext cx="36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018EA-7C8F-405A-AFBD-C50E0945AE00}">
      <dsp:nvSpPr>
        <dsp:cNvPr id="0" name=""/>
        <dsp:cNvSpPr/>
      </dsp:nvSpPr>
      <dsp:spPr>
        <a:xfrm>
          <a:off x="0" y="162549"/>
          <a:ext cx="6692153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SELECT 'Customers' AS TableName, COUNT(*) AS [RowCount] FROM customers</a:t>
          </a:r>
        </a:p>
      </dsp:txBody>
      <dsp:txXfrm>
        <a:off x="46606" y="209155"/>
        <a:ext cx="6598941" cy="861507"/>
      </dsp:txXfrm>
    </dsp:sp>
    <dsp:sp modelId="{1B666A6D-5F63-4D33-B44A-D3C348434487}">
      <dsp:nvSpPr>
        <dsp:cNvPr id="0" name=""/>
        <dsp:cNvSpPr/>
      </dsp:nvSpPr>
      <dsp:spPr>
        <a:xfrm>
          <a:off x="0" y="1186389"/>
          <a:ext cx="6692153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UNION ALL</a:t>
          </a:r>
          <a:endParaRPr lang="en-US" sz="2400" kern="1200"/>
        </a:p>
      </dsp:txBody>
      <dsp:txXfrm>
        <a:off x="46606" y="1232995"/>
        <a:ext cx="6598941" cy="861507"/>
      </dsp:txXfrm>
    </dsp:sp>
    <dsp:sp modelId="{FD880636-E292-4B3D-A700-E84CEF6C548E}">
      <dsp:nvSpPr>
        <dsp:cNvPr id="0" name=""/>
        <dsp:cNvSpPr/>
      </dsp:nvSpPr>
      <dsp:spPr>
        <a:xfrm>
          <a:off x="0" y="2210229"/>
          <a:ext cx="6692153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SELECT 'Usage Records' AS TableName, COUNT(*) AS [RowCount] FROM monthly_usage;</a:t>
          </a:r>
        </a:p>
      </dsp:txBody>
      <dsp:txXfrm>
        <a:off x="46606" y="2256835"/>
        <a:ext cx="6598941" cy="861507"/>
      </dsp:txXfrm>
    </dsp:sp>
    <dsp:sp modelId="{70818675-945F-4F15-B205-330C558FEA02}">
      <dsp:nvSpPr>
        <dsp:cNvPr id="0" name=""/>
        <dsp:cNvSpPr/>
      </dsp:nvSpPr>
      <dsp:spPr>
        <a:xfrm>
          <a:off x="0" y="3234069"/>
          <a:ext cx="6692153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GO</a:t>
          </a:r>
          <a:endParaRPr lang="en-US" sz="2400" kern="1200"/>
        </a:p>
      </dsp:txBody>
      <dsp:txXfrm>
        <a:off x="46606" y="3280675"/>
        <a:ext cx="6598941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641B7-028C-4A9F-ABBC-C879895C3F42}">
      <dsp:nvSpPr>
        <dsp:cNvPr id="0" name=""/>
        <dsp:cNvSpPr/>
      </dsp:nvSpPr>
      <dsp:spPr>
        <a:xfrm>
          <a:off x="1757636" y="58019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DADF3-E4A2-4D6D-AE1B-F8ABAE92D5E0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SELECT AVG(kwh_used) AS overall_average_kwh</a:t>
          </a:r>
        </a:p>
      </dsp:txBody>
      <dsp:txXfrm>
        <a:off x="559800" y="3022743"/>
        <a:ext cx="4320000" cy="720000"/>
      </dsp:txXfrm>
    </dsp:sp>
    <dsp:sp modelId="{E5B92EDE-9399-46C8-AACE-CD6250A4E1BF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73524-6554-4DBD-8FCD-1B7BFB33275E}">
      <dsp:nvSpPr>
        <dsp:cNvPr id="0" name=""/>
        <dsp:cNvSpPr/>
      </dsp:nvSpPr>
      <dsp:spPr>
        <a:xfrm>
          <a:off x="5635800" y="305876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SELECT AVG(</a:t>
          </a:r>
          <a:r>
            <a:rPr lang="en-US" sz="1800" kern="1200" dirty="0" err="1"/>
            <a:t>kwh_used</a:t>
          </a:r>
          <a:r>
            <a:rPr lang="en-US" sz="1800" kern="1200" dirty="0"/>
            <a:t>) AS </a:t>
          </a:r>
          <a:r>
            <a:rPr lang="en-US" sz="1800" kern="1200" dirty="0" err="1"/>
            <a:t>overall_average_kwh</a:t>
          </a:r>
          <a:r>
            <a:rPr lang="en-US" sz="1800" kern="1200" dirty="0"/>
            <a:t> </a:t>
          </a:r>
          <a:r>
            <a:rPr lang="en-AU" sz="1800" kern="1200" dirty="0"/>
            <a:t>FROM </a:t>
          </a:r>
          <a:r>
            <a:rPr lang="en-AU" sz="1800" kern="1200" dirty="0" err="1"/>
            <a:t>monthly_usage</a:t>
          </a:r>
          <a:r>
            <a:rPr lang="en-AU" sz="1800" kern="1200" dirty="0"/>
            <a:t>;</a:t>
          </a:r>
          <a:endParaRPr lang="en-US" sz="1800" kern="1200" dirty="0"/>
        </a:p>
      </dsp:txBody>
      <dsp:txXfrm>
        <a:off x="5635800" y="3058764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B901-8EF7-4D89-B1C5-C06C39E36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A539B-5CDF-7595-EF95-CF58713C8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EF229-19E2-9F28-8FDE-D8D26977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AD2AB-F8AE-C27F-EFCB-03BC28CC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ED8F-B85F-EB7E-5C20-1434B1D6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71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1566-0871-12EC-6DA0-E46CB79A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EDB33-CCAB-51AE-A129-3A8D9BFCC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E9388-DB86-3F72-F21F-E68842CA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91677-8705-D7E8-5B7D-53A60553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D72DB-6BFE-F5FF-113E-EF7CF773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518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9445-E089-A1FA-89F2-E103E48A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2B884-5906-CDC9-0483-29E02EDE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B4E4-D1BB-4280-FFE9-3DD21639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3F75F-C88E-03A3-5DC9-96479659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9D4EC-6F4D-CDEF-0BE0-33531099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8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976F-20DA-47FD-29A1-1F44B283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B489A-BC3A-6B90-7D7A-A6C3FD8F0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A1772-299F-25EA-71BF-28074FD2C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BC256-EE1F-D727-3F03-F96878E2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ACCE7-81E5-5DBC-4103-696E70E6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30B9D-96C2-736A-B655-15A44032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797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E164-31FD-E300-329F-B7E512F8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AEE69-DD50-E9C1-1816-7FA11828F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24337-247B-0002-BDDD-CED83FE5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277A7-3FB3-564B-F0F3-8C1B48CDB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AB473-8C31-A4BE-0D9D-ADB5C4639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EBC05-433A-DACF-4910-BD2D8E44F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B0E9D-9075-C82A-B038-38EF5416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70E12-13A7-0552-0CA4-84311EF9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07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A3C9-DC2B-466B-FC67-A9900C2C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379E1-3298-F3F0-C410-EFDE286C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073C2-0D84-EA2C-01F0-A182B4AF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706CD-F046-A7BB-D892-558919E1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59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55E1A-483B-FBA4-A17B-5C61DE89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2C224-AC0B-8F2C-F733-25E17C2C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C1AEA-3FE6-EC02-4FD2-5D2924FC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239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063F-E8D6-1EAF-CF92-59DF73DC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8B584-FD80-D4C6-AEBA-222993A78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18680-E99F-E2CD-3AF0-9D58D666B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6E293-CECA-5656-C4A2-97044D6F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318AD-B93D-97FF-97F8-1FBF4281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6E194-C714-BAD7-3E5C-A24EAF64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640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258E-A1AC-8CDC-22B7-9DF853E5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43D277-A768-D986-6725-980F2FA25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449C9-F5CD-48C2-5126-170CA73A1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787F2-FE1E-DC3A-201F-F8543214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1C9AE-9235-22E9-81F5-B0FDE527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28064-5C05-29AC-66E7-0B9ACE27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19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39E8-C406-175F-0F85-99FB7C24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879F6-14BA-261A-5D35-89BE5C0BA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C344A-87D9-0B8A-0EF6-052EDF98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6D3D3-8F63-1E80-3B68-BB5592E8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D4C3A-B7BD-DDD9-C95F-8326A5D0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62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1F6B9-9D0F-D0FA-3601-A5C7F2D16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21F80-1832-B70A-794C-7452BF64B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7705F-8BEB-CD9C-E412-4950F4C6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CB376-6329-6A4F-8A0A-F63D8748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F22F1-0CF2-6921-F4A0-283E4998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46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F96DDE-24F3-F510-25AF-E810CEF0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30BBD-38ED-E3BD-2ED9-C99CE958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68682-BB08-27CA-6F4F-7F7142E46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7809F-A963-41CE-9418-9C2D8F0C5BB8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13B7-414E-8601-163E-045B93BB4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132A-5693-3096-3B0B-C7993B047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2E0F4-A708-45B1-9070-ACAA9F5901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769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BF018-DC52-F1FA-FF7A-02050440F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AU" sz="4000">
                <a:solidFill>
                  <a:schemeClr val="tx2"/>
                </a:solidFill>
              </a:rPr>
              <a:t>AJL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10778-6EAA-8919-40F3-60A920EC6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AU" sz="2000">
                <a:solidFill>
                  <a:schemeClr val="tx2"/>
                </a:solidFill>
              </a:rPr>
              <a:t>Michael Le</a:t>
            </a:r>
          </a:p>
        </p:txBody>
      </p:sp>
      <p:pic>
        <p:nvPicPr>
          <p:cNvPr id="7" name="Graphic 6" descr="Lightbulb">
            <a:extLst>
              <a:ext uri="{FF2B5EF4-FFF2-40B4-BE49-F238E27FC236}">
                <a16:creationId xmlns:a16="http://schemas.microsoft.com/office/drawing/2014/main" id="{8BCDEE1D-E87F-0C2C-3932-191033B8B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2975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6581-20FE-FBDA-1A35-83DDA4F1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Requirements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DDBFBD-7CEF-6F49-D259-5D750CB72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6126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51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07014984-7D3B-D308-0D8C-933F20400B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573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B7249D-7CDD-B0A9-DA47-EB02239C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Content 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22613-F00F-91C6-5577-29F1E21B7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141" y="88490"/>
            <a:ext cx="6906491" cy="6471495"/>
          </a:xfrm>
        </p:spPr>
        <p:txBody>
          <a:bodyPr anchor="ctr">
            <a:normAutofit/>
          </a:bodyPr>
          <a:lstStyle/>
          <a:p>
            <a:r>
              <a:rPr lang="en-AU" sz="1500" dirty="0">
                <a:solidFill>
                  <a:srgbClr val="FFFFFF"/>
                </a:solidFill>
              </a:rPr>
              <a:t>Create Database AJL Energy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DDL: Creating Customers and Monthly Usage Tables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DML: Insert customers, monthly usage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Validation 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Average kwh (Not ideal!)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Customers using more than overall average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Customers using more than THEIR STATE average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Showing customer usage vs state avg vs state max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Showing states with average usage &gt; 600 kWh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Find Customers who HAVE high usage (&gt;1500 kWh)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DML and DQL: Find Customers with NO Usage records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Find Customers whose usage is BELOW their state average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Find the top 3 highest usage customers in each state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Find Customers who have NO usage records at all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Create state summary, then filter to average usage (&gt; 600)</a:t>
            </a:r>
          </a:p>
          <a:p>
            <a:r>
              <a:rPr lang="en-AU" sz="1500" dirty="0">
                <a:solidFill>
                  <a:srgbClr val="FFFFFF"/>
                </a:solidFill>
              </a:rPr>
              <a:t>DQL: Find customers whose bill is &gt;150% of their state average bill</a:t>
            </a:r>
          </a:p>
          <a:p>
            <a:endParaRPr lang="en-AU" sz="1500" dirty="0">
              <a:solidFill>
                <a:srgbClr val="FFFFFF"/>
              </a:solidFill>
            </a:endParaRPr>
          </a:p>
          <a:p>
            <a:endParaRPr lang="en-AU" sz="1500" dirty="0">
              <a:solidFill>
                <a:srgbClr val="FFFFFF"/>
              </a:solidFill>
            </a:endParaRPr>
          </a:p>
          <a:p>
            <a:endParaRPr lang="en-AU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91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E2A2F-194D-F17B-BC52-13A8F133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Create Database for AJL Energy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5FA41-151A-10B6-1760-3F1A1064E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USE master;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(fresh start)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IF EXISTS (SELECT name FROM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sys.databases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WHERE name = '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AJL_Energy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')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PRINT 'Dropping existing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AJL_Energy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database...';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ALTER DATABASE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AJL_Energy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SET SINGLE_USER WITH ROLLBACK IMMEDIATE;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DROP DATABASE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AJL_Energy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PRINT '✅ Existing database dropped successfully';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-- Create fresh database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CREATE DATABASE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AJL_Energy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AJL_Energy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/>
          </a:p>
        </p:txBody>
      </p:sp>
    </p:spTree>
    <p:extLst>
      <p:ext uri="{BB962C8B-B14F-4D97-AF65-F5344CB8AC3E}">
        <p14:creationId xmlns:p14="http://schemas.microsoft.com/office/powerpoint/2010/main" val="44952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9E644-0F97-4405-A389-32593937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DDL: Creating Customers and Monthly Usage Tables</a:t>
            </a:r>
            <a:br>
              <a:rPr lang="en-AU">
                <a:solidFill>
                  <a:srgbClr val="FFFFFF"/>
                </a:solidFill>
              </a:rPr>
            </a:br>
            <a:endParaRPr lang="en-AU">
              <a:solidFill>
                <a:srgbClr val="FFFFFF"/>
              </a:solidFill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9D3F-CBB2-503D-19FA-8DAA96E8F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-- Customer information table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CREATE TABLE customers (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INT PRIMARY KEY,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NVARCHAR(100),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state NVARCHAR(10),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suburb NVARCHAR(50),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NVARCHAR(20),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DATE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-- Monthly electricity usage table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usage_id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INT PRIMARY KEY,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INT FOREIGN KEY REFERENCES customers(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usage_month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DATE,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DECIMAL(10,2),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bill_amount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DECIMAL(10,2)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PRINT '=== Tables Created: customers,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===';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263967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ABDA6-CAE7-B7C4-FBF2-AEF8CE1CF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AU">
                <a:solidFill>
                  <a:srgbClr val="FFFFFF"/>
                </a:solidFill>
              </a:rPr>
            </a:br>
            <a:r>
              <a:rPr lang="en-AU">
                <a:solidFill>
                  <a:srgbClr val="FFFFFF"/>
                </a:solidFill>
              </a:rPr>
              <a:t>DML: Insert customers, monthly usage Part 1</a:t>
            </a:r>
            <a:br>
              <a:rPr lang="en-AU">
                <a:solidFill>
                  <a:srgbClr val="FFFFFF"/>
                </a:solidFill>
              </a:rPr>
            </a:br>
            <a:br>
              <a:rPr lang="en-AU">
                <a:solidFill>
                  <a:srgbClr val="FFFFFF"/>
                </a:solidFill>
              </a:rPr>
            </a:b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FC72-6E72-2B3A-D8A6-1F48E72C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customers VALUES</a:t>
            </a:r>
          </a:p>
          <a:p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NSW customers (cooler climate, moderate usage ~450 kWh average)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(1001, 'Sarah Mitchell', 'NSW', 'Bondi', 'Residential', '2022-01-15'),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(1002, 'James Chen', 'NSW', 'Parramatta', 'Residential', '2021-08-20'),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(1003, 'Emma Thompson', 'NSW', 'Newcastle', 'Residential', '2023-03-10'),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(1004, 'Liam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O''Connor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', 'NSW', 'Manly', 'Residential', '2022-11-05'),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(1005, 'Olivia Patel', 'NSW', 'Penrith', 'Residential', '2021-05-22'),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(1016, 'Benjamin Kim', 'NSW', 'Sydney CBD', 'Residential', '2023-02-14'),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(1019, 'Alexander Liu', 'NSW', 'Wollongong', 'Residential', '2023-05-30'),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VIC customers (cooler climate, winter heating ~520 kWh average)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(1006, 'William Zhang', 'VIC', 'Melbourne CBD', 'Residential', '2022-07-14'),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(1007, 'Ava Nguyen', 'VIC', 'Carlton', 'Residential', '2021-12-01'),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(1008, 'Noah Williams', 'VIC', 'Brunswick', 'Residential', '2023-04-18'),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(1009, 'Isabella Brown', 'VIC', 'St Kilda', 'Residential', '2022-09-25'),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(1010, 'Mason Taylor', 'VIC', 'Richmond', 'Residential', '2021-06-30'),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(1017, 'Harper Singh', 'VIC', 'Geelong', 'Residential', '2022-10-20'),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(1020, 'Mia Johnson', 'VIC', 'Ballarat', 'Residential', '2022-12-15'),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QLD customers (hot climate, heavy aircon usage ~680 kWh average)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(1011, 'Sophia Anderson', 'QLD', 'Brisbane CBD', 'Residential', '2022-02-10'),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(1012, 'Lucas Martin', 'QLD', 'Surfers Paradise', 'Residential', '2021-09-15'),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(1013, 'Charlotte Garcia', 'QLD', 'Cairns', 'Residential', '2023-01-20'),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(1014, 'Ethan Rodriguez', 'QLD', 'Townsville', 'Residential', '2022-06-08'),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(1015, 'Amelia Lee', 'QLD', 'Gold Coast', 'Residential', '2021-11-12'),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(1018, 'Evelyn Tran', 'QLD', 'Sunshine Coast', 'Residential', '2021-07-25');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344671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5F726-44FD-36BB-D9FC-F10573E1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AU">
                <a:solidFill>
                  <a:srgbClr val="FFFFFF"/>
                </a:solidFill>
              </a:rPr>
            </a:br>
            <a:r>
              <a:rPr lang="en-AU">
                <a:solidFill>
                  <a:srgbClr val="FFFFFF"/>
                </a:solidFill>
              </a:rPr>
              <a:t>DML: Insert customers, monthly usage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4725-3A20-B2B8-C28E-1682956D8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VALUES</a:t>
            </a:r>
          </a:p>
          <a:p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NSW customers (average ~450 kWh, moderate)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(2001, 1001, '2024-12-01', 420.50, 168.20),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(2002, 1002, '2024-12-01', 480.00, 192.00),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(2003, 1003, '2024-12-01', 1850.00, 740.00),  </a:t>
            </a:r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OUTLIER! 311% over NSW avg (Faulty heater?)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(2004, 1004, '2024-12-01', 390.20, 156.08),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(2005, 1005, '2024-12-01', 510.00, 204.00),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(2016, 1016, '2024-12-01', 445.00, 178.00),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(2019, 1019, '2024-12-01', 1620.00, 648.00),  </a:t>
            </a:r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OUTLIER! 260% over NSW avg (Pool pump 24/7?)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VIC customers (average ~520 kWh, winter heating)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(2006, 1006, '2024-12-01', 550.00, 220.00),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(2007, 1007, '2024-12-01', 490.00, 196.00),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(2008, 1008, '2024-12-01', 2100.00, 840.00),  </a:t>
            </a:r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OUTLIER! 304% over VIC avg (Heater stuck on?)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(2009, 1009, '2024-12-01', 535.00, 214.00),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(2010, 1010, '2024-12-01', 505.00, 202.00),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(2017, 1017, '2024-12-01', 580.00, 232.00),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(2020, 1020, '2024-12-01', 1920.00, 768.00),  </a:t>
            </a:r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OUTLIER! 269% over VIC avg (Meter issue?)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QLD customers (average ~680 kWh, heavy aircon)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(2011, 1011, '2024-12-01', 720.00, 288.00),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(2012, 1012, '2024-12-01', 650.00, 260.00),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(2013, 1013, '2024-12-01', 2450.00, 980.00),  </a:t>
            </a:r>
            <a:r>
              <a:rPr lang="en-AU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OUTLIER! 260% over QLD avg (Aircon leak?)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(2014, 1014, '2024-12-01', 690.00, 276.00),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(2015, 1015, '2024-12-01', 705.00, 282.00),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(2018, 1018, '2024-12-01', 2280.00, 912.00);  </a:t>
            </a:r>
            <a:r>
              <a:rPr lang="en-US" sz="7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OUTLIER! 235% over QLD avg (Multiple units?)</a:t>
            </a:r>
            <a:endParaRPr lang="en-AU" sz="7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20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8BF1-B5E5-32AE-D9D4-A87935430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DQL: Validation </a:t>
            </a:r>
            <a:br>
              <a:rPr lang="en-AU" dirty="0"/>
            </a:br>
            <a:endParaRPr lang="en-AU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80EEDCD-B16E-3E8F-7F65-0FD9A29C48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27906"/>
          <a:ext cx="669215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B7E2449-7A49-8BD7-3042-9CCCDC408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66" y="5474501"/>
            <a:ext cx="3539411" cy="12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06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0F12-2ED1-7327-05D7-810A311D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/>
              <a:t>DQL: Average kwh Speed </a:t>
            </a:r>
            <a:br>
              <a:rPr lang="en-AU" dirty="0"/>
            </a:br>
            <a:r>
              <a:rPr lang="en-AU" sz="2200" dirty="0"/>
              <a:t>(Not ideal in reality assume this accounts all states from VIC, NSW and OLD!)</a:t>
            </a:r>
            <a:br>
              <a:rPr lang="en-AU" dirty="0"/>
            </a:br>
            <a:endParaRPr lang="en-AU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23D8799-9378-EA5E-7D09-AEF04398F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5198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0BDA52A-507D-0673-AA1B-4E66C9257D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38" y="4349824"/>
            <a:ext cx="4600063" cy="125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7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66AEB-D53F-54B0-E899-07930D0F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AU" sz="3700"/>
              <a:t>DQL: Customers using more than overall average</a:t>
            </a:r>
            <a:br>
              <a:rPr lang="en-AU" sz="3700"/>
            </a:br>
            <a:endParaRPr lang="en-AU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9F55-87B1-46C4-7146-EEEAD2046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 fontScale="92500"/>
          </a:bodyPr>
          <a:lstStyle/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c.customer_id,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c.customer_name,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c.state,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m.kwh_used,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(SELECT AVG(kwh_used) FROM monthly_usage) AS overall_avg,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m.kwh_used - (SELECT AVG(kwh_used) FROM monthly_usage) AS difference,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ROUND(((m.kwh_used - (SELECT AVG(kwh_used) FROM monthly_usage)) 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 / (SELECT AVG(kwh_used) FROM monthly_usage)) * 100, 1) AS percent_over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FROM customers c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JOIN monthly_usage m ON c.customer_id = m.customer_id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WHERE m.kwh_used &gt; (SELECT AVG(kwh_used) FROM monthly_usage)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ORDER BY m.kwh_used DESC;</a:t>
            </a:r>
            <a:endParaRPr lang="en-AU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569BA-4E33-36DF-9D24-7A3558C68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3459907"/>
            <a:ext cx="4788505" cy="120592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73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97C44-EBF1-5DC9-6646-537262F0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AU" sz="2800"/>
              <a:t>DQL: Customers using more than THEIR STATE average Part 1</a:t>
            </a:r>
            <a:br>
              <a:rPr lang="en-AU" sz="2800"/>
            </a:br>
            <a:endParaRPr lang="en-AU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93DE-210D-353B-9324-5B95B3BD7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 fontScale="92500" lnSpcReduction="10000"/>
          </a:bodyPr>
          <a:lstStyle/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AU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suburb</a:t>
            </a:r>
            <a:r>
              <a:rPr lang="en-AU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AU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AU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Correlated subquery: Calculates average FOR THIS ROW'S STATE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c2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state_average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How much over state average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c2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kwh_over_average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7" name="Graphic 6" descr="Id Badge">
            <a:extLst>
              <a:ext uri="{FF2B5EF4-FFF2-40B4-BE49-F238E27FC236}">
                <a16:creationId xmlns:a16="http://schemas.microsoft.com/office/drawing/2014/main" id="{F80E9A09-A61B-8B26-E6B8-ED1F7310C6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7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366DD-D5A3-7271-15B8-21405B05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AU" sz="2800"/>
              <a:t>DQL: Customers using more than THEIR STATE average Part 2</a:t>
            </a:r>
            <a:br>
              <a:rPr lang="en-AU" sz="2800"/>
            </a:br>
            <a:endParaRPr lang="en-AU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FABA3-6C98-8992-4895-F012ACBD6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Percentage over state average</a:t>
            </a:r>
            <a:endParaRPr lang="en-AU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c2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c2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percent_over_avg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</a:t>
            </a:r>
          </a:p>
          <a:p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kwh_used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AU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c2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percent_over_avg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800" dirty="0">
              <a:highlight>
                <a:srgbClr val="FFFFFF"/>
              </a:highlight>
            </a:endParaRPr>
          </a:p>
        </p:txBody>
      </p:sp>
      <p:pic>
        <p:nvPicPr>
          <p:cNvPr id="7" name="Graphic 6" descr="Id Badge">
            <a:extLst>
              <a:ext uri="{FF2B5EF4-FFF2-40B4-BE49-F238E27FC236}">
                <a16:creationId xmlns:a16="http://schemas.microsoft.com/office/drawing/2014/main" id="{566A69F7-64E4-6A0A-8012-68B94C34FE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D39FE-C2E9-E18F-72D4-75239C60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543675" cy="1330840"/>
          </a:xfrm>
        </p:spPr>
        <p:txBody>
          <a:bodyPr>
            <a:normAutofit/>
          </a:bodyPr>
          <a:lstStyle/>
          <a:p>
            <a:r>
              <a:rPr lang="en-AU" sz="2800" dirty="0"/>
              <a:t>DQL: Showing customer usage vs state avg vs state max</a:t>
            </a:r>
            <a:br>
              <a:rPr lang="en-AU" sz="2800" dirty="0"/>
            </a:br>
            <a:endParaRPr lang="en-AU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456C-716E-EAC8-28DF-428F29F4D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2958"/>
            <a:ext cx="5604960" cy="3908585"/>
          </a:xfrm>
        </p:spPr>
        <p:txBody>
          <a:bodyPr>
            <a:normAutofit fontScale="25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customer_name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kwh_used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-- Subquery in SELECT: State average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AVG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kwh_used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monthly_usage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m2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customers c2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state_avg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-- Subquery in SELECT: State maximum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MAX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kwh_used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monthly_usage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m2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customers c2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state_max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-- Subquery in SELECT: State minimum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kwh_used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monthly_usage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m2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customers c2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state_min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-- Subquery in SELECT: Customer count in state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COUNT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(*)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customers c2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customers_in_state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customers c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monthly_usage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customer_id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ORDER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BY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kwh_used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DESC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11A5C-9AA5-01BF-7A9D-9ACD8F9F4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1898671"/>
            <a:ext cx="4737650" cy="308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1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92B7B-5165-8974-8B9D-D208A3C5E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400"/>
              <a:t>DQL: Showing states with average usage &gt; 600 kWh</a:t>
            </a:r>
            <a:br>
              <a:rPr lang="en-AU" sz="3400"/>
            </a:br>
            <a:endParaRPr lang="en-AU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B3336-530C-9478-35BD-D73548FBB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442361"/>
            <a:ext cx="3836894" cy="677099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139E-A817-18C3-DE65-4B49FCAE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 lnSpcReduction="10000"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total_customers,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avg_usage_kwh,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max_usage_kwh,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total_revenue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FROM (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-- Inner query: Create state summary (this is the "derived table")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c.state,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total_customers,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ROUND(AVG(m.kwh_used), 2) AS avg_usage_kwh,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MAX(m.kwh_used) AS max_usage_kwh,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SUM(m.bill_amount) AS total_revenue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 c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JOIN monthly_usage m ON c.customer_id = m.customer_id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GROUP BY c.state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 AS state_summary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WHERE avg_usage_kwh &gt; 600  -- Outer query: Filter the summary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ORDER BY avg_usage_kwh DESC;</a:t>
            </a:r>
            <a:endParaRPr lang="en-AU" sz="1000"/>
          </a:p>
        </p:txBody>
      </p:sp>
    </p:spTree>
    <p:extLst>
      <p:ext uri="{BB962C8B-B14F-4D97-AF65-F5344CB8AC3E}">
        <p14:creationId xmlns:p14="http://schemas.microsoft.com/office/powerpoint/2010/main" val="127649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A4835-3B0E-8145-C067-8914E35A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400"/>
              <a:t>DQL: Find Customers who HAVE high usage (&gt;1500 kWh)</a:t>
            </a:r>
            <a:br>
              <a:rPr lang="en-AU" sz="3400"/>
            </a:br>
            <a:endParaRPr lang="en-AU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44FFA5-B10F-B8E8-8F3F-2DE3A6F11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006700"/>
            <a:ext cx="3836894" cy="1548420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E7C9-A431-5A94-D710-C51D5453B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 lnSpcReduction="10000"/>
          </a:bodyPr>
          <a:lstStyle/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c.customer_id,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c.customer_name,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c.state,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c.suburb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FROM customers c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WHERE EXISTS (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SELECT 1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    FROM monthly_usage m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    WHERE m.customer_id = c.customer_id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    AND m.kwh_used &gt; 1500</a:t>
            </a:r>
          </a:p>
          <a:p>
            <a:r>
              <a:rPr lang="en-AU" sz="19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900">
                <a:highlight>
                  <a:srgbClr val="FFFFFF"/>
                </a:highlight>
                <a:latin typeface="Cascadia Mono" panose="020B0609020000020004" pitchFamily="49" charset="0"/>
              </a:rPr>
              <a:t>ORDER BY c.state, c.customer_name;</a:t>
            </a:r>
            <a:endParaRPr lang="en-AU" sz="1900"/>
          </a:p>
        </p:txBody>
      </p:sp>
    </p:spTree>
    <p:extLst>
      <p:ext uri="{BB962C8B-B14F-4D97-AF65-F5344CB8AC3E}">
        <p14:creationId xmlns:p14="http://schemas.microsoft.com/office/powerpoint/2010/main" val="281121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7FD1-8CD3-1581-4500-E667F5A3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DML and DQL: Find Customers with NO Usage records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C701-7C00-F5FE-E97C-F966BBFB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482725"/>
            <a:ext cx="5384800" cy="4351338"/>
          </a:xfrm>
        </p:spPr>
        <p:txBody>
          <a:bodyPr>
            <a:noAutofit/>
          </a:bodyPr>
          <a:lstStyle/>
          <a:p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First, let's add a customer with no usage for demonstration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INTO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VALUES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1099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 Customer'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'NSW'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'Sydney'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'Residential'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'2024-01-01'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'Added test customer (ID: 1099) with no usage records'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Now find customers with no usage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AU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 c</a:t>
            </a:r>
          </a:p>
          <a:p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EXISTS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9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US" sz="9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8AC62-A760-B362-7B8C-2014DE186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497" y="5675284"/>
            <a:ext cx="4633974" cy="63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3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A71F3-17E1-97B0-A974-7C925ACD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100"/>
              <a:t>DQL: Find Customers whose usage is BELOW their state average</a:t>
            </a:r>
            <a:br>
              <a:rPr lang="en-AU" sz="3100"/>
            </a:br>
            <a:endParaRPr lang="en-AU" sz="31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F75E5-5463-6D1B-986B-A42CD4BD9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271857"/>
            <a:ext cx="3836894" cy="1018106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9CAFD-12AF-2BA8-983E-F37019E4D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c.customer_id,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c.customer_name,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c.state,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m.kwh_used,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(SELECT AVG(m2.kwh_used)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FROM monthly_usage m2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JOIN customers c2 ON m2.customer_id = c2.customer_id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WHERE c2.state = c.state) AS state_average,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ROUND(((m.kwh_used - (SELECT AVG(m2.kwh_used)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FROM monthly_usage m2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JOIN customers c2 ON m2.customer_id = c2.customer_id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WHERE c2.state = c.state))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/ (SELECT AVG(m2.kwh_used)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FROM monthly_usage m2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JOIN customers c2 ON m2.customer_id = c2.customer_id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WHERE c2.state = c.state)) * 100, 1) AS percent_below_avg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FROM customers c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JOIN monthly_usage m ON c.customer_id = m.customer_id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WHERE m.kwh_used &gt; (SELECT AVG(m2.kwh_used)  -- Changed &gt; to &lt;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FROM monthly_usage m2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JOIN customers c2 ON m2.customer_id = c2.customer_id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WHERE c2.state = c.state)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ORDER BY percent_below_avg;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422063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38BB0-7CB0-F3D0-171F-76CED933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100"/>
              <a:t>DQL: Find the top 3 highest usage customers in each state</a:t>
            </a:r>
            <a:br>
              <a:rPr lang="en-AU" sz="3100"/>
            </a:br>
            <a:endParaRPr lang="en-AU" sz="31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166BD-C498-FEB3-181A-4779ECC33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3824127"/>
            <a:ext cx="3836894" cy="1913566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AE53-3E1E-C627-71E6-0DCE7F72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WITH ranked_customers AS (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c.customer_id,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c.customer_name,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c.state,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m.kwh_used,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ROW_NUMBER() OVER (PARTITION BY c.state ORDER BY m.kwh_used DESC) AS rank_in_state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 c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JOIN monthly_usage m ON c.customer_id = m.customer_id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customer_id,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customer_name,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kwh_used,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rank_in_state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FROM ranked_customers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WHERE rank_in_state &lt;= 3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ORDER BY state, rank_in_state;</a:t>
            </a:r>
            <a:endParaRPr lang="en-AU" sz="1000"/>
          </a:p>
        </p:txBody>
      </p:sp>
    </p:spTree>
    <p:extLst>
      <p:ext uri="{BB962C8B-B14F-4D97-AF65-F5344CB8AC3E}">
        <p14:creationId xmlns:p14="http://schemas.microsoft.com/office/powerpoint/2010/main" val="1511738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90D9-1EB5-D925-16B7-F2714084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DQL: Find Customers who have NO usage records at all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E3059-8787-0740-3CD8-67774F41B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dirty="0"/>
              <a:t>SELECT </a:t>
            </a:r>
          </a:p>
          <a:p>
            <a:r>
              <a:rPr lang="en-AU" dirty="0"/>
              <a:t>    </a:t>
            </a:r>
            <a:r>
              <a:rPr lang="en-AU" dirty="0" err="1"/>
              <a:t>c.customer_id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c.customer_name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c.state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c.signup_date</a:t>
            </a:r>
            <a:r>
              <a:rPr lang="en-AU" dirty="0"/>
              <a:t>,</a:t>
            </a:r>
          </a:p>
          <a:p>
            <a:r>
              <a:rPr lang="en-US" dirty="0"/>
              <a:t>    DATEDIFF(DAY, </a:t>
            </a:r>
            <a:r>
              <a:rPr lang="en-US" dirty="0" err="1"/>
              <a:t>c.signup_date</a:t>
            </a:r>
            <a:r>
              <a:rPr lang="en-US" dirty="0"/>
              <a:t>, GETDATE()) AS </a:t>
            </a:r>
            <a:r>
              <a:rPr lang="en-US" dirty="0" err="1"/>
              <a:t>days_since_signup</a:t>
            </a:r>
            <a:endParaRPr lang="en-US" dirty="0"/>
          </a:p>
          <a:p>
            <a:r>
              <a:rPr lang="en-AU" dirty="0"/>
              <a:t>FROM customers c</a:t>
            </a:r>
          </a:p>
          <a:p>
            <a:r>
              <a:rPr lang="en-AU" dirty="0"/>
              <a:t>WHERE NOT EXISTS (</a:t>
            </a:r>
          </a:p>
          <a:p>
            <a:r>
              <a:rPr lang="en-AU" dirty="0"/>
              <a:t>    SELECT 1</a:t>
            </a:r>
          </a:p>
          <a:p>
            <a:r>
              <a:rPr lang="en-AU" dirty="0"/>
              <a:t>    FROM </a:t>
            </a:r>
            <a:r>
              <a:rPr lang="en-AU" dirty="0" err="1"/>
              <a:t>monthly_usage</a:t>
            </a:r>
            <a:r>
              <a:rPr lang="en-AU" dirty="0"/>
              <a:t> m</a:t>
            </a:r>
          </a:p>
          <a:p>
            <a:r>
              <a:rPr lang="en-US" dirty="0"/>
              <a:t>    WHERE </a:t>
            </a:r>
            <a:r>
              <a:rPr lang="en-US" dirty="0" err="1"/>
              <a:t>m.customer_id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endParaRPr lang="en-US" dirty="0"/>
          </a:p>
          <a:p>
            <a:r>
              <a:rPr lang="en-AU" dirty="0"/>
              <a:t>)</a:t>
            </a:r>
          </a:p>
          <a:p>
            <a:r>
              <a:rPr lang="en-US" dirty="0"/>
              <a:t>ORDER BY </a:t>
            </a:r>
            <a:r>
              <a:rPr lang="en-US" dirty="0" err="1"/>
              <a:t>c.signup_date</a:t>
            </a:r>
            <a:r>
              <a:rPr lang="en-US" dirty="0"/>
              <a:t>; </a:t>
            </a:r>
            <a:r>
              <a:rPr lang="en-US" dirty="0">
                <a:solidFill>
                  <a:schemeClr val="accent6"/>
                </a:solidFill>
              </a:rPr>
              <a:t>--EXPECT NO OUTPUT</a:t>
            </a:r>
            <a:endParaRPr lang="en-AU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276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2DEFD-0054-77ED-548F-C3BDAD49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400"/>
              <a:t>DQL: Create state summary, then filter to average usage (&gt; 600)</a:t>
            </a:r>
            <a:br>
              <a:rPr lang="en-AU" sz="3400"/>
            </a:br>
            <a:endParaRPr lang="en-AU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42F25-C227-B4BF-5A84-B459F9D0A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552725"/>
            <a:ext cx="3836894" cy="456370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1C104-EE1F-65DF-2EFD-CC624477B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total_customers,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avg_usage_kwh,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max_usage_kwh,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min_usage_kwh,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total_revenue,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ROUND(total_revenue / total_customers, 2) AS avg_revenue_per_customer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FROM (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c.state,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total_customers,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ROUND(AVG(m.kwh_used), 2) AS avg_usage_kwh,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MAX(m.kwh_used) AS max_usage_kwh,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MIN(m.kwh_used) AS min_usage_kwh,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    SUM(m.bill_amount) AS total_revenue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 c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    JOIN monthly_usage m ON c.customer_id = m.customer_id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    GROUP BY c.state</a:t>
            </a:r>
          </a:p>
          <a:p>
            <a:r>
              <a:rPr lang="en-AU" sz="800">
                <a:highlight>
                  <a:srgbClr val="FFFFFF"/>
                </a:highlight>
                <a:latin typeface="Cascadia Mono" panose="020B0609020000020004" pitchFamily="49" charset="0"/>
              </a:rPr>
              <a:t>) AS state_summary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WHERE avg_usage_kwh &gt; 600</a:t>
            </a:r>
          </a:p>
          <a:p>
            <a:r>
              <a:rPr lang="en-US" sz="800">
                <a:highlight>
                  <a:srgbClr val="FFFFFF"/>
                </a:highlight>
                <a:latin typeface="Cascadia Mono" panose="020B0609020000020004" pitchFamily="49" charset="0"/>
              </a:rPr>
              <a:t>ORDER BY avg_usage_kwh DESC;</a:t>
            </a:r>
          </a:p>
          <a:p>
            <a:endParaRPr lang="en-AU" sz="800"/>
          </a:p>
        </p:txBody>
      </p:sp>
    </p:spTree>
    <p:extLst>
      <p:ext uri="{BB962C8B-B14F-4D97-AF65-F5344CB8AC3E}">
        <p14:creationId xmlns:p14="http://schemas.microsoft.com/office/powerpoint/2010/main" val="1861419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EA091-A506-9242-43E2-08FAA035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 sz="3400"/>
              <a:t>DQL: Find customers whose bill is &gt;150% of their state average bill</a:t>
            </a:r>
            <a:br>
              <a:rPr lang="en-AU" sz="3400"/>
            </a:br>
            <a:endParaRPr lang="en-AU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4838B-A7BB-7580-3035-5AEA96662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423629"/>
            <a:ext cx="3836894" cy="714563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D53AF-273E-0EDE-D91D-30C239F6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100" y="152400"/>
            <a:ext cx="5276849" cy="6381749"/>
          </a:xfrm>
        </p:spPr>
        <p:txBody>
          <a:bodyPr anchor="ctr">
            <a:no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-- SOLUTION: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c.customer_id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c.customer_name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c.state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m.kwh_used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m.bill_amount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State average bill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(SELECT AVG(m2.bill_amount)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JOIN customers c2 ON m2.customer_id = c2.customer_id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WHERE c2.state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c.state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state_avg_bill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How much over threshold (150% of avg)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m.bill_amount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- (1.5 * (SELECT AVG(m2.bill_amount)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JOIN customers c2 ON m2.customer_id = c2.customer_id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    WHERE c2.state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c.state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)), 2)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amount_over_threshold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-- Percentage of state average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m.bill_amount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/ (SELECT AVG(m2.bill_amount)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JOIN customers c2 ON m2.customer_id = c2.customer_id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WHERE c2.state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c.state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 * 100, 1) AS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percent_of_state_avg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 c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JOIN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m ON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c.customer_id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m.customer_id</a:t>
            </a:r>
            <a:endParaRPr lang="en-US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m.bill_amount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&gt; (1.5 * (SELECT AVG(m2.bill_amount)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monthly_usage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m2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JOIN customers c2 ON m2.customer_id = c2.customer_id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     WHERE c2.state =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c.state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percent_of_state_avg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62169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3485</Words>
  <Application>Microsoft Office PowerPoint</Application>
  <PresentationFormat>Widescreen</PresentationFormat>
  <Paragraphs>374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Cascadia Mono</vt:lpstr>
      <vt:lpstr>Office Theme</vt:lpstr>
      <vt:lpstr>AJL Energy</vt:lpstr>
      <vt:lpstr>Requirements </vt:lpstr>
      <vt:lpstr>Content </vt:lpstr>
      <vt:lpstr>Create Database for AJL Energy</vt:lpstr>
      <vt:lpstr>DDL: Creating Customers and Monthly Usage Tables </vt:lpstr>
      <vt:lpstr> DML: Insert customers, monthly usage Part 1  </vt:lpstr>
      <vt:lpstr> DML: Insert customers, monthly usage Part 2</vt:lpstr>
      <vt:lpstr>DQL: Validation  </vt:lpstr>
      <vt:lpstr>DQL: Average kwh Speed  (Not ideal in reality assume this accounts all states from VIC, NSW and OLD!) </vt:lpstr>
      <vt:lpstr>DQL: Customers using more than overall average </vt:lpstr>
      <vt:lpstr>DQL: Customers using more than THEIR STATE average Part 1 </vt:lpstr>
      <vt:lpstr>DQL: Customers using more than THEIR STATE average Part 2 </vt:lpstr>
      <vt:lpstr>DQL: Showing customer usage vs state avg vs state max </vt:lpstr>
      <vt:lpstr>DQL: Showing states with average usage &gt; 600 kWh </vt:lpstr>
      <vt:lpstr>DQL: Find Customers who HAVE high usage (&gt;1500 kWh) </vt:lpstr>
      <vt:lpstr>DML and DQL: Find Customers with NO Usage records </vt:lpstr>
      <vt:lpstr>DQL: Find Customers whose usage is BELOW their state average </vt:lpstr>
      <vt:lpstr>DQL: Find the top 3 highest usage customers in each state </vt:lpstr>
      <vt:lpstr>DQL: Find Customers who have NO usage records at all </vt:lpstr>
      <vt:lpstr>DQL: Create state summary, then filter to average usage (&gt; 600) </vt:lpstr>
      <vt:lpstr>DQL: Find customers whose bill is &gt;150% of their state average bill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15</cp:revision>
  <dcterms:created xsi:type="dcterms:W3CDTF">2026-03-17T15:33:26Z</dcterms:created>
  <dcterms:modified xsi:type="dcterms:W3CDTF">2026-03-17T23:17:12Z</dcterms:modified>
</cp:coreProperties>
</file>